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720" r:id="rId1"/>
  </p:sldMasterIdLst>
  <p:notesMasterIdLst>
    <p:notesMasterId r:id="rId2"/>
  </p:notesMasterIdLst>
  <p:handoutMasterIdLst>
    <p:handoutMasterId r:id="rId3"/>
  </p:handoutMasterIdLst>
  <p:sldIdLst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15620"/>
    <p:restoredTop sz="94660"/>
  </p:normalViewPr>
  <p:slideViewPr>
    <p:cSldViewPr showGuides="0" snapToGrid="1" snapToObjects="0">
      <p:cViewPr varScale="1">
        <p:scale>
          <a:sx n="81" d="100"/>
          <a:sy n="81" d="100"/>
        </p:scale>
        <p:origin x="1498" y="58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0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711" name="Rectangle 3"/>
          <p:cNvSpPr/>
          <p:nvPr>
            <p:ph type="dt" sz="quarter" idx="1"/>
          </p:nvPr>
        </p:nvSpPr>
        <p:spPr>
          <a:xfrm rot="0">
            <a:off x="388620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/>
          </a:p>
        </p:txBody>
      </p:sp>
      <p:sp>
        <p:nvSpPr>
          <p:cNvPr id="1048712" name="Rectangle 4"/>
          <p:cNvSpPr/>
          <p:nvPr>
            <p:ph type="ftr" sz="quarter" idx="2"/>
          </p:nvPr>
        </p:nvSpPr>
        <p:spPr>
          <a:xfrm rot="0">
            <a:off x="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713" name="Rectangle 5"/>
          <p:cNvSpPr/>
          <p:nvPr>
            <p:ph type="sldNum" sz="quarter" idx="3"/>
          </p:nvPr>
        </p:nvSpPr>
        <p:spPr>
          <a:xfrm rot="0">
            <a:off x="388620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/>
              <a:pPr algn="r" eaLnBrk="1" hangingPunct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4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705" name="Rectangle 3"/>
          <p:cNvSpPr/>
          <p:nvPr>
            <p:ph type="dt" sz="full" idx="1"/>
          </p:nvPr>
        </p:nvSpPr>
        <p:spPr>
          <a:xfrm rot="0">
            <a:off x="388620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/>
          </a:p>
        </p:txBody>
      </p:sp>
      <p:sp>
        <p:nvSpPr>
          <p:cNvPr id="1048706" name="Rectangle 4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707" name="Rectangle 5"/>
          <p:cNvSpPr/>
          <p:nvPr>
            <p:ph type="body" sz="quarter" idx="3"/>
          </p:nvPr>
        </p:nvSpPr>
        <p:spPr>
          <a:xfrm rot="0">
            <a:off x="914400" y="4343400"/>
            <a:ext cx="50292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708" name="Rectangle 6"/>
          <p:cNvSpPr/>
          <p:nvPr>
            <p:ph type="ftr" sz="quarter" idx="4"/>
          </p:nvPr>
        </p:nvSpPr>
        <p:spPr>
          <a:xfrm rot="0">
            <a:off x="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8709" name="Rectangle 7"/>
          <p:cNvSpPr/>
          <p:nvPr>
            <p:ph type="sldNum" sz="quarter" idx="5"/>
          </p:nvPr>
        </p:nvSpPr>
        <p:spPr>
          <a:xfrm rot="0">
            <a:off x="388620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/>
              <a:pPr algn="r" eaLnBrk="1" hangingPunct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ヒラギノ角ゴ Pro W3" pitchFamily="0" charset="-128"/>
        <a:sym typeface="Times New Roman" pitchFamily="18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47" name="Notes Placeholder 2"/>
          <p:cNvSpPr/>
          <p:nvPr>
            <p:ph type="body" sz="full" idx="1"/>
          </p:nvPr>
        </p:nvSpPr>
        <p:spPr>
          <a:xfrm rot="0">
            <a:off x="914400" y="4343400"/>
            <a:ext cx="50292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48" name="Slide Number Placeholder 3"/>
          <p:cNvSpPr txBox="1"/>
          <p:nvPr/>
        </p:nvSpPr>
        <p:spPr>
          <a:xfrm rot="0">
            <a:off x="388620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>
              <a:spcBef>
                <a:spcPct val="0"/>
              </a:spcBef>
            </a:pPr>
            <a:fld id="{566ABCEB-ACFC-4714-9973-3DA970169C29}" type="slidenum">
              <a:rPr altLang="en-US" lang="en-US"/>
              <a:pPr algn="r" eaLnBrk="1" hangingPunct="1" lvl="0">
                <a:spcBef>
                  <a:spcPct val="0"/>
                </a:spcBef>
              </a:pPr>
            </a:fld>
            <a:endParaRPr altLang="en-US"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blipFill rotWithShape="0">
          <a:blip xmlns:r="http://schemas.openxmlformats.org/officeDocument/2006/relationships" r:embed="rId1">
            <a:alphaModFix amt="100000"/>
          </a:blip>
          <a:srcRect/>
          <a:stretch>
            <a:fillRect/>
          </a:stretch>
        </a:blipFill>
      </p:bgPr>
    </p:bg>
    <p:spTree>
      <p:nvGrpSpPr>
        <p:cNvPr id="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Rectangle 6"/>
          <p:cNvSpPr/>
          <p:nvPr/>
        </p:nvSpPr>
        <p:spPr>
          <a:xfrm rot="0">
            <a:off x="1328737" y="1295400"/>
            <a:ext cx="6486525" cy="3152775"/>
          </a:xfrm>
          <a:prstGeom prst="rect"/>
          <a:noFill/>
          <a:ln w="3175" cap="flat" cmpd="sng">
            <a:solidFill>
              <a:schemeClr val="lt1">
                <a:alpha val="100000"/>
              </a:schemeClr>
            </a:solidFill>
            <a:prstDash val="solid"/>
            <a:round/>
          </a:ln>
          <a:effectLst>
            <a:outerShdw algn="ctr" dir="0" dist="0" kx="0" sx="100500" sy="100500">
              <a:srgbClr val="000000">
                <a:alpha val="50000"/>
              </a:srgbClr>
            </a:outerShdw>
          </a:effectLst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>
              <a:spcBef>
                <a:spcPts val="2000"/>
              </a:spcBef>
              <a:buClr>
                <a:srgbClr val="6FB7D7"/>
              </a:buClr>
              <a:buSzPct val="110000"/>
              <a:buFont typeface="Wingdings 2" pitchFamily="18" charset="2"/>
              <a:buNone/>
            </a:pPr>
            <a:endParaRPr altLang="en-US" sz="3200" lang="en-US">
              <a:solidFill>
                <a:srgbClr val="595959"/>
              </a:solidFill>
              <a:latin typeface="News Gothic MT" pitchFamily="0" charset="0"/>
            </a:endParaRPr>
          </a:p>
        </p:txBody>
      </p:sp>
      <p:sp>
        <p:nvSpPr>
          <p:cNvPr id="1048584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5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6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88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algn="ctr" defTabSz="914400" eaLnBrk="1" hangingPunct="1" indent="0" latinLnBrk="0" marL="0" rtl="0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048587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algn="ctr" defTabSz="914400" eaLnBrk="1" hangingPunct="1" indent="0" latinLnBrk="0" marL="0" rtl="0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48681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algn="ctr" indent="0" marL="0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048682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algn="ctr" blurRad="63500" rotWithShape="0" sx="100500" sy="100500">
              <a:prstClr val="black">
                <a:alpha val="50000"/>
              </a:prstClr>
            </a:outerShdw>
          </a:effectLst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anose="05020102010507070707" pitchFamily="18" charset="2"/>
              <a:buNone/>
            </a:pPr>
            <a:r>
              <a:rPr baseline="0" b="0" cap="none" sz="3200" i="0" kern="1200" kumimoji="0" lang="en-US" noProof="0" normalizeH="0" spc="0" strike="noStrike" u="none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ヒラギノ角ゴ Pro W3" charset="0"/>
                <a:cs typeface="ヒラギノ角ゴ Pro W3" charset="0"/>
              </a:rPr>
              <a:t>Drag picture to placeholder or click icon to add</a:t>
            </a:r>
            <a:endParaRPr baseline="0" b="0" cap="none" sz="3200" i="0" kern="1200" kumimoji="0" noProof="0" normalizeH="0" spc="0" strike="noStrike" u="none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baseline="0" b="0" cap="none"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algn="ctr" indent="0" marL="0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6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9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algn="ctr" indent="0" marL="0">
              <a:spcBef>
                <a:spcPts val="0"/>
              </a:spcBef>
              <a:buNone/>
              <a:defRPr b="0"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0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69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algn="ctr" indent="0" marL="0">
              <a:spcBef>
                <a:spcPts val="0"/>
              </a:spcBef>
              <a:buNone/>
              <a:defRPr b="0"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b="0"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algn="ctr" indent="0" marL="0">
              <a:spcBef>
                <a:spcPts val="600"/>
              </a:spcBef>
              <a:buNone/>
              <a:defRPr sz="18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b="0"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8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algn="ctr" indent="0" marL="0">
              <a:spcBef>
                <a:spcPts val="600"/>
              </a:spcBef>
              <a:buNone/>
              <a:defRPr sz="18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algn="ctr" blurRad="63500" rotWithShape="0" sx="100500" sy="100500">
              <a:prstClr val="black">
                <a:alpha val="50000"/>
              </a:prstClr>
            </a:outerShdw>
          </a:effectLst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algn="l" defTabSz="914400" eaLnBrk="1" hangingPunct="1" indent="0" latinLnBrk="0" marL="0" rtl="0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r>
              <a:rPr baseline="0" b="0" cap="none" sz="3200" i="0" kern="1200" kumimoji="0" lang="en-US" noProof="0" normalizeH="0" spc="0" strike="noStrike" u="none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Drag picture to placeholder or click icon to add</a:t>
            </a:r>
            <a:endParaRPr baseline="0" b="0" cap="none" sz="3200" i="0" kern="1200" kumimoji="0" noProof="0" normalizeH="0" spc="0" strike="noStrike" u="none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7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3">
            <a:alphaModFix amt="100000"/>
          </a:blip>
          <a:srcRect/>
          <a:stretch>
            <a:fillRect/>
          </a:stretch>
        </a:blip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/>
          <p:nvPr>
            <p:ph type="title" sz="full" idx="0"/>
          </p:nvPr>
        </p:nvSpPr>
        <p:spPr>
          <a:xfrm rot="0">
            <a:off x="549275" y="107950"/>
            <a:ext cx="8042275" cy="133667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Text Placeholder 2"/>
          <p:cNvSpPr/>
          <p:nvPr>
            <p:ph type="body" sz="full" idx="1"/>
          </p:nvPr>
        </p:nvSpPr>
        <p:spPr>
          <a:xfrm rot="0">
            <a:off x="549275" y="1600200"/>
            <a:ext cx="8042275" cy="4343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Date Placeholder 3"/>
          <p:cNvSpPr/>
          <p:nvPr>
            <p:ph type="dt" sz="half" idx="2"/>
          </p:nvPr>
        </p:nvSpPr>
        <p:spPr>
          <a:xfrm rot="0">
            <a:off x="5629275" y="6275387"/>
            <a:ext cx="2133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79" name="Footer Placeholder 4"/>
          <p:cNvSpPr/>
          <p:nvPr>
            <p:ph type="ftr" sz="quarter" idx="3"/>
          </p:nvPr>
        </p:nvSpPr>
        <p:spPr>
          <a:xfrm rot="0">
            <a:off x="265112" y="6275387"/>
            <a:ext cx="4840287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200" lang="zh-CN">
              <a:solidFill>
                <a:schemeClr val="lt1"/>
              </a:solidFill>
              <a:ea typeface="ヒラギノ角ゴ Pro W3" pitchFamily="0" charset="-128"/>
            </a:endParaRPr>
          </a:p>
        </p:txBody>
      </p:sp>
      <p:sp>
        <p:nvSpPr>
          <p:cNvPr id="1048580" name="Slide Number Placeholder 5"/>
          <p:cNvSpPr/>
          <p:nvPr>
            <p:ph type="sldNum" sz="quarter" idx="4"/>
          </p:nvPr>
        </p:nvSpPr>
        <p:spPr>
          <a:xfrm rot="0">
            <a:off x="7897812" y="6275387"/>
            <a:ext cx="9906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News Gothic MT" pitchFamily="0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3600" lang="en-US">
                <a:solidFill>
                  <a:schemeClr val="lt1"/>
                </a:solidFill>
              </a:rPr>
              <a:pPr algn="r" eaLnBrk="1" hangingPunct="1" lvl="0"/>
            </a:fld>
            <a:endParaRPr altLang="en-US" sz="3600" lang="en-US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ヒラギノ角ゴ Pro W3" charset="0"/>
          <a:cs typeface="ヒラギノ角ゴ Pro W3" charset="0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ヒラギノ角ゴ Pro W3" charset="0"/>
          <a:cs typeface="ヒラギノ角ゴ Pro W3" charset="0"/>
        </a:defRPr>
      </a:lvl9pPr>
    </p:titleStyle>
    <p:bodyStyle>
      <a:lvl1pPr algn="l" eaLnBrk="0" fontAlgn="base" hangingPunct="0" indent="-349250" marL="349250" rtl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sz="2400" kern="1200">
          <a:solidFill>
            <a:srgbClr val="595959"/>
          </a:solidFill>
          <a:latin typeface="+mn-lt"/>
          <a:ea typeface="ヒラギノ角ゴ Pro W3" charset="0"/>
          <a:cs typeface="ヒラギノ角ゴ Pro W3" charset="0"/>
        </a:defRPr>
      </a:lvl1pPr>
      <a:lvl2pPr algn="l" eaLnBrk="0" fontAlgn="base" hangingPunct="0" indent="-336550" marL="685800" rtl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anose="05020102010507070707" pitchFamily="18" charset="2"/>
        <a:buChar char=""/>
        <a:defRPr sz="2200" kern="1200">
          <a:solidFill>
            <a:srgbClr val="595959"/>
          </a:solidFill>
          <a:latin typeface="+mn-lt"/>
          <a:ea typeface="ヒラギノ角ゴ Pro W3" charset="0"/>
          <a:cs typeface="+mn-cs"/>
        </a:defRPr>
      </a:lvl2pPr>
      <a:lvl3pPr algn="l" eaLnBrk="0" fontAlgn="base" hangingPunct="0" indent="-282575" marL="968375" rtl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sz="2000" kern="1200">
          <a:solidFill>
            <a:srgbClr val="595959"/>
          </a:solidFill>
          <a:latin typeface="+mn-lt"/>
          <a:ea typeface="ヒラギノ角ゴ Pro W3" charset="0"/>
          <a:cs typeface="+mn-cs"/>
        </a:defRPr>
      </a:lvl3pPr>
      <a:lvl4pPr algn="l" eaLnBrk="0" fontAlgn="base" hangingPunct="0" indent="-295275" marL="1263650" rtl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anose="05020102010507070707" pitchFamily="18" charset="2"/>
        <a:buChar char=""/>
        <a:defRPr kern="1200">
          <a:solidFill>
            <a:srgbClr val="595959"/>
          </a:solidFill>
          <a:latin typeface="+mn-lt"/>
          <a:ea typeface="ヒラギノ角ゴ Pro W3" charset="0"/>
          <a:cs typeface="+mn-cs"/>
        </a:defRPr>
      </a:lvl4pPr>
      <a:lvl5pPr algn="l" eaLnBrk="0" fontAlgn="base" hangingPunct="0" indent="-282575" marL="1546225" rtl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anose="05020102010507070707" pitchFamily="18" charset="2"/>
        <a:buChar char=""/>
        <a:defRPr kern="1200">
          <a:solidFill>
            <a:srgbClr val="595959"/>
          </a:solidFill>
          <a:latin typeface="+mn-lt"/>
          <a:ea typeface="ヒラギノ角ゴ Pro W3" charset="0"/>
          <a:cs typeface="+mn-cs"/>
        </a:defRPr>
      </a:lvl5pPr>
      <a:lvl6pPr algn="l" defTabSz="914400" eaLnBrk="1" hangingPunct="1" indent="-282575" latinLnBrk="0" marL="1828800" rtl="0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dirty="0" sz="1800" kern="1200" lang="en-US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algn="l" defTabSz="914400" eaLnBrk="1" hangingPunct="1" indent="-282575" latinLnBrk="0" marL="2117725" rtl="0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dirty="0" sz="1800" kern="1200" lang="en-US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algn="l" defTabSz="914400" eaLnBrk="1" hangingPunct="1" indent="-282575" latinLnBrk="0" marL="2398713" rtl="0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dirty="0" sz="1800" kern="1200" lang="en-US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algn="l" defTabSz="914400" eaLnBrk="1" hangingPunct="1" indent="-282575" latinLnBrk="0" marL="2689225" rtl="0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dirty="0" sz="1800" kern="1200" lang="en-US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9" name="Rectangle 2"/>
          <p:cNvSpPr/>
          <p:nvPr>
            <p:ph type="ctrTitle" sz="full" idx="0"/>
          </p:nvPr>
        </p:nvSpPr>
        <p:spPr>
          <a:xfrm rot="0">
            <a:off x="457200" y="1752600"/>
            <a:ext cx="7772400" cy="1752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>
              <a:defRPr sz="4600"/>
            </a:lvl1pPr>
          </a:lstStyle>
          <a:p>
            <a:pPr algn="l" eaLnBrk="1" hangingPunct="1" lvl="0">
              <a:buClr>
                <a:srgbClr val="6FB7D7"/>
              </a:buClr>
              <a:buSzPct val="110000"/>
              <a:buFont typeface="Wingdings 2" pitchFamily="18" charset="2"/>
              <a:buNone/>
            </a:pPr>
            <a:r>
              <a:rPr altLang="en-US" b="1" sz="5400" lang="en-US">
                <a:solidFill>
                  <a:srgbClr val="D60093"/>
                </a:solidFill>
                <a:latin typeface="Arial Unicode MS" pitchFamily="34" charset="-128"/>
              </a:rPr>
              <a:t>  </a:t>
            </a:r>
            <a:r>
              <a:rPr altLang="en-US" b="1" sz="6000" lang="en-US">
                <a:solidFill>
                  <a:srgbClr val="D60093"/>
                </a:solidFill>
                <a:effectLst>
                  <a:outerShdw algn="tl" blurRad="38100" dir="2700000" dist="38100">
                    <a:srgbClr val="C0C0C0"/>
                  </a:outerShdw>
                </a:effectLst>
                <a:latin typeface="Arial Unicode MS" pitchFamily="34" charset="-128"/>
              </a:rPr>
              <a:t>Primary and Secondary Data</a:t>
            </a:r>
          </a:p>
        </p:txBody>
      </p:sp>
      <p:pic>
        <p:nvPicPr>
          <p:cNvPr id="2097152" name="Picture 4" descr="PE02671_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85800" y="3581400"/>
            <a:ext cx="3124200" cy="3071812"/>
          </a:xfrm>
          <a:prstGeom prst="rect"/>
          <a:noFill/>
          <a:ln>
            <a:noFill/>
          </a:ln>
        </p:spPr>
      </p:pic>
      <p:pic>
        <p:nvPicPr>
          <p:cNvPr id="2097153" name="Picture 5" descr="j0318226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553200" y="457200"/>
            <a:ext cx="2222500" cy="3200400"/>
          </a:xfrm>
          <a:prstGeom prst="rect"/>
          <a:noFill/>
          <a:ln>
            <a:noFill/>
          </a:ln>
        </p:spPr>
      </p:pic>
      <p:sp>
        <p:nvSpPr>
          <p:cNvPr id="1048590" name="WordArt 7"/>
          <p:cNvSpPr/>
          <p:nvPr/>
        </p:nvSpPr>
        <p:spPr>
          <a:xfrm rot="0">
            <a:off x="6553200" y="5334000"/>
            <a:ext cx="1819275" cy="1047750"/>
          </a:xfrm>
          <a:prstGeom prst="rect"/>
        </p:spPr>
        <p:txBody>
          <a:bodyPr anchor="t" bIns="45720" fromWordArt="1" lIns="91440" rIns="91440" tIns="45720" vert="horz" wrap="none">
            <a:prstTxWarp prst="textSlantUp">
              <a:avLst>
                <a:gd fmla="val 43318" name="adj"/>
              </a:avLst>
            </a:prstTxWarp>
          </a:bodyPr>
          <a:p>
            <a:pPr algn="ctr"/>
            <a:r>
              <a:rPr b="0" sz="2800" i="0" kern="10" normalizeH="0" spc="0"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  <a:solidFill>
                  <a:srgbClr val="000000"/>
                </a:solidFill>
                <a:latin typeface="Arial Black"/>
                <a:ea typeface="Arial Black"/>
              </a:rPr>
              <a:t>Interview</a:t>
            </a:r>
          </a:p>
        </p:txBody>
      </p:sp>
      <p:sp>
        <p:nvSpPr>
          <p:cNvPr id="1048591" name="WordArt 8"/>
          <p:cNvSpPr/>
          <p:nvPr/>
        </p:nvSpPr>
        <p:spPr>
          <a:xfrm rot="20106048">
            <a:off x="381000" y="685800"/>
            <a:ext cx="2151062" cy="647700"/>
          </a:xfrm>
          <a:prstGeom prst="rect"/>
        </p:spPr>
        <p:txBody>
          <a:bodyPr anchor="t" bIns="45720" fromWordArt="1" lIns="91440" rIns="91440" tIns="45720" vert="horz" wrap="none">
            <a:prstTxWarp prst="textFadeUp">
              <a:avLst>
                <a:gd fmla="val 9991" name="adj"/>
              </a:avLst>
            </a:prstTxWarp>
          </a:bodyPr>
          <a:p>
            <a:pPr algn="ctr"/>
            <a:r>
              <a:rPr b="0" sz="3600" i="0" kern="10" normalizeH="0" spc="0">
                <a:ln w="12700" cap="flat" cmpd="sng">
                  <a:solidFill>
                    <a:srgbClr val="B2B2B2">
                      <a:alpha val="100000"/>
                    </a:srgbClr>
                  </a:solidFill>
                  <a:prstDash val="solid"/>
                  <a:round/>
                </a:ln>
                <a:gradFill rotWithShape="0">
                  <a:gsLst>
                    <a:gs pos="0">
                      <a:srgbClr val="FFCC00">
                        <a:alpha val="100000"/>
                      </a:srgbClr>
                    </a:gs>
                    <a:gs pos="100000">
                      <a:srgbClr val="520402">
                        <a:alpha val="100000"/>
                      </a:srgbClr>
                    </a:gs>
                  </a:gsLst>
                  <a:lin ang="17640000" scaled="1"/>
                </a:gradFill>
                <a:effectLst>
                  <a:outerShdw algn="b" dir="2699999" dist="35921" kx="0" sx="100000" sy="50000">
                    <a:srgbClr val="875B0D">
                      <a:alpha val="74997"/>
                    </a:srgbClr>
                  </a:outerShdw>
                </a:effectLst>
                <a:latin typeface="Arial Black"/>
                <a:ea typeface="Arial Black"/>
              </a:rPr>
              <a:t>Experiment</a:t>
            </a:r>
          </a:p>
        </p:txBody>
      </p:sp>
      <p:sp>
        <p:nvSpPr>
          <p:cNvPr id="1048592" name="WordArt 9"/>
          <p:cNvSpPr/>
          <p:nvPr/>
        </p:nvSpPr>
        <p:spPr>
          <a:xfrm rot="706983">
            <a:off x="4495800" y="838200"/>
            <a:ext cx="1695450" cy="638175"/>
          </a:xfrm>
          <a:prstGeom prst="rect"/>
        </p:spPr>
        <p:txBody>
          <a:bodyPr anchor="t" bIns="45720" fromWordArt="1" lIns="91440" rIns="91440" tIns="45720" vert="horz" wrap="none">
            <a:prstTxWarp prst="textPlain">
              <a:avLst>
                <a:gd fmla="val 50000" name="adj"/>
              </a:avLst>
            </a:prstTxWarp>
          </a:bodyPr>
          <a:p>
            <a:pPr algn="ctr"/>
            <a:r>
              <a:rPr b="0" sz="3600" i="1" kern="10" normalizeH="0" spc="0"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algn="ctr" dir="2699999" dist="35921" kx="0" sx="100000" sy="100000">
                    <a:srgbClr val="808080">
                      <a:alpha val="74997"/>
                    </a:srgbClr>
                  </a:outerShdw>
                </a:effectLst>
                <a:latin typeface="Arial Black"/>
                <a:ea typeface="Arial Black"/>
              </a:rPr>
              <a:t>Survey</a:t>
            </a:r>
          </a:p>
        </p:txBody>
      </p:sp>
      <p:pic>
        <p:nvPicPr>
          <p:cNvPr id="2097154" name="Picture 10" descr="ED00251_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4800600" y="3733800"/>
            <a:ext cx="2000250" cy="14700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3" name="Rectangle 2"/>
          <p:cNvSpPr/>
          <p:nvPr>
            <p:ph type="title" sz="full" idx="0"/>
          </p:nvPr>
        </p:nvSpPr>
        <p:spPr>
          <a:xfrm rot="0">
            <a:off x="549275" y="492125"/>
            <a:ext cx="8042275" cy="133667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4000" lang="en-US">
                <a:solidFill>
                  <a:srgbClr val="000090"/>
                </a:solidFill>
                <a:latin typeface="Arial Unicode MS" pitchFamily="34" charset="-128"/>
              </a:rPr>
              <a:t>Objectives of this lesson: </a:t>
            </a:r>
            <a:br>
              <a:rPr altLang="en-US" sz="4000" lang="en-US">
                <a:solidFill>
                  <a:srgbClr val="000090"/>
                </a:solidFill>
                <a:latin typeface="Arial Unicode MS" pitchFamily="34" charset="-128"/>
              </a:rPr>
            </a:br>
            <a:r>
              <a:rPr altLang="en-US" sz="3600" lang="en-US">
                <a:solidFill>
                  <a:srgbClr val="D60093"/>
                </a:solidFill>
                <a:latin typeface="Arial Unicode MS" pitchFamily="34" charset="-128"/>
              </a:rPr>
              <a:t>Primary and Secondary Data</a:t>
            </a:r>
          </a:p>
        </p:txBody>
      </p:sp>
      <p:sp>
        <p:nvSpPr>
          <p:cNvPr id="1048594" name="Rectangle 3"/>
          <p:cNvSpPr/>
          <p:nvPr>
            <p:ph sz="full" idx="1"/>
          </p:nvPr>
        </p:nvSpPr>
        <p:spPr>
          <a:xfrm rot="0">
            <a:off x="685800" y="2362200"/>
            <a:ext cx="7772400" cy="3657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/>
            <a:r>
              <a:rPr altLang="en-US" lang="en-US">
                <a:latin typeface="Arial Unicode MS" pitchFamily="34" charset="-128"/>
              </a:rPr>
              <a:t>Define secondary and primary data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Describe primary data collection methods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Describe sampling techniques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Identify advantages disadvantages of different data gathering techniques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Construct a survey</a:t>
            </a: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7" name="Rectangle 2"/>
          <p:cNvSpPr/>
          <p:nvPr>
            <p:ph type="title" sz="full" idx="0"/>
          </p:nvPr>
        </p:nvSpPr>
        <p:spPr>
          <a:xfrm rot="0">
            <a:off x="914400" y="381000"/>
            <a:ext cx="77724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4000" lang="en-US">
                <a:solidFill>
                  <a:srgbClr val="D60093"/>
                </a:solidFill>
                <a:latin typeface="Arial Unicode MS" pitchFamily="34" charset="-128"/>
              </a:rPr>
              <a:t>Secondary Data    </a:t>
            </a:r>
          </a:p>
        </p:txBody>
      </p:sp>
      <p:sp>
        <p:nvSpPr>
          <p:cNvPr id="1048598" name="Rectangle 3"/>
          <p:cNvSpPr/>
          <p:nvPr>
            <p:ph sz="full" idx="1"/>
          </p:nvPr>
        </p:nvSpPr>
        <p:spPr>
          <a:xfrm rot="0">
            <a:off x="609600" y="1676400"/>
            <a:ext cx="7772400" cy="3886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lnSpc>
                <a:spcPct val="80000"/>
              </a:lnSpc>
            </a:pPr>
            <a:r>
              <a:rPr altLang="en-US" lang="en-US">
                <a:latin typeface="Arial Unicode MS" pitchFamily="34" charset="-128"/>
              </a:rPr>
              <a:t>Data gathered by another source (e.g. research study, survey, interview)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lang="en-US">
                <a:latin typeface="Arial Unicode MS" pitchFamily="34" charset="-128"/>
              </a:rPr>
              <a:t>Secondary data is gathered </a:t>
            </a:r>
            <a:r>
              <a:rPr altLang="en-US" lang="en-US">
                <a:solidFill>
                  <a:srgbClr val="D60093"/>
                </a:solidFill>
                <a:latin typeface="Arial Unicode MS" pitchFamily="34" charset="-128"/>
              </a:rPr>
              <a:t>BEFORE</a:t>
            </a:r>
            <a:r>
              <a:rPr altLang="en-US" lang="en-US">
                <a:latin typeface="Arial Unicode MS" pitchFamily="34" charset="-128"/>
              </a:rPr>
              <a:t> primary data.  </a:t>
            </a:r>
            <a:r>
              <a:rPr altLang="en-US" lang="en-US">
                <a:solidFill>
                  <a:srgbClr val="D60093"/>
                </a:solidFill>
                <a:latin typeface="Arial Unicode MS" pitchFamily="34" charset="-128"/>
              </a:rPr>
              <a:t>WHY?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lang="en-US">
                <a:latin typeface="Arial Unicode MS" pitchFamily="34" charset="-128"/>
              </a:rPr>
              <a:t>Because you want to find out what is already known about a subject before you dive into your own investigation.  </a:t>
            </a:r>
            <a:r>
              <a:rPr altLang="en-US" lang="en-US">
                <a:solidFill>
                  <a:srgbClr val="D60093"/>
                </a:solidFill>
                <a:latin typeface="Arial Unicode MS" pitchFamily="34" charset="-128"/>
              </a:rPr>
              <a:t>WHY?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lang="en-US">
                <a:latin typeface="Arial Unicode MS" pitchFamily="34" charset="-128"/>
              </a:rPr>
              <a:t>Because some of your questions can possibly have been already answered by other investigators or authors.  Why </a:t>
            </a:r>
            <a:r>
              <a:rPr altLang="en-US" lang="ja-JP">
                <a:latin typeface="Arial Unicode MS" pitchFamily="34" charset="-128"/>
                <a:ea typeface="MS PGothic" pitchFamily="34" charset="-128"/>
              </a:rPr>
              <a:t>“</a:t>
            </a:r>
            <a:r>
              <a:rPr altLang="ja-JP" lang="en-US">
                <a:latin typeface="Arial Unicode MS" pitchFamily="34" charset="-128"/>
                <a:ea typeface="MS PGothic" pitchFamily="34" charset="-128"/>
              </a:rPr>
              <a:t>reinvent the wheel</a:t>
            </a:r>
            <a:r>
              <a:rPr altLang="en-US" lang="ja-JP">
                <a:latin typeface="Arial Unicode MS" pitchFamily="34" charset="-128"/>
                <a:ea typeface="MS PGothic" pitchFamily="34" charset="-128"/>
              </a:rPr>
              <a:t>”</a:t>
            </a:r>
            <a:r>
              <a:rPr altLang="ja-JP" lang="en-US">
                <a:latin typeface="Arial Unicode MS" pitchFamily="34" charset="-128"/>
                <a:ea typeface="MS PGothic" pitchFamily="34" charset="-128"/>
              </a:rPr>
              <a:t>?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Rectangle 2"/>
          <p:cNvSpPr/>
          <p:nvPr>
            <p:ph type="title" sz="full" idx="0"/>
          </p:nvPr>
        </p:nvSpPr>
        <p:spPr>
          <a:xfrm rot="0">
            <a:off x="762000" y="609600"/>
            <a:ext cx="77724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4000" lang="en-US">
                <a:solidFill>
                  <a:srgbClr val="D60093"/>
                </a:solidFill>
                <a:latin typeface="Arial Unicode MS" pitchFamily="34" charset="-128"/>
              </a:rPr>
              <a:t>Primary Data</a:t>
            </a:r>
          </a:p>
        </p:txBody>
      </p:sp>
      <p:sp>
        <p:nvSpPr>
          <p:cNvPr id="1048600" name="Rectangle 3"/>
          <p:cNvSpPr/>
          <p:nvPr>
            <p:ph sz="full" idx="1"/>
          </p:nvPr>
        </p:nvSpPr>
        <p:spPr>
          <a:xfrm rot="0">
            <a:off x="685800" y="1981200"/>
            <a:ext cx="7772400" cy="3048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lnSpc>
                <a:spcPct val="80000"/>
              </a:lnSpc>
            </a:pPr>
            <a:r>
              <a:rPr altLang="en-US" sz="2800" lang="en-US">
                <a:solidFill>
                  <a:schemeClr val="lt2"/>
                </a:solidFill>
                <a:latin typeface="Arial Unicode MS" pitchFamily="34" charset="-128"/>
              </a:rPr>
              <a:t>Data never gathered before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sz="2800" lang="en-US">
                <a:solidFill>
                  <a:schemeClr val="lt2"/>
                </a:solidFill>
                <a:latin typeface="Arial Unicode MS" pitchFamily="34" charset="-128"/>
              </a:rPr>
              <a:t>Advantage:  find data you need to suit your purpose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sz="2800" lang="en-US">
                <a:solidFill>
                  <a:schemeClr val="lt2"/>
                </a:solidFill>
                <a:latin typeface="Arial Unicode MS" pitchFamily="34" charset="-128"/>
              </a:rPr>
              <a:t>Disadvantage:  usually more costly and time consuming than collecting secondary data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sz="2800" lang="en-US">
                <a:solidFill>
                  <a:schemeClr val="lt2"/>
                </a:solidFill>
                <a:latin typeface="Arial Unicode MS" pitchFamily="34" charset="-128"/>
              </a:rPr>
              <a:t>Collected after secondary data is collected</a:t>
            </a:r>
          </a:p>
        </p:txBody>
      </p:sp>
      <p:pic>
        <p:nvPicPr>
          <p:cNvPr id="2097155" name="Picture 6" descr="j031822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7239000" y="304800"/>
            <a:ext cx="1535112" cy="22098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1" name="Rectangle 2"/>
          <p:cNvSpPr/>
          <p:nvPr>
            <p:ph type="title" sz="full" idx="0"/>
          </p:nvPr>
        </p:nvSpPr>
        <p:spPr>
          <a:xfrm rot="0">
            <a:off x="304800" y="762000"/>
            <a:ext cx="7772400" cy="838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en-US">
                <a:solidFill>
                  <a:srgbClr val="D60093"/>
                </a:solidFill>
                <a:latin typeface="Arial Unicode MS" pitchFamily="34" charset="-128"/>
              </a:rPr>
              <a:t>Primary Research Methods</a:t>
            </a:r>
          </a:p>
        </p:txBody>
      </p:sp>
      <p:sp>
        <p:nvSpPr>
          <p:cNvPr id="1048602" name="Rectangle 3"/>
          <p:cNvSpPr/>
          <p:nvPr>
            <p:ph sz="full" idx="1"/>
          </p:nvPr>
        </p:nvSpPr>
        <p:spPr>
          <a:xfrm rot="0">
            <a:off x="762000" y="1905000"/>
            <a:ext cx="7772400" cy="3962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Focus Groups </a:t>
            </a:r>
            <a:r>
              <a:rPr altLang="en-US" sz="2200" lang="en-US">
                <a:latin typeface="Arial Unicode MS" pitchFamily="34" charset="-128"/>
              </a:rPr>
              <a:t>– bring together respondents with common characteristics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Observation</a:t>
            </a:r>
            <a:r>
              <a:rPr altLang="en-US" sz="2200" lang="en-US">
                <a:latin typeface="Arial Unicode MS" pitchFamily="34" charset="-128"/>
              </a:rPr>
              <a:t> - actually view respondents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Experiment</a:t>
            </a:r>
            <a:r>
              <a:rPr altLang="en-US" sz="2200" lang="en-US">
                <a:latin typeface="Arial Unicode MS" pitchFamily="34" charset="-128"/>
              </a:rPr>
              <a:t> - controlled variables and respondent groups.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Non-personal survey</a:t>
            </a:r>
            <a:r>
              <a:rPr altLang="en-US" sz="2200" lang="en-US">
                <a:latin typeface="Arial Unicode MS" pitchFamily="34" charset="-128"/>
              </a:rPr>
              <a:t> – on site, telephone, mail, fax, computer, panel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Personal interview </a:t>
            </a:r>
            <a:r>
              <a:rPr altLang="en-US" sz="2200" lang="en-US">
                <a:latin typeface="Arial Unicode MS" pitchFamily="34" charset="-128"/>
              </a:rPr>
              <a:t>- one-on-one survey with respondents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200" lang="en-US">
                <a:solidFill>
                  <a:schemeClr val="accent2"/>
                </a:solidFill>
                <a:latin typeface="Arial Unicode MS" pitchFamily="34" charset="-128"/>
              </a:rPr>
              <a:t>Official records –</a:t>
            </a:r>
            <a:r>
              <a:rPr altLang="en-US" sz="2200" lang="en-US">
                <a:latin typeface="Arial Unicode MS" pitchFamily="34" charset="-128"/>
              </a:rPr>
              <a:t> internal document survey research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3" name="Rectangle 2"/>
          <p:cNvSpPr/>
          <p:nvPr>
            <p:ph type="title" sz="full" idx="0"/>
          </p:nvPr>
        </p:nvSpPr>
        <p:spPr>
          <a:xfrm rot="0">
            <a:off x="685800" y="304800"/>
            <a:ext cx="8077200" cy="9144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4000" lang="en-US">
                <a:solidFill>
                  <a:srgbClr val="D60093"/>
                </a:solidFill>
                <a:latin typeface="Arial Unicode MS" pitchFamily="34" charset="-128"/>
              </a:rPr>
              <a:t>Constructing the Questionnaire</a:t>
            </a:r>
          </a:p>
        </p:txBody>
      </p:sp>
      <p:sp>
        <p:nvSpPr>
          <p:cNvPr id="1048604" name="Rectangle 3"/>
          <p:cNvSpPr/>
          <p:nvPr>
            <p:ph sz="full" idx="1"/>
          </p:nvPr>
        </p:nvSpPr>
        <p:spPr>
          <a:xfrm rot="0">
            <a:off x="685800" y="1524000"/>
            <a:ext cx="7772400" cy="3962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lnSpc>
                <a:spcPct val="80000"/>
              </a:lnSpc>
              <a:buFontTx/>
              <a:buNone/>
            </a:pPr>
            <a:r>
              <a:rPr altLang="en-US" sz="2600" lang="en-US">
                <a:solidFill>
                  <a:schemeClr val="lt2"/>
                </a:solidFill>
                <a:latin typeface="Arial Unicode MS" pitchFamily="34" charset="-128"/>
              </a:rPr>
              <a:t>Select the correct types of questions: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b="1" sz="2600" lang="en-US">
                <a:solidFill>
                  <a:srgbClr val="D60093"/>
                </a:solidFill>
                <a:latin typeface="Arial Unicode MS" pitchFamily="34" charset="-128"/>
              </a:rPr>
              <a:t>open ended</a:t>
            </a:r>
            <a:r>
              <a:rPr altLang="en-US" sz="2200" lang="en-US">
                <a:solidFill>
                  <a:schemeClr val="lt2"/>
                </a:solidFill>
                <a:latin typeface="Arial Unicode MS" pitchFamily="34" charset="-128"/>
              </a:rPr>
              <a:t> – harder to score but get </a:t>
            </a:r>
            <a:r>
              <a:rPr altLang="en-US" sz="2200" lang="ja-JP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“</a:t>
            </a:r>
            <a:r>
              <a:rPr altLang="ja-JP" sz="2200" lang="en-US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richer</a:t>
            </a:r>
            <a:r>
              <a:rPr altLang="en-US" sz="2200" lang="ja-JP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”</a:t>
            </a:r>
            <a:r>
              <a:rPr altLang="ja-JP" sz="2200" lang="en-US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 information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b="1" sz="2600" lang="en-US">
                <a:solidFill>
                  <a:srgbClr val="D60093"/>
                </a:solidFill>
                <a:latin typeface="Arial Unicode MS" pitchFamily="34" charset="-128"/>
              </a:rPr>
              <a:t>closed ended, dichotomous</a:t>
            </a:r>
            <a:r>
              <a:rPr altLang="en-US" sz="2200" lang="en-US">
                <a:solidFill>
                  <a:schemeClr val="lt2"/>
                </a:solidFill>
                <a:latin typeface="Arial Unicode MS" pitchFamily="34" charset="-128"/>
              </a:rPr>
              <a:t> – offer two either/or responses (true/false; yes/no; for/against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b="1" sz="2600" lang="en-US">
                <a:solidFill>
                  <a:srgbClr val="D60093"/>
                </a:solidFill>
                <a:latin typeface="Arial Unicode MS" pitchFamily="34" charset="-128"/>
              </a:rPr>
              <a:t>multiple choice</a:t>
            </a:r>
            <a:r>
              <a:rPr altLang="en-US" sz="2200" lang="en-US">
                <a:solidFill>
                  <a:schemeClr val="lt2"/>
                </a:solidFill>
                <a:latin typeface="Arial Unicode MS" pitchFamily="34" charset="-128"/>
              </a:rPr>
              <a:t> – select one or more than one</a:t>
            </a:r>
          </a:p>
          <a:p>
            <a:pPr eaLnBrk="1" hangingPunct="1" lvl="0">
              <a:lnSpc>
                <a:spcPct val="80000"/>
              </a:lnSpc>
            </a:pPr>
            <a:r>
              <a:rPr altLang="en-US" b="1" sz="2600" lang="en-US">
                <a:solidFill>
                  <a:srgbClr val="D60093"/>
                </a:solidFill>
                <a:latin typeface="Arial Unicode MS" pitchFamily="34" charset="-128"/>
              </a:rPr>
              <a:t>scaled response</a:t>
            </a:r>
            <a:r>
              <a:rPr altLang="en-US" sz="2200" lang="en-US">
                <a:solidFill>
                  <a:schemeClr val="lt2"/>
                </a:solidFill>
                <a:latin typeface="Arial Unicode MS" pitchFamily="34" charset="-128"/>
              </a:rPr>
              <a:t> – gather range of </a:t>
            </a:r>
            <a:r>
              <a:rPr altLang="en-US" sz="2200" lang="ja-JP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“</a:t>
            </a:r>
            <a:r>
              <a:rPr altLang="ja-JP" sz="2200" lang="en-US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values</a:t>
            </a:r>
            <a:r>
              <a:rPr altLang="en-US" sz="2200" lang="ja-JP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”</a:t>
            </a:r>
            <a:r>
              <a:rPr altLang="ja-JP" sz="2200" lang="en-US">
                <a:solidFill>
                  <a:schemeClr val="lt2"/>
                </a:solidFill>
                <a:latin typeface="Arial Unicode MS" pitchFamily="34" charset="-128"/>
                <a:ea typeface="MS PGothic" pitchFamily="34" charset="-128"/>
              </a:rPr>
              <a:t> (strongly disagree, somewhat disagree, neutral, somewhat agree, strongly agree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Rectangle 2"/>
          <p:cNvSpPr/>
          <p:nvPr>
            <p:ph type="title" sz="full" idx="0"/>
          </p:nvPr>
        </p:nvSpPr>
        <p:spPr>
          <a:xfrm rot="0">
            <a:off x="549275" y="568325"/>
            <a:ext cx="8042275" cy="133667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b="1" sz="4000" lang="it-IT">
                <a:solidFill>
                  <a:srgbClr val="FF0000"/>
                </a:solidFill>
                <a:latin typeface="Arial" pitchFamily="34" charset="0"/>
              </a:rPr>
              <a:t>Traditional </a:t>
            </a:r>
            <a:br>
              <a:rPr altLang="en-US" b="1" sz="4000" lang="it-IT">
                <a:solidFill>
                  <a:srgbClr val="FF0000"/>
                </a:solidFill>
                <a:latin typeface="Arial" pitchFamily="34" charset="0"/>
              </a:rPr>
            </a:br>
            <a:r>
              <a:rPr altLang="en-US" b="1" sz="4000" lang="it-IT">
                <a:solidFill>
                  <a:srgbClr val="FF0000"/>
                </a:solidFill>
                <a:latin typeface="Arial" pitchFamily="34" charset="0"/>
              </a:rPr>
              <a:t>data collection methods</a:t>
            </a:r>
          </a:p>
        </p:txBody>
      </p:sp>
      <p:sp>
        <p:nvSpPr>
          <p:cNvPr id="1048606" name="Rectangle 3"/>
          <p:cNvSpPr/>
          <p:nvPr>
            <p:ph sz="full" idx="1"/>
          </p:nvPr>
        </p:nvSpPr>
        <p:spPr>
          <a:xfrm rot="0">
            <a:off x="457200" y="1676400"/>
            <a:ext cx="8229600" cy="45783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800" lang="it-IT">
              <a:latin typeface="Arial" pitchFamily="34" charset="0"/>
            </a:endParaRPr>
          </a:p>
          <a:p>
            <a:pPr eaLnBrk="1" hangingPunct="1" lvl="0">
              <a:lnSpc>
                <a:spcPct val="90000"/>
              </a:lnSpc>
            </a:pPr>
            <a:r>
              <a:rPr altLang="en-US" b="1" sz="2800" lang="it-IT">
                <a:solidFill>
                  <a:srgbClr val="FF6600"/>
                </a:solidFill>
                <a:latin typeface="Arial" pitchFamily="34" charset="0"/>
              </a:rPr>
              <a:t>Mailing</a:t>
            </a:r>
            <a:r>
              <a:rPr altLang="en-US" b="1" sz="2800" lang="it-IT">
                <a:latin typeface="Arial" pitchFamily="34" charset="0"/>
              </a:rPr>
              <a:t> </a:t>
            </a:r>
            <a:r>
              <a:rPr altLang="en-US" sz="2800" lang="it-IT">
                <a:latin typeface="Arial" pitchFamily="34" charset="0"/>
              </a:rPr>
              <a:t>paper questionnaires to respondents, who fill them out and mail them back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800" lang="it-IT">
                <a:latin typeface="Arial" pitchFamily="34" charset="0"/>
              </a:rPr>
              <a:t>Having interviewers call to respondents on the </a:t>
            </a:r>
            <a:r>
              <a:rPr altLang="en-US" b="1" sz="2800" lang="it-IT">
                <a:solidFill>
                  <a:srgbClr val="FF6600"/>
                </a:solidFill>
                <a:latin typeface="Arial" pitchFamily="34" charset="0"/>
              </a:rPr>
              <a:t>telephone</a:t>
            </a:r>
            <a:r>
              <a:rPr altLang="en-US" sz="2800" lang="it-IT">
                <a:latin typeface="Arial" pitchFamily="34" charset="0"/>
              </a:rPr>
              <a:t> and ask them the question in a telephone interview 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800" lang="it-IT">
                <a:latin typeface="Arial" pitchFamily="34" charset="0"/>
              </a:rPr>
              <a:t>Sending  the interviewers to the respondent</a:t>
            </a:r>
            <a:r>
              <a:rPr altLang="it-IT" sz="2800" lang="ja-JP">
                <a:latin typeface="Arial" pitchFamily="34" charset="0"/>
                <a:ea typeface="MS PGothic" pitchFamily="34" charset="-128"/>
              </a:rPr>
              <a:t>’</a:t>
            </a:r>
            <a:r>
              <a:rPr altLang="ja-JP" sz="2800" lang="it-IT">
                <a:latin typeface="Arial" pitchFamily="34" charset="0"/>
                <a:ea typeface="MS PGothic" pitchFamily="34" charset="-128"/>
              </a:rPr>
              <a:t>s home or office to administer the questions in </a:t>
            </a:r>
            <a:r>
              <a:rPr altLang="ja-JP" b="1" sz="2800" lang="it-IT">
                <a:solidFill>
                  <a:srgbClr val="FF6600"/>
                </a:solidFill>
                <a:latin typeface="Arial" pitchFamily="34" charset="0"/>
                <a:ea typeface="MS PGothic" pitchFamily="34" charset="-128"/>
              </a:rPr>
              <a:t>face-to-face</a:t>
            </a:r>
            <a:r>
              <a:rPr altLang="ja-JP" sz="2800" lang="it-IT">
                <a:solidFill>
                  <a:srgbClr val="FF6600"/>
                </a:solidFill>
                <a:latin typeface="Arial" pitchFamily="34" charset="0"/>
                <a:ea typeface="MS PGothic" pitchFamily="34" charset="-128"/>
              </a:rPr>
              <a:t> </a:t>
            </a:r>
            <a:r>
              <a:rPr altLang="ja-JP" sz="2800" lang="it-IT">
                <a:latin typeface="Arial" pitchFamily="34" charset="0"/>
                <a:ea typeface="MS PGothic" pitchFamily="34" charset="-128"/>
              </a:rPr>
              <a:t>(FTF) interviews</a:t>
            </a:r>
          </a:p>
          <a:p>
            <a:pPr eaLnBrk="1" hangingPunct="1" lvl="0">
              <a:lnSpc>
                <a:spcPct val="90000"/>
              </a:lnSpc>
            </a:pPr>
            <a:endParaRPr altLang="en-US" sz="2800" lang="it-IT">
              <a:latin typeface="Arial" pitchFamily="34" charset="0"/>
            </a:endParaRP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7" name="Rectangle 2"/>
          <p:cNvSpPr/>
          <p:nvPr>
            <p:ph type="title" sz="full" idx="0"/>
          </p:nvPr>
        </p:nvSpPr>
        <p:spPr>
          <a:xfrm rot="0">
            <a:off x="-323850" y="-242887"/>
            <a:ext cx="9467850" cy="10795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it-IT">
                <a:solidFill>
                  <a:srgbClr val="800000"/>
                </a:solidFill>
                <a:latin typeface="Arial" pitchFamily="34" charset="0"/>
              </a:rPr>
              <a:t>Alternatives methods of data collection</a:t>
            </a:r>
          </a:p>
        </p:txBody>
      </p:sp>
      <p:sp>
        <p:nvSpPr>
          <p:cNvPr id="1048608" name="Rectangle 3"/>
          <p:cNvSpPr/>
          <p:nvPr>
            <p:ph sz="full" idx="1"/>
          </p:nvPr>
        </p:nvSpPr>
        <p:spPr>
          <a:xfrm rot="0">
            <a:off x="0" y="4292600"/>
            <a:ext cx="2530475" cy="8255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buFontTx/>
              <a:buNone/>
            </a:pPr>
            <a:r>
              <a:rPr altLang="en-US" lang="it-IT">
                <a:latin typeface="Arial" pitchFamily="34" charset="0"/>
              </a:rPr>
              <a:t>Face to face</a:t>
            </a:r>
          </a:p>
        </p:txBody>
      </p:sp>
      <p:sp>
        <p:nvSpPr>
          <p:cNvPr id="1048609" name="Rectangle 4"/>
          <p:cNvSpPr/>
          <p:nvPr/>
        </p:nvSpPr>
        <p:spPr>
          <a:xfrm rot="0">
            <a:off x="0" y="2924175"/>
            <a:ext cx="2530475" cy="8255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Telephone</a:t>
            </a:r>
          </a:p>
        </p:txBody>
      </p:sp>
      <p:sp>
        <p:nvSpPr>
          <p:cNvPr id="1048610" name="Rectangle 5"/>
          <p:cNvSpPr/>
          <p:nvPr/>
        </p:nvSpPr>
        <p:spPr>
          <a:xfrm rot="0">
            <a:off x="0" y="2060575"/>
            <a:ext cx="1223962" cy="5048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Mail</a:t>
            </a:r>
          </a:p>
        </p:txBody>
      </p:sp>
      <p:sp>
        <p:nvSpPr>
          <p:cNvPr id="1048611" name="Rectangle 6"/>
          <p:cNvSpPr/>
          <p:nvPr/>
        </p:nvSpPr>
        <p:spPr>
          <a:xfrm rot="0">
            <a:off x="2916237" y="2924175"/>
            <a:ext cx="2232025" cy="1223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CATI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computer assisted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telephone interviewing</a:t>
            </a:r>
          </a:p>
        </p:txBody>
      </p:sp>
      <p:sp>
        <p:nvSpPr>
          <p:cNvPr id="1048612" name="Rectangle 7"/>
          <p:cNvSpPr/>
          <p:nvPr/>
        </p:nvSpPr>
        <p:spPr>
          <a:xfrm rot="0">
            <a:off x="3600450" y="4292600"/>
            <a:ext cx="5543550" cy="1223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CAPI </a:t>
            </a: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computer assisted  personal interviewing</a:t>
            </a:r>
          </a:p>
        </p:txBody>
      </p:sp>
      <p:sp>
        <p:nvSpPr>
          <p:cNvPr id="1048613" name="Rectangle 8"/>
          <p:cNvSpPr/>
          <p:nvPr/>
        </p:nvSpPr>
        <p:spPr>
          <a:xfrm rot="0">
            <a:off x="5435600" y="2924175"/>
            <a:ext cx="1441450" cy="1223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TDE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Touchtone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data entry</a:t>
            </a:r>
          </a:p>
        </p:txBody>
      </p:sp>
      <p:sp>
        <p:nvSpPr>
          <p:cNvPr id="1048614" name="Rectangle 9"/>
          <p:cNvSpPr/>
          <p:nvPr/>
        </p:nvSpPr>
        <p:spPr>
          <a:xfrm rot="0">
            <a:off x="1908175" y="901700"/>
            <a:ext cx="3311525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OCR/ICR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Optical/intelligent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caracter recognition</a:t>
            </a:r>
          </a:p>
        </p:txBody>
      </p:sp>
      <p:sp>
        <p:nvSpPr>
          <p:cNvPr id="1048615" name="Rectangle 10"/>
          <p:cNvSpPr/>
          <p:nvPr/>
        </p:nvSpPr>
        <p:spPr>
          <a:xfrm rot="0">
            <a:off x="4500562" y="901700"/>
            <a:ext cx="2736850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FAX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endParaRPr altLang="en-US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16" name="Rectangle 11"/>
          <p:cNvSpPr/>
          <p:nvPr/>
        </p:nvSpPr>
        <p:spPr>
          <a:xfrm rot="0">
            <a:off x="1979612" y="2052637"/>
            <a:ext cx="2736850" cy="8255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Disk by Mail</a:t>
            </a:r>
          </a:p>
        </p:txBody>
      </p:sp>
      <p:sp>
        <p:nvSpPr>
          <p:cNvPr id="1048617" name="Rectangle 12"/>
          <p:cNvSpPr/>
          <p:nvPr/>
        </p:nvSpPr>
        <p:spPr>
          <a:xfrm rot="0">
            <a:off x="4643437" y="2052637"/>
            <a:ext cx="1223962" cy="8255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E-mail</a:t>
            </a:r>
          </a:p>
        </p:txBody>
      </p:sp>
      <p:sp>
        <p:nvSpPr>
          <p:cNvPr id="1048618" name="Rectangle 13"/>
          <p:cNvSpPr/>
          <p:nvPr/>
        </p:nvSpPr>
        <p:spPr>
          <a:xfrm rot="0">
            <a:off x="6443662" y="2052637"/>
            <a:ext cx="1223962" cy="5032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Web</a:t>
            </a:r>
          </a:p>
        </p:txBody>
      </p:sp>
      <p:sp>
        <p:nvSpPr>
          <p:cNvPr id="1048619" name="Rectangle 14"/>
          <p:cNvSpPr/>
          <p:nvPr/>
        </p:nvSpPr>
        <p:spPr>
          <a:xfrm rot="0">
            <a:off x="7667625" y="1909762"/>
            <a:ext cx="2016125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200" lang="it-IT">
                <a:solidFill>
                  <a:schemeClr val="dk1"/>
                </a:solidFill>
                <a:latin typeface="Times New Roman" pitchFamily="18" charset="0"/>
              </a:rPr>
              <a:t>Computerised Self Administered Questionnaires</a:t>
            </a:r>
          </a:p>
        </p:txBody>
      </p:sp>
      <p:sp>
        <p:nvSpPr>
          <p:cNvPr id="1048620" name="Rectangle 15"/>
          <p:cNvSpPr/>
          <p:nvPr/>
        </p:nvSpPr>
        <p:spPr>
          <a:xfrm rot="0">
            <a:off x="7343775" y="2924175"/>
            <a:ext cx="1800225" cy="1223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3200" lang="it-IT">
                <a:solidFill>
                  <a:schemeClr val="dk1"/>
                </a:solidFill>
                <a:latin typeface="Times New Roman" pitchFamily="18" charset="0"/>
              </a:rPr>
              <a:t>IVR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Interactive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voice response</a:t>
            </a:r>
          </a:p>
        </p:txBody>
      </p:sp>
      <p:sp>
        <p:nvSpPr>
          <p:cNvPr id="1048621" name="AutoShape 16"/>
          <p:cNvSpPr/>
          <p:nvPr/>
        </p:nvSpPr>
        <p:spPr bwMode="auto">
          <a:xfrm rot="0">
            <a:off x="468312" y="1260475"/>
            <a:ext cx="1366837" cy="576262"/>
          </a:xfrm>
          <a:custGeom>
            <a:avLst/>
            <a:gdLst>
              <a:gd name="l" fmla="*/ 12427 w 21600"/>
              <a:gd name="t" fmla="*/ 2912 h 21600"/>
              <a:gd name="r" fmla="*/ 18227 w 21600"/>
              <a:gd name="b" fmla="*/ 9246 h 21600"/>
            </a:gdLst>
            <a:ahLst/>
            <a:rect l="l" t="t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</p:sp>
      <p:sp>
        <p:nvSpPr>
          <p:cNvPr id="1048622" name="AutoShape 17"/>
          <p:cNvSpPr/>
          <p:nvPr/>
        </p:nvSpPr>
        <p:spPr>
          <a:xfrm rot="0">
            <a:off x="1116012" y="2197100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3" name="AutoShape 18"/>
          <p:cNvSpPr/>
          <p:nvPr/>
        </p:nvSpPr>
        <p:spPr>
          <a:xfrm rot="0">
            <a:off x="4067175" y="2197100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4" name="AutoShape 20"/>
          <p:cNvSpPr/>
          <p:nvPr/>
        </p:nvSpPr>
        <p:spPr>
          <a:xfrm rot="0">
            <a:off x="5795962" y="2197100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5" name="AutoShape 21"/>
          <p:cNvSpPr/>
          <p:nvPr/>
        </p:nvSpPr>
        <p:spPr>
          <a:xfrm rot="0">
            <a:off x="2051050" y="3067050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6" name="AutoShape 22"/>
          <p:cNvSpPr/>
          <p:nvPr/>
        </p:nvSpPr>
        <p:spPr>
          <a:xfrm rot="0">
            <a:off x="6516687" y="3067050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7" name="AutoShape 23"/>
          <p:cNvSpPr/>
          <p:nvPr/>
        </p:nvSpPr>
        <p:spPr>
          <a:xfrm rot="0">
            <a:off x="4284662" y="3067050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8" name="AutoShape 24"/>
          <p:cNvSpPr/>
          <p:nvPr/>
        </p:nvSpPr>
        <p:spPr>
          <a:xfrm rot="0">
            <a:off x="2627312" y="4435475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29" name="Rectangle 28"/>
          <p:cNvSpPr/>
          <p:nvPr/>
        </p:nvSpPr>
        <p:spPr>
          <a:xfrm rot="0">
            <a:off x="1979612" y="4941887"/>
            <a:ext cx="2016125" cy="5762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SAQ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Self administered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sz="1600" lang="it-IT">
                <a:solidFill>
                  <a:schemeClr val="dk1"/>
                </a:solidFill>
                <a:latin typeface="Times New Roman" pitchFamily="18" charset="0"/>
              </a:rPr>
              <a:t> questionnaire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endParaRPr altLang="en-US" sz="1600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0" name="AutoShape 29"/>
          <p:cNvSpPr/>
          <p:nvPr/>
        </p:nvSpPr>
        <p:spPr bwMode="auto">
          <a:xfrm rot="10854873" flipH="1">
            <a:off x="466725" y="4941887"/>
            <a:ext cx="1439862" cy="576262"/>
          </a:xfrm>
          <a:custGeom>
            <a:avLst/>
            <a:gdLst>
              <a:gd name="l" fmla="*/ 12427 w 21600"/>
              <a:gd name="t" fmla="*/ 2912 h 21600"/>
              <a:gd name="r" fmla="*/ 18227 w 21600"/>
              <a:gd name="b" fmla="*/ 9246 h 21600"/>
            </a:gdLst>
            <a:ahLst/>
            <a:rect l="l" t="t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</p:sp>
      <p:sp>
        <p:nvSpPr>
          <p:cNvPr id="1048631" name="Rectangle 31"/>
          <p:cNvSpPr/>
          <p:nvPr/>
        </p:nvSpPr>
        <p:spPr>
          <a:xfrm rot="0">
            <a:off x="3851275" y="6092825"/>
            <a:ext cx="2016125" cy="5762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Walkman</a:t>
            </a:r>
          </a:p>
        </p:txBody>
      </p:sp>
      <p:sp>
        <p:nvSpPr>
          <p:cNvPr id="1048632" name="Rectangle 32"/>
          <p:cNvSpPr/>
          <p:nvPr/>
        </p:nvSpPr>
        <p:spPr>
          <a:xfrm rot="0">
            <a:off x="4284662" y="4941887"/>
            <a:ext cx="1152525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Text 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CASI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endParaRPr altLang="en-US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3" name="Rectangle 33"/>
          <p:cNvSpPr/>
          <p:nvPr/>
        </p:nvSpPr>
        <p:spPr>
          <a:xfrm rot="0">
            <a:off x="5940425" y="4941887"/>
            <a:ext cx="1152525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Audio 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CASI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endParaRPr altLang="en-US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4" name="Rectangle 34"/>
          <p:cNvSpPr/>
          <p:nvPr/>
        </p:nvSpPr>
        <p:spPr>
          <a:xfrm rot="0">
            <a:off x="7812087" y="4868862"/>
            <a:ext cx="1152525" cy="7921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Video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r>
              <a:rPr altLang="en-US" lang="it-IT">
                <a:solidFill>
                  <a:schemeClr val="dk1"/>
                </a:solidFill>
                <a:latin typeface="Times New Roman" pitchFamily="18" charset="0"/>
              </a:rPr>
              <a:t>CASI</a:t>
            </a:r>
          </a:p>
          <a:p>
            <a:pPr eaLnBrk="1" hangingPunct="1" indent="-342900" lvl="0" marL="342900">
              <a:spcBef>
                <a:spcPct val="20000"/>
              </a:spcBef>
              <a:buSzPct val="100000"/>
              <a:buFontTx/>
              <a:buNone/>
            </a:pPr>
            <a:endParaRPr altLang="en-US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5" name="AutoShape 35"/>
          <p:cNvSpPr/>
          <p:nvPr/>
        </p:nvSpPr>
        <p:spPr bwMode="auto">
          <a:xfrm rot="10854873" flipH="1">
            <a:off x="2555875" y="6092825"/>
            <a:ext cx="1152525" cy="431800"/>
          </a:xfrm>
          <a:custGeom>
            <a:avLst/>
            <a:gdLst>
              <a:gd name="l" fmla="*/ 12427 w 21600"/>
              <a:gd name="t" fmla="*/ 2912 h 21600"/>
              <a:gd name="r" fmla="*/ 18227 w 21600"/>
              <a:gd name="b" fmla="*/ 9246 h 21600"/>
            </a:gdLst>
            <a:ahLst/>
            <a:rect l="l" t="t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</p:sp>
      <p:sp>
        <p:nvSpPr>
          <p:cNvPr id="1048636" name="AutoShape 36"/>
          <p:cNvSpPr/>
          <p:nvPr/>
        </p:nvSpPr>
        <p:spPr bwMode="auto">
          <a:xfrm rot="16081441" flipV="1">
            <a:off x="5760244" y="5557043"/>
            <a:ext cx="504825" cy="1154112"/>
          </a:xfrm>
          <a:custGeom>
            <a:avLst/>
            <a:gdLst>
              <a:gd name="l" fmla="*/ 12427 w 21600"/>
              <a:gd name="t" fmla="*/ 2912 h 21600"/>
              <a:gd name="r" fmla="*/ 18227 w 21600"/>
              <a:gd name="b" fmla="*/ 9246 h 21600"/>
            </a:gdLst>
            <a:ahLst/>
            <a:rect l="l" t="t" r="r" b="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miter/>
          </a:ln>
        </p:spPr>
      </p:sp>
      <p:sp>
        <p:nvSpPr>
          <p:cNvPr id="1048637" name="AutoShape 37"/>
          <p:cNvSpPr/>
          <p:nvPr/>
        </p:nvSpPr>
        <p:spPr>
          <a:xfrm rot="0">
            <a:off x="3203575" y="5013325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8" name="AutoShape 38"/>
          <p:cNvSpPr/>
          <p:nvPr/>
        </p:nvSpPr>
        <p:spPr>
          <a:xfrm rot="0">
            <a:off x="5076825" y="5013325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39" name="AutoShape 39"/>
          <p:cNvSpPr/>
          <p:nvPr/>
        </p:nvSpPr>
        <p:spPr>
          <a:xfrm rot="0">
            <a:off x="6948487" y="5013325"/>
            <a:ext cx="863600" cy="287337"/>
          </a:xfrm>
          <a:prstGeom prst="rightArrow">
            <a:avLst>
              <a:gd name="adj1" fmla="val 50000"/>
              <a:gd name="adj2" fmla="val 75138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40" name="AutoShape 40"/>
          <p:cNvSpPr/>
          <p:nvPr/>
        </p:nvSpPr>
        <p:spPr>
          <a:xfrm rot="0">
            <a:off x="3635375" y="1052512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0" lvl="0" marL="0">
              <a:spcBef>
                <a:spcPct val="0"/>
              </a:spcBef>
              <a:buSzPct val="100000"/>
              <a:buFontTx/>
              <a:buNone/>
            </a:pPr>
            <a:endParaRPr altLang="en-US" lang="en-US">
              <a:solidFill>
                <a:schemeClr val="dk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Rectangle 2"/>
          <p:cNvSpPr/>
          <p:nvPr>
            <p:ph type="title" sz="full" idx="0"/>
          </p:nvPr>
        </p:nvSpPr>
        <p:spPr>
          <a:xfrm rot="0">
            <a:off x="609600" y="228600"/>
            <a:ext cx="77724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3200" lang="en-US">
                <a:solidFill>
                  <a:srgbClr val="D60093"/>
                </a:solidFill>
                <a:latin typeface="Arial Unicode MS" pitchFamily="34" charset="-128"/>
              </a:rPr>
              <a:t>Important characteristics of good questionnaires</a:t>
            </a:r>
          </a:p>
        </p:txBody>
      </p:sp>
      <p:sp>
        <p:nvSpPr>
          <p:cNvPr id="1048642" name="Rectangle 3"/>
          <p:cNvSpPr/>
          <p:nvPr>
            <p:ph sz="full" idx="1"/>
          </p:nvPr>
        </p:nvSpPr>
        <p:spPr>
          <a:xfrm rot="0">
            <a:off x="533400" y="1828800"/>
            <a:ext cx="8610600" cy="426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/>
            <a:r>
              <a:rPr altLang="en-US" lang="en-US">
                <a:latin typeface="Arial Unicode MS" pitchFamily="34" charset="-128"/>
              </a:rPr>
              <a:t>Plan a user-friendly format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Gather demographic data – age, gender, etc., when necessary. 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Avoid ambiguity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Ensure ease of tabulation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Develop for completeness – get all the data</a:t>
            </a:r>
          </a:p>
          <a:p>
            <a:pPr eaLnBrk="1" hangingPunct="1" lvl="0"/>
            <a:r>
              <a:rPr altLang="en-US" lang="en-US">
                <a:latin typeface="Arial Unicode MS" pitchFamily="34" charset="-128"/>
              </a:rPr>
              <a:t>Pilot test the instrument</a:t>
            </a:r>
          </a:p>
        </p:txBody>
      </p:sp>
      <p:pic>
        <p:nvPicPr>
          <p:cNvPr id="2097156" name="Picture 2" descr="bd05053_[1]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629400" y="461962"/>
            <a:ext cx="2514600" cy="17240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3" name="Rectangle 2"/>
          <p:cNvSpPr/>
          <p:nvPr>
            <p:ph type="title" sz="full" idx="0"/>
          </p:nvPr>
        </p:nvSpPr>
        <p:spPr>
          <a:xfrm rot="0">
            <a:off x="304800" y="228600"/>
            <a:ext cx="8839200" cy="1981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lvl="0"/>
            <a:r>
              <a:rPr altLang="en-US" sz="3600" lang="en-US">
                <a:solidFill>
                  <a:srgbClr val="D60093"/>
                </a:solidFill>
                <a:latin typeface="Arial" pitchFamily="34" charset="0"/>
              </a:rPr>
              <a:t>1.  Have you had any of the following medical preventive tests/exams?</a:t>
            </a:r>
          </a:p>
        </p:txBody>
      </p:sp>
      <p:sp>
        <p:nvSpPr>
          <p:cNvPr id="1048644" name="Rectangle 3"/>
          <p:cNvSpPr/>
          <p:nvPr>
            <p:ph sz="full" idx="1"/>
          </p:nvPr>
        </p:nvSpPr>
        <p:spPr>
          <a:xfrm rot="0">
            <a:off x="685800" y="2209800"/>
            <a:ext cx="7315200" cy="4495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lvl="0">
              <a:spcBef>
                <a:spcPct val="60000"/>
              </a:spcBef>
              <a:buFontTx/>
              <a:buNone/>
            </a:pPr>
            <a:r>
              <a:rPr altLang="en-US" lang="en-US">
                <a:latin typeface="Arial" pitchFamily="34" charset="0"/>
              </a:rPr>
              <a:t>_____  mammogram (if a women)</a:t>
            </a:r>
          </a:p>
          <a:p>
            <a:pPr eaLnBrk="1" hangingPunct="1" lvl="0">
              <a:spcBef>
                <a:spcPct val="60000"/>
              </a:spcBef>
              <a:buFontTx/>
              <a:buNone/>
            </a:pPr>
            <a:r>
              <a:rPr altLang="en-US" lang="en-US">
                <a:latin typeface="Arial" pitchFamily="34" charset="0"/>
              </a:rPr>
              <a:t>_____ prostate exam (if a man)</a:t>
            </a:r>
          </a:p>
          <a:p>
            <a:pPr eaLnBrk="1" hangingPunct="1" lvl="0">
              <a:spcBef>
                <a:spcPct val="60000"/>
              </a:spcBef>
              <a:buFontTx/>
              <a:buNone/>
            </a:pPr>
            <a:r>
              <a:rPr altLang="en-US" lang="en-US">
                <a:latin typeface="Arial" pitchFamily="34" charset="0"/>
              </a:rPr>
              <a:t>_____ lung x-ray</a:t>
            </a:r>
          </a:p>
          <a:p>
            <a:pPr eaLnBrk="1" hangingPunct="1" lvl="0">
              <a:spcBef>
                <a:spcPct val="60000"/>
              </a:spcBef>
              <a:buFontTx/>
              <a:buNone/>
            </a:pPr>
            <a:r>
              <a:rPr altLang="en-US" lang="en-US">
                <a:latin typeface="Arial" pitchFamily="34" charset="0"/>
              </a:rPr>
              <a:t>_____ electrocardiogram</a:t>
            </a:r>
          </a:p>
          <a:p>
            <a:pPr eaLnBrk="1" hangingPunct="1" lvl="0">
              <a:spcBef>
                <a:spcPct val="60000"/>
              </a:spcBef>
              <a:buFontTx/>
              <a:buNone/>
            </a:pPr>
            <a:r>
              <a:rPr altLang="en-US" lang="en-US">
                <a:latin typeface="Arial" pitchFamily="34" charset="0"/>
              </a:rPr>
              <a:t>_____ stress test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5" name="Rectangle 2"/>
          <p:cNvSpPr/>
          <p:nvPr>
            <p:ph type="title" sz="full" idx="0"/>
          </p:nvPr>
        </p:nvSpPr>
        <p:spPr>
          <a:xfrm rot="0">
            <a:off x="685800" y="838200"/>
            <a:ext cx="7772400" cy="4191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algn="l" eaLnBrk="1" hangingPunct="1" indent="-838200" lvl="0" marL="838200"/>
            <a:r>
              <a:rPr altLang="en-US" sz="3600" lang="en-US">
                <a:solidFill>
                  <a:srgbClr val="D60093"/>
                </a:solidFill>
                <a:latin typeface="Arial" pitchFamily="34" charset="0"/>
              </a:rPr>
              <a:t>2.  Do you currently smoke?</a:t>
            </a:r>
            <a:r>
              <a:rPr altLang="en-US" sz="3600" lang="en-US">
                <a:latin typeface="Times New Roman" pitchFamily="18" charset="0"/>
              </a:rPr>
              <a:t> </a:t>
            </a:r>
            <a:br>
              <a:rPr altLang="en-US" sz="3600" lang="en-US">
                <a:solidFill>
                  <a:srgbClr val="D60093"/>
                </a:solidFill>
                <a:latin typeface="Arial" pitchFamily="34" charset="0"/>
              </a:rPr>
            </a:br>
            <a:br>
              <a:rPr altLang="en-US" sz="3600" lang="en-US">
                <a:latin typeface="Arial" pitchFamily="34" charset="0"/>
              </a:rPr>
            </a:br>
            <a:r>
              <a:rPr altLang="en-US" sz="3600" lang="en-US">
                <a:latin typeface="Arial" pitchFamily="34" charset="0"/>
              </a:rPr>
              <a:t>		_____ YES</a:t>
            </a:r>
            <a:br>
              <a:rPr altLang="en-US" sz="3600" lang="en-US">
                <a:latin typeface="Arial" pitchFamily="34" charset="0"/>
              </a:rPr>
            </a:br>
            <a:br>
              <a:rPr altLang="en-US" sz="3600" lang="en-US">
                <a:latin typeface="Arial" pitchFamily="34" charset="0"/>
              </a:rPr>
            </a:br>
            <a:r>
              <a:rPr altLang="en-US" sz="3600" lang="en-US">
                <a:latin typeface="Arial" pitchFamily="34" charset="0"/>
              </a:rPr>
              <a:t>		_____ NO</a:t>
            </a: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9" name="Text Box 6"/>
          <p:cNvSpPr txBox="1"/>
          <p:nvPr/>
        </p:nvSpPr>
        <p:spPr>
          <a:xfrm rot="0">
            <a:off x="304800" y="228600"/>
            <a:ext cx="8839200" cy="64055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AutoNum type="arabicPeriod" startAt="3"/>
            </a:pPr>
            <a:r>
              <a:rPr altLang="en-US" sz="3600" lang="en-US">
                <a:solidFill>
                  <a:srgbClr val="D60093"/>
                </a:solidFill>
                <a:latin typeface="Arial" pitchFamily="34" charset="0"/>
              </a:rPr>
              <a:t>Please evaluate the following statement:  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600" lang="ja-JP">
                <a:solidFill>
                  <a:srgbClr val="D60093"/>
                </a:solidFill>
                <a:latin typeface="Arial" pitchFamily="34" charset="0"/>
              </a:rPr>
              <a:t>	I understand the University’</a:t>
            </a:r>
            <a:r>
              <a:rPr altLang="ja-JP" sz="3600" lang="en-US">
                <a:solidFill>
                  <a:srgbClr val="D60093"/>
                </a:solidFill>
                <a:latin typeface="Arial" pitchFamily="34" charset="0"/>
              </a:rPr>
              <a:t>s code of conduct as it relates to plagiarism.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200" lang="en-US">
                <a:solidFill>
                  <a:schemeClr val="dk1"/>
                </a:solidFill>
                <a:latin typeface="Arial" pitchFamily="34" charset="0"/>
              </a:rPr>
              <a:t>			____	absolutely agree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200" lang="en-US">
                <a:solidFill>
                  <a:schemeClr val="dk1"/>
                </a:solidFill>
                <a:latin typeface="Arial" pitchFamily="34" charset="0"/>
              </a:rPr>
              <a:t>			____	somewhat agree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200" lang="en-US">
                <a:solidFill>
                  <a:schemeClr val="dk1"/>
                </a:solidFill>
                <a:latin typeface="Arial" pitchFamily="34" charset="0"/>
              </a:rPr>
              <a:t>			____	neutral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200" lang="en-US">
                <a:solidFill>
                  <a:schemeClr val="dk1"/>
                </a:solidFill>
                <a:latin typeface="Arial" pitchFamily="34" charset="0"/>
              </a:rPr>
              <a:t>			____	somewhat disagree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r>
              <a:rPr altLang="en-US" sz="3200" lang="en-US">
                <a:solidFill>
                  <a:schemeClr val="dk1"/>
                </a:solidFill>
                <a:latin typeface="Arial" pitchFamily="34" charset="0"/>
              </a:rPr>
              <a:t>			____	absolutely disagree</a:t>
            </a:r>
          </a:p>
          <a:p>
            <a:pPr eaLnBrk="1" hangingPunct="1" indent="-457200" lvl="0" marL="457200">
              <a:spcBef>
                <a:spcPct val="50000"/>
              </a:spcBef>
              <a:buSzPct val="100000"/>
              <a:buFontTx/>
              <a:buNone/>
            </a:pPr>
            <a:endParaRPr altLang="en-US" sz="3200" lang="en-US">
              <a:solidFill>
                <a:schemeClr val="dk1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0" name="Rectangle 4"/>
          <p:cNvSpPr/>
          <p:nvPr>
            <p:ph type="title" sz="full" idx="0"/>
          </p:nvPr>
        </p:nvSpPr>
        <p:spPr>
          <a:xfrm rot="0">
            <a:off x="0" y="274637"/>
            <a:ext cx="91440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it-IT">
                <a:solidFill>
                  <a:srgbClr val="0000CC"/>
                </a:solidFill>
                <a:latin typeface="Arial" pitchFamily="34" charset="0"/>
              </a:rPr>
              <a:t>Non sensitive questions about behavior Play attention to the wording</a:t>
            </a:r>
          </a:p>
        </p:txBody>
      </p:sp>
      <p:sp>
        <p:nvSpPr>
          <p:cNvPr id="1048651" name="Rectangle 6"/>
          <p:cNvSpPr/>
          <p:nvPr>
            <p:ph sz="full" idx="1"/>
          </p:nvPr>
        </p:nvSpPr>
        <p:spPr>
          <a:xfrm rot="0">
            <a:off x="468312" y="3213100"/>
            <a:ext cx="3527425" cy="26654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     Are you:</a:t>
            </a:r>
          </a:p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Married</a:t>
            </a:r>
          </a:p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Divorced</a:t>
            </a:r>
          </a:p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Widowed</a:t>
            </a:r>
          </a:p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Separated</a:t>
            </a:r>
          </a:p>
          <a:p>
            <a:pPr eaLnBrk="1" hangingPunct="1" indent="-609600" lvl="0" marL="609600">
              <a:lnSpc>
                <a:spcPct val="60000"/>
              </a:lnSpc>
            </a:pPr>
            <a:r>
              <a:rPr altLang="en-US" sz="2200" lang="it-IT">
                <a:latin typeface="Arial" pitchFamily="34" charset="0"/>
              </a:rPr>
              <a:t>Never married</a:t>
            </a:r>
          </a:p>
        </p:txBody>
      </p:sp>
      <p:sp>
        <p:nvSpPr>
          <p:cNvPr id="1048652" name="Rectangle 5"/>
          <p:cNvSpPr/>
          <p:nvPr/>
        </p:nvSpPr>
        <p:spPr>
          <a:xfrm rot="0">
            <a:off x="0" y="1916112"/>
            <a:ext cx="91440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With closed questions, include all reasonable possibilities as explicit response options</a:t>
            </a:r>
          </a:p>
        </p:txBody>
      </p:sp>
      <p:sp>
        <p:nvSpPr>
          <p:cNvPr id="1048653" name="Rectangle 7"/>
          <p:cNvSpPr/>
          <p:nvPr/>
        </p:nvSpPr>
        <p:spPr>
          <a:xfrm rot="0">
            <a:off x="4787900" y="3500437"/>
            <a:ext cx="2520950" cy="15843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lnSpc>
                <a:spcPct val="80000"/>
              </a:lnSpc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Are you:</a:t>
            </a:r>
          </a:p>
          <a:p>
            <a:pPr eaLnBrk="1" hangingPunct="1" indent="-609600" lvl="0" marL="609600">
              <a:lnSpc>
                <a:spcPct val="80000"/>
              </a:lnSpc>
              <a:spcBef>
                <a:spcPct val="20000"/>
              </a:spcBef>
              <a:buSzPct val="100000"/>
              <a:buFontTx/>
              <a:buChar char="•"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Married</a:t>
            </a:r>
          </a:p>
          <a:p>
            <a:pPr eaLnBrk="1" hangingPunct="1" indent="-609600" lvl="0" marL="609600">
              <a:lnSpc>
                <a:spcPct val="80000"/>
              </a:lnSpc>
              <a:spcBef>
                <a:spcPct val="20000"/>
              </a:spcBef>
              <a:buSzPct val="100000"/>
              <a:buFontTx/>
              <a:buChar char="•"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Single</a:t>
            </a:r>
          </a:p>
          <a:p>
            <a:pPr eaLnBrk="1" hangingPunct="1" indent="-609600" lvl="0" marL="609600">
              <a:lnSpc>
                <a:spcPct val="80000"/>
              </a:lnSpc>
              <a:spcBef>
                <a:spcPct val="20000"/>
              </a:spcBef>
              <a:buSzPct val="100000"/>
              <a:buFontTx/>
              <a:buChar char="•"/>
            </a:pPr>
            <a:endParaRPr altLang="en-US" sz="2800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54" name="Line 8"/>
          <p:cNvSpPr/>
          <p:nvPr/>
        </p:nvSpPr>
        <p:spPr>
          <a:xfrm rot="0">
            <a:off x="4572000" y="3213100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55" name="Line 9"/>
          <p:cNvSpPr/>
          <p:nvPr/>
        </p:nvSpPr>
        <p:spPr>
          <a:xfrm rot="0" flipV="1">
            <a:off x="4572000" y="3213100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6" name="Rectangle 2"/>
          <p:cNvSpPr/>
          <p:nvPr>
            <p:ph type="title" sz="full" idx="0"/>
          </p:nvPr>
        </p:nvSpPr>
        <p:spPr>
          <a:xfrm rot="0">
            <a:off x="0" y="609600"/>
            <a:ext cx="91440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3600" lang="it-IT">
                <a:solidFill>
                  <a:srgbClr val="0000CC"/>
                </a:solidFill>
                <a:latin typeface="Arial" pitchFamily="34" charset="0"/>
              </a:rPr>
              <a:t>Non sensitive questions about behavior Play attention to the wording</a:t>
            </a:r>
          </a:p>
        </p:txBody>
      </p:sp>
      <p:sp>
        <p:nvSpPr>
          <p:cNvPr id="1048657" name="Rectangle 4"/>
          <p:cNvSpPr/>
          <p:nvPr>
            <p:ph sz="full" idx="1"/>
          </p:nvPr>
        </p:nvSpPr>
        <p:spPr>
          <a:xfrm rot="0">
            <a:off x="5219700" y="3482975"/>
            <a:ext cx="2771775" cy="22320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buFontTx/>
              <a:buNone/>
            </a:pPr>
            <a:r>
              <a:rPr altLang="en-US" sz="2800" lang="it-IT">
                <a:latin typeface="Arial" pitchFamily="34" charset="0"/>
              </a:rPr>
              <a:t>     In a tipical week, how often do you read a newspaper?</a:t>
            </a:r>
          </a:p>
        </p:txBody>
      </p:sp>
      <p:sp>
        <p:nvSpPr>
          <p:cNvPr id="1048658" name="Rectangle 3"/>
          <p:cNvSpPr/>
          <p:nvPr/>
        </p:nvSpPr>
        <p:spPr>
          <a:xfrm rot="0">
            <a:off x="0" y="1916112"/>
            <a:ext cx="91440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Make the question as specific as possible </a:t>
            </a:r>
            <a:b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</a:br>
            <a:r>
              <a:rPr altLang="en-US" lang="it-IT">
                <a:solidFill>
                  <a:srgbClr val="0000CC"/>
                </a:solidFill>
                <a:latin typeface="Times New Roman" pitchFamily="18" charset="0"/>
              </a:rPr>
              <a:t>(about who it covers, what time period, which behaviours…)</a:t>
            </a:r>
          </a:p>
        </p:txBody>
      </p:sp>
      <p:sp>
        <p:nvSpPr>
          <p:cNvPr id="1048659" name="Line 8"/>
          <p:cNvSpPr/>
          <p:nvPr/>
        </p:nvSpPr>
        <p:spPr>
          <a:xfrm rot="0">
            <a:off x="5580062" y="35004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60" name="Line 9"/>
          <p:cNvSpPr/>
          <p:nvPr/>
        </p:nvSpPr>
        <p:spPr>
          <a:xfrm rot="0" flipV="1">
            <a:off x="5580062" y="35004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61" name="Rectangle 10"/>
          <p:cNvSpPr/>
          <p:nvPr/>
        </p:nvSpPr>
        <p:spPr>
          <a:xfrm rot="0">
            <a:off x="250825" y="3482975"/>
            <a:ext cx="3960812" cy="22320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    Over the last month, that is ….. how often do you read a newspaper in a tipical week?</a:t>
            </a:r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2" name="Rectangle 2"/>
          <p:cNvSpPr/>
          <p:nvPr>
            <p:ph type="title" sz="full" idx="0"/>
          </p:nvPr>
        </p:nvSpPr>
        <p:spPr>
          <a:xfrm rot="0">
            <a:off x="0" y="457200"/>
            <a:ext cx="91440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it-IT">
                <a:solidFill>
                  <a:srgbClr val="0000CC"/>
                </a:solidFill>
                <a:latin typeface="Arial" pitchFamily="34" charset="0"/>
              </a:rPr>
              <a:t>Non sensitive questions about behavior Play attention to the wording</a:t>
            </a:r>
          </a:p>
        </p:txBody>
      </p:sp>
      <p:sp>
        <p:nvSpPr>
          <p:cNvPr id="1048663" name="Rectangle 3"/>
          <p:cNvSpPr/>
          <p:nvPr/>
        </p:nvSpPr>
        <p:spPr>
          <a:xfrm rot="0">
            <a:off x="0" y="1916112"/>
            <a:ext cx="91440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Use words that virtually all respondents will understand </a:t>
            </a:r>
          </a:p>
        </p:txBody>
      </p:sp>
      <p:sp>
        <p:nvSpPr>
          <p:cNvPr id="1048664" name="Rectangle 7"/>
          <p:cNvSpPr/>
          <p:nvPr/>
        </p:nvSpPr>
        <p:spPr>
          <a:xfrm rot="0">
            <a:off x="5076825" y="3349625"/>
            <a:ext cx="3168650" cy="16557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    Have you ever had a miocardial infarction?</a:t>
            </a:r>
          </a:p>
        </p:txBody>
      </p:sp>
      <p:sp>
        <p:nvSpPr>
          <p:cNvPr id="1048665" name="Line 9"/>
          <p:cNvSpPr/>
          <p:nvPr/>
        </p:nvSpPr>
        <p:spPr>
          <a:xfrm rot="0">
            <a:off x="5580062" y="3276600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66" name="Line 10"/>
          <p:cNvSpPr/>
          <p:nvPr/>
        </p:nvSpPr>
        <p:spPr>
          <a:xfrm rot="0" flipV="1">
            <a:off x="5580062" y="3276600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67" name="Rectangle 13"/>
          <p:cNvSpPr/>
          <p:nvPr/>
        </p:nvSpPr>
        <p:spPr>
          <a:xfrm rot="0">
            <a:off x="755650" y="3357562"/>
            <a:ext cx="3168650" cy="16557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800" lang="it-IT">
                <a:solidFill>
                  <a:schemeClr val="dk1"/>
                </a:solidFill>
                <a:latin typeface="Times New Roman" pitchFamily="18" charset="0"/>
              </a:rPr>
              <a:t>    Have you ever had a heart attack?</a:t>
            </a:r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Rectangle 2"/>
          <p:cNvSpPr/>
          <p:nvPr>
            <p:ph type="title" sz="full" idx="0"/>
          </p:nvPr>
        </p:nvSpPr>
        <p:spPr>
          <a:xfrm rot="0">
            <a:off x="0" y="274637"/>
            <a:ext cx="9144000" cy="11430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it-IT">
                <a:solidFill>
                  <a:srgbClr val="0000CC"/>
                </a:solidFill>
                <a:latin typeface="Arial" pitchFamily="34" charset="0"/>
              </a:rPr>
              <a:t>Non sensitive questions about behavior Provide memory help</a:t>
            </a:r>
          </a:p>
        </p:txBody>
      </p:sp>
      <p:sp>
        <p:nvSpPr>
          <p:cNvPr id="1048669" name="Rectangle 3"/>
          <p:cNvSpPr/>
          <p:nvPr/>
        </p:nvSpPr>
        <p:spPr>
          <a:xfrm rot="0">
            <a:off x="0" y="1916112"/>
            <a:ext cx="91440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Uses aided recall </a:t>
            </a:r>
            <a:b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</a:b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(or ask separate questions about subcategories)</a:t>
            </a:r>
          </a:p>
        </p:txBody>
      </p:sp>
      <p:sp>
        <p:nvSpPr>
          <p:cNvPr id="1048670" name="Rectangle 7"/>
          <p:cNvSpPr/>
          <p:nvPr/>
        </p:nvSpPr>
        <p:spPr>
          <a:xfrm rot="0">
            <a:off x="250825" y="3213100"/>
            <a:ext cx="4105275" cy="31686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    Please look cerefully at the following list of volountary organisations: which, if any, do you belong to?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endParaRPr altLang="en-US" sz="2000" lang="it-IT">
              <a:solidFill>
                <a:schemeClr val="dk1"/>
              </a:solidFill>
              <a:latin typeface="Times New Roman" pitchFamily="18" charset="0"/>
            </a:endParaRP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A	Religious organisations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B	Cultural organisations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C	Political groups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D	Other</a:t>
            </a:r>
          </a:p>
        </p:txBody>
      </p:sp>
      <p:sp>
        <p:nvSpPr>
          <p:cNvPr id="1048671" name="Rectangle 8"/>
          <p:cNvSpPr/>
          <p:nvPr/>
        </p:nvSpPr>
        <p:spPr>
          <a:xfrm rot="0">
            <a:off x="5219700" y="3789362"/>
            <a:ext cx="2592387" cy="863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        To which  volountary organisation do you belong to?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endParaRPr altLang="en-US" sz="2000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72" name="Line 9"/>
          <p:cNvSpPr/>
          <p:nvPr/>
        </p:nvSpPr>
        <p:spPr>
          <a:xfrm rot="0">
            <a:off x="5580062" y="35004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73" name="Line 10"/>
          <p:cNvSpPr/>
          <p:nvPr/>
        </p:nvSpPr>
        <p:spPr>
          <a:xfrm rot="0" flipV="1">
            <a:off x="5580062" y="35004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4" name="Rectangle 2"/>
          <p:cNvSpPr/>
          <p:nvPr>
            <p:ph type="title" sz="full" idx="0"/>
          </p:nvPr>
        </p:nvSpPr>
        <p:spPr>
          <a:xfrm rot="0">
            <a:off x="0" y="333375"/>
            <a:ext cx="9144000" cy="10080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600" i="0" u="none">
                <a:solidFill>
                  <a:schemeClr val="accent1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</a:lstStyle>
          <a:p>
            <a:pPr eaLnBrk="1" hangingPunct="1" lvl="0"/>
            <a:r>
              <a:rPr altLang="en-US" sz="4000" lang="it-IT">
                <a:solidFill>
                  <a:srgbClr val="0000CC"/>
                </a:solidFill>
                <a:latin typeface="Arial" pitchFamily="34" charset="0"/>
              </a:rPr>
              <a:t>Attitude questions</a:t>
            </a:r>
            <a:br>
              <a:rPr altLang="en-US" sz="4000" lang="it-IT">
                <a:solidFill>
                  <a:srgbClr val="0000CC"/>
                </a:solidFill>
                <a:latin typeface="Arial" pitchFamily="34" charset="0"/>
              </a:rPr>
            </a:br>
            <a:r>
              <a:rPr altLang="en-US" sz="4000" lang="it-IT">
                <a:solidFill>
                  <a:srgbClr val="0000CC"/>
                </a:solidFill>
                <a:latin typeface="Arial" pitchFamily="34" charset="0"/>
              </a:rPr>
              <a:t>Play attention to the wording </a:t>
            </a:r>
          </a:p>
        </p:txBody>
      </p:sp>
      <p:sp>
        <p:nvSpPr>
          <p:cNvPr id="1048675" name="Rectangle 9"/>
          <p:cNvSpPr/>
          <p:nvPr/>
        </p:nvSpPr>
        <p:spPr>
          <a:xfrm rot="0">
            <a:off x="0" y="1557337"/>
            <a:ext cx="9144000" cy="7921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algn="ctr" eaLnBrk="1" hangingPunct="1" indent="0" lvl="0" marL="0">
              <a:spcBef>
                <a:spcPct val="0"/>
              </a:spcBef>
              <a:buSzPct val="100000"/>
              <a:buFontTx/>
              <a:buNone/>
            </a:pPr>
            <a: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  <a:t>Clearly specify the attitude object of interest </a:t>
            </a:r>
            <a:br>
              <a:rPr altLang="en-US" sz="2800" lang="it-IT">
                <a:solidFill>
                  <a:srgbClr val="0000CC"/>
                </a:solidFill>
                <a:latin typeface="Times New Roman" pitchFamily="18" charset="0"/>
              </a:rPr>
            </a:br>
            <a:endParaRPr altLang="en-US" sz="2800" lang="it-IT">
              <a:solidFill>
                <a:srgbClr val="0000CC"/>
              </a:solidFill>
              <a:latin typeface="Times New Roman" pitchFamily="18" charset="0"/>
            </a:endParaRPr>
          </a:p>
        </p:txBody>
      </p:sp>
      <p:sp>
        <p:nvSpPr>
          <p:cNvPr id="1048676" name="Rectangle 10"/>
          <p:cNvSpPr/>
          <p:nvPr/>
        </p:nvSpPr>
        <p:spPr>
          <a:xfrm rot="0">
            <a:off x="4932362" y="3141662"/>
            <a:ext cx="3744912" cy="15128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        Do you think the Government is spending too litte, about the right amount, or too much on education?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endParaRPr altLang="en-US" sz="2000" lang="it-IT">
              <a:solidFill>
                <a:schemeClr val="dk1"/>
              </a:solidFill>
              <a:latin typeface="Times New Roman" pitchFamily="18" charset="0"/>
            </a:endParaRPr>
          </a:p>
        </p:txBody>
      </p:sp>
      <p:sp>
        <p:nvSpPr>
          <p:cNvPr id="1048677" name="Line 11"/>
          <p:cNvSpPr/>
          <p:nvPr/>
        </p:nvSpPr>
        <p:spPr>
          <a:xfrm rot="0">
            <a:off x="5508625" y="30686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78" name="Line 12"/>
          <p:cNvSpPr/>
          <p:nvPr/>
        </p:nvSpPr>
        <p:spPr>
          <a:xfrm rot="0" flipV="1">
            <a:off x="5508625" y="3068637"/>
            <a:ext cx="2376487" cy="1800225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679" name="Rectangle 13"/>
          <p:cNvSpPr/>
          <p:nvPr/>
        </p:nvSpPr>
        <p:spPr>
          <a:xfrm rot="0">
            <a:off x="755650" y="3141662"/>
            <a:ext cx="3744912" cy="15128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9250" latinLnBrk="0" marL="349250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4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1pPr>
            <a:lvl2pPr algn="l" eaLnBrk="0" fontAlgn="base" hangingPunct="0" indent="-336550" latinLnBrk="0" marL="68580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22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2pPr>
            <a:lvl3pPr algn="l" eaLnBrk="0" fontAlgn="base" hangingPunct="0" indent="-282575" latinLnBrk="0" marL="96837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20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3pPr>
            <a:lvl4pPr algn="l" eaLnBrk="0" fontAlgn="base" hangingPunct="0" indent="-295275" latinLnBrk="0" marL="126365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215D7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4pPr>
            <a:lvl5pPr algn="l" eaLnBrk="0" fontAlgn="base" hangingPunct="0" indent="-282575" latinLnBrk="0" marL="1546225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pitchFamily="18" charset="2"/>
              <a:buChar char=""/>
              <a:defRPr baseline="0" b="0" sz="1800" i="0" u="none">
                <a:solidFill>
                  <a:srgbClr val="595959"/>
                </a:solidFill>
                <a:latin typeface="News Gothic MT" pitchFamily="0" charset="0"/>
                <a:ea typeface="ヒラギノ角ゴ Pro W3" pitchFamily="0" charset="-128"/>
                <a:sym typeface="Times New Roman" pitchFamily="18" charset="0"/>
              </a:defRPr>
            </a:lvl5pPr>
          </a:lstStyle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r>
              <a:rPr altLang="en-US" sz="2000" lang="it-IT">
                <a:solidFill>
                  <a:schemeClr val="dk1"/>
                </a:solidFill>
                <a:latin typeface="Times New Roman" pitchFamily="18" charset="0"/>
              </a:rPr>
              <a:t>        Do you think the Government is spending too litte, about the right amount, or too much on higher education?</a:t>
            </a:r>
          </a:p>
          <a:p>
            <a:pPr eaLnBrk="1" hangingPunct="1" indent="-609600" lvl="0" marL="609600">
              <a:spcBef>
                <a:spcPct val="20000"/>
              </a:spcBef>
              <a:buSzPct val="100000"/>
              <a:buFontTx/>
              <a:buNone/>
            </a:pPr>
            <a:endParaRPr altLang="en-US" sz="2000" lang="it-IT">
              <a:solidFill>
                <a:schemeClr val="dk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D5EDF4"/>
      </a:dk2>
      <a:lt2>
        <a:srgbClr val="09213B"/>
      </a:lt2>
      <a:accent1>
        <a:srgbClr val="2C7C9F"/>
      </a:accent1>
      <a:accent2>
        <a:srgbClr val="244A58"/>
      </a:accent2>
      <a:accent3>
        <a:srgbClr val="FFFFFF"/>
      </a:accent3>
      <a:accent4>
        <a:srgbClr val="000000"/>
      </a:accent4>
      <a:accent5>
        <a:srgbClr val="ACBFCD"/>
      </a:accent5>
      <a:accent6>
        <a:srgbClr val="1F424E"/>
      </a:accent6>
      <a:hlink>
        <a:srgbClr val="7030A0"/>
      </a:hlink>
      <a:folHlink>
        <a:srgbClr val="00B0F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D5EDF4"/>
        </a:dk2>
        <a:lt2>
          <a:srgbClr val="09213B"/>
        </a:lt2>
        <a:accent1>
          <a:srgbClr val="2C7C9F"/>
        </a:accent1>
        <a:accent2>
          <a:srgbClr val="244A58"/>
        </a:accent2>
        <a:accent3>
          <a:srgbClr val="FFFFFF"/>
        </a:accent3>
        <a:accent4>
          <a:srgbClr val="000000"/>
        </a:accent4>
        <a:accent5>
          <a:srgbClr val="ACBFCD"/>
        </a:accent5>
        <a:accent6>
          <a:srgbClr val="1F424E"/>
        </a:accent6>
        <a:hlink>
          <a:srgbClr val="7030A0"/>
        </a:hlink>
        <a:folHlink>
          <a:srgbClr val="00B0F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Primary Data</dc:title>
  <dc:creator>William Wilhelm</dc:creator>
  <cp:lastModifiedBy>HP</cp:lastModifiedBy>
  <dcterms:created xsi:type="dcterms:W3CDTF">2001-10-11T16:47:20Z</dcterms:created>
  <dcterms:modified xsi:type="dcterms:W3CDTF">2024-04-22T02:18:24Z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2ea53d8697a9466a8e31ed15beb57569</vt:lpwstr>
  </property>
</Properties>
</file>