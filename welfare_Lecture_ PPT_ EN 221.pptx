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3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 rtl="0" saveSubsetFonts="0" serverZoom="0" showSpecialPlsOnTitleSld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type="screen4x3" cy="6858000" cx="9144000"/>
  <p:notesSz cx="6858000" cy="9144000"/>
  <p:defaultTextStyle>
    <a:lvl1pPr algn="l" eaLnBrk="0" fontAlgn="base" hangingPunct="0" indent="0" latinLnBrk="0" marL="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0" charset="0"/>
        <a:sym typeface="Arial" pitchFamily="0" charset="0"/>
      </a:defRPr>
    </a:lvl1pPr>
    <a:lvl2pPr algn="l" eaLnBrk="0" fontAlgn="base" hangingPunct="0" indent="0" latinLnBrk="0" marL="4572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0" charset="0"/>
        <a:sym typeface="Arial" pitchFamily="0" charset="0"/>
      </a:defRPr>
    </a:lvl2pPr>
    <a:lvl3pPr algn="l" eaLnBrk="0" fontAlgn="base" hangingPunct="0" indent="0" latinLnBrk="0" marL="9144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0" charset="0"/>
        <a:sym typeface="Arial" pitchFamily="0" charset="0"/>
      </a:defRPr>
    </a:lvl3pPr>
    <a:lvl4pPr algn="l" eaLnBrk="0" fontAlgn="base" hangingPunct="0" indent="0" latinLnBrk="0" marL="13716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0" charset="0"/>
        <a:sym typeface="Arial" pitchFamily="0" charset="0"/>
      </a:defRPr>
    </a:lvl4pPr>
    <a:lvl5pPr algn="l" eaLnBrk="0" fontAlgn="base" hangingPunct="0" indent="0" latinLnBrk="0" marL="18288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0" charset="0"/>
        <a:sym typeface="Arial" pitchFamily="0" charset="0"/>
      </a:defRPr>
    </a:lvl5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View">
  <p:normalViewPr showOutlineIcons="1" snapVertSplitter="0" vertBarState="minimized" horzBarState="maximized" preferSingleView="0">
    <p:restoredLeft sz="15620" autoAdjust="0"/>
    <p:restoredTop sz="86420" autoAdjust="0"/>
  </p:normalViewPr>
  <p:slideViewPr>
    <p:cSldViewPr showGuides="0" snapToGrid="1" snapToObjects="0">
      <p:cViewPr varScale="0">
        <p:scale>
          <a:sx n="70" d="100"/>
          <a:sy n="70" d="100"/>
        </p:scale>
        <p:origin x="-996" y="720"/>
      </p:cViewPr>
      <p:guideLst>
        <p:guide orient="horz" pos="960"/>
        <p:guide orient="vert" pos="96"/>
      </p:guideLst>
    </p:cSldViewPr>
  </p:slideViewPr>
  <p:gridSpacing cx="0" cy="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tableStyles" Target="tableStyles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3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22" name="Rectangle 2"/>
          <p:cNvSpPr/>
          <p:nvPr>
            <p:ph type="hdr" sz="quarter" idx="0"/>
          </p:nvPr>
        </p:nvSpPr>
        <p:spPr>
          <a:xfrm rot="0">
            <a:off x="0" y="0"/>
            <a:ext cx="29718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eaLnBrk="1" hangingPunct="1" lvl="0"/>
            <a:endParaRPr altLang="en-US" sz="1200" lang="en-US"/>
          </a:p>
        </p:txBody>
      </p:sp>
      <p:sp>
        <p:nvSpPr>
          <p:cNvPr id="1048823" name="Rectangle 3"/>
          <p:cNvSpPr/>
          <p:nvPr>
            <p:ph type="dt" sz="full" idx="1"/>
          </p:nvPr>
        </p:nvSpPr>
        <p:spPr>
          <a:xfrm rot="0">
            <a:off x="3884612" y="0"/>
            <a:ext cx="29718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algn="r" eaLnBrk="1" hangingPunct="1" lvl="0"/>
            <a:endParaRPr altLang="en-US" sz="1200" lang="en-US"/>
          </a:p>
        </p:txBody>
      </p:sp>
      <p:sp>
        <p:nvSpPr>
          <p:cNvPr id="1048824" name="Rectangle 4"/>
          <p:cNvSpPr/>
          <p:nvPr>
            <p:ph type="sldImg" sz="full" idx="2"/>
          </p:nvPr>
        </p:nvSpPr>
        <p:spPr>
          <a:xfrm rot="0">
            <a:off x="1143000" y="685800"/>
            <a:ext cx="4572000" cy="34290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/>
          <a:p/>
        </p:txBody>
      </p:sp>
      <p:sp>
        <p:nvSpPr>
          <p:cNvPr id="1048825" name="Rectangle 5"/>
          <p:cNvSpPr/>
          <p:nvPr>
            <p:ph type="body" sz="quarter" idx="3"/>
          </p:nvPr>
        </p:nvSpPr>
        <p:spPr>
          <a:xfrm rot="0"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r>
              <a:rPr altLang="en-US" lang="en-US"/>
              <a:t>Click to edit Master text styles</a:t>
            </a:r>
          </a:p>
          <a:p>
            <a:pPr lvl="1"/>
            <a:r>
              <a:rPr altLang="en-US" lang="en-US"/>
              <a:t>Second level</a:t>
            </a:r>
          </a:p>
          <a:p>
            <a:pPr lvl="2"/>
            <a:r>
              <a:rPr altLang="en-US" lang="en-US"/>
              <a:t>Third level</a:t>
            </a:r>
          </a:p>
          <a:p>
            <a:pPr lvl="3"/>
            <a:r>
              <a:rPr altLang="en-US" lang="en-US"/>
              <a:t>Fourth level</a:t>
            </a:r>
          </a:p>
          <a:p>
            <a:pPr lvl="4"/>
            <a:r>
              <a:rPr altLang="en-US" lang="en-US"/>
              <a:t>Fifth level</a:t>
            </a:r>
          </a:p>
        </p:txBody>
      </p:sp>
      <p:sp>
        <p:nvSpPr>
          <p:cNvPr id="1048826" name="Rectangle 6"/>
          <p:cNvSpPr/>
          <p:nvPr>
            <p:ph type="ftr" sz="quarter" idx="4"/>
          </p:nvPr>
        </p:nvSpPr>
        <p:spPr>
          <a:xfrm rot="0">
            <a:off x="0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eaLnBrk="1" hangingPunct="1" lvl="0"/>
            <a:endParaRPr altLang="en-US" sz="1200" lang="en-US"/>
          </a:p>
        </p:txBody>
      </p:sp>
      <p:sp>
        <p:nvSpPr>
          <p:cNvPr id="1048827" name="Rectangle 7"/>
          <p:cNvSpPr/>
          <p:nvPr>
            <p:ph type="sldNum" sz="quarter" idx="5"/>
          </p:nvPr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vl="0"/>
            <a:fld id="{566ABCEB-ACFC-4714-9973-3DA970169C29}" type="slidenum">
              <a:rPr altLang="en-US" sz="1200" lang="en-US"/>
              <a:pPr algn="r" eaLnBrk="1" hangingPunct="1" lvl="0"/>
            </a:fld>
            <a:endParaRPr altLang="en-US" sz="1200" lang="en-US"/>
          </a:p>
        </p:txBody>
      </p:sp>
    </p:spTree>
  </p:cSld>
  <p:clrMap accent1="dk1" accent2="dk1" accent3="dk1" accent4="dk1" accent5="dk1" accent6="dk1" bg1="dk1" bg2="dk1" tx1="dk1" tx2="dk1" hlink="dk1" folHlink="dk1"/>
  <p:notesStyle>
    <a:lvl1pPr algn="l" eaLnBrk="0" fontAlgn="base" hangingPunct="0" indent="0" latinLnBrk="0" marL="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Arial" pitchFamily="0" charset="0"/>
        <a:sym typeface="Arial" pitchFamily="0" charset="0"/>
      </a:defRPr>
    </a:lvl1pPr>
    <a:lvl2pPr algn="l" eaLnBrk="0" fontAlgn="base" hangingPunct="0" indent="0" latinLnBrk="0" marL="4572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Arial" pitchFamily="0" charset="0"/>
        <a:sym typeface="Arial" pitchFamily="0" charset="0"/>
      </a:defRPr>
    </a:lvl2pPr>
    <a:lvl3pPr algn="l" eaLnBrk="0" fontAlgn="base" hangingPunct="0" indent="0" latinLnBrk="0" marL="9144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Arial" pitchFamily="0" charset="0"/>
        <a:sym typeface="Arial" pitchFamily="0" charset="0"/>
      </a:defRPr>
    </a:lvl3pPr>
    <a:lvl4pPr algn="l" eaLnBrk="0" fontAlgn="base" hangingPunct="0" indent="0" latinLnBrk="0" marL="13716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Arial" pitchFamily="0" charset="0"/>
        <a:sym typeface="Arial" pitchFamily="0" charset="0"/>
      </a:defRPr>
    </a:lvl4pPr>
    <a:lvl5pPr algn="l" eaLnBrk="0" fontAlgn="base" hangingPunct="0" indent="0" latinLnBrk="0" marL="18288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Arial" pitchFamily="0" charset="0"/>
        <a:sym typeface="Arial" pitchFamily="0" charset="0"/>
      </a:defRPr>
    </a:lvl5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7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grpSp>
        <p:nvGrpSpPr>
          <p:cNvPr id="77" name=""/>
          <p:cNvGrpSpPr/>
          <p:nvPr/>
        </p:nvGrpSpPr>
        <p:grpSpPr>
          <a:xfrm rot="0">
            <a:off x="-9372600" y="2590800"/>
            <a:ext cx="2867025" cy="3157537"/>
            <a:chOff x="0" y="672"/>
            <a:chExt cx="1806" cy="1989"/>
          </a:xfrm>
        </p:grpSpPr>
        <p:sp>
          <p:nvSpPr>
            <p:cNvPr id="1048740" name="Rectangle 3"/>
            <p:cNvSpPr/>
            <p:nvPr/>
          </p:nvSpPr>
          <p:spPr>
            <a:xfrm rot="0">
              <a:off x="361" y="2257"/>
              <a:ext cx="363" cy="404"/>
            </a:xfrm>
            <a:prstGeom prst="rect"/>
            <a:solidFill>
              <a:schemeClr val="accent2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5pPr>
            </a:lstStyle>
            <a:p>
              <a:pPr eaLnBrk="1" hangingPunct="1" lvl="0"/>
              <a:endParaRPr altLang="en-US" sz="2400" lang="en-US"/>
            </a:p>
          </p:txBody>
        </p:sp>
        <p:sp>
          <p:nvSpPr>
            <p:cNvPr id="1048741" name="Rectangle 4"/>
            <p:cNvSpPr/>
            <p:nvPr/>
          </p:nvSpPr>
          <p:spPr>
            <a:xfrm rot="0">
              <a:off x="1081" y="1065"/>
              <a:ext cx="362" cy="405"/>
            </a:xfrm>
            <a:prstGeom prst="rect"/>
            <a:solidFill>
              <a:schemeClr val="folHlink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5pPr>
            </a:lstStyle>
            <a:p>
              <a:pPr eaLnBrk="1" hangingPunct="1" lvl="0"/>
              <a:endParaRPr altLang="en-US" sz="2400" lang="en-US"/>
            </a:p>
          </p:txBody>
        </p:sp>
        <p:sp>
          <p:nvSpPr>
            <p:cNvPr id="1048742" name="Rectangle 5"/>
            <p:cNvSpPr/>
            <p:nvPr/>
          </p:nvSpPr>
          <p:spPr>
            <a:xfrm rot="0">
              <a:off x="1437" y="672"/>
              <a:ext cx="369" cy="400"/>
            </a:xfrm>
            <a:prstGeom prst="rect"/>
            <a:solidFill>
              <a:schemeClr val="folHlink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5pPr>
            </a:lstStyle>
            <a:p>
              <a:pPr eaLnBrk="1" hangingPunct="1" lvl="0"/>
              <a:endParaRPr altLang="en-US" sz="2400" lang="en-US"/>
            </a:p>
          </p:txBody>
        </p:sp>
        <p:sp>
          <p:nvSpPr>
            <p:cNvPr id="1048743" name="Rectangle 6"/>
            <p:cNvSpPr/>
            <p:nvPr/>
          </p:nvSpPr>
          <p:spPr>
            <a:xfrm rot="0">
              <a:off x="719" y="2257"/>
              <a:ext cx="368" cy="404"/>
            </a:xfrm>
            <a:prstGeom prst="rect"/>
            <a:solidFill>
              <a:schemeClr val="dk2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5pPr>
            </a:lstStyle>
            <a:p>
              <a:pPr eaLnBrk="1" hangingPunct="1" lvl="0"/>
              <a:endParaRPr altLang="en-US" sz="2400" lang="en-US"/>
            </a:p>
          </p:txBody>
        </p:sp>
        <p:sp>
          <p:nvSpPr>
            <p:cNvPr id="1048744" name="Rectangle 7"/>
            <p:cNvSpPr/>
            <p:nvPr/>
          </p:nvSpPr>
          <p:spPr>
            <a:xfrm rot="0">
              <a:off x="1437" y="1065"/>
              <a:ext cx="369" cy="405"/>
            </a:xfrm>
            <a:prstGeom prst="rect"/>
            <a:solidFill>
              <a:schemeClr val="accent2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5pPr>
            </a:lstStyle>
            <a:p>
              <a:pPr eaLnBrk="1" hangingPunct="1" lvl="0"/>
              <a:endParaRPr altLang="en-US" sz="2400" lang="en-US"/>
            </a:p>
          </p:txBody>
        </p:sp>
        <p:sp>
          <p:nvSpPr>
            <p:cNvPr id="1048745" name="Rectangle 8"/>
            <p:cNvSpPr/>
            <p:nvPr/>
          </p:nvSpPr>
          <p:spPr>
            <a:xfrm rot="0">
              <a:off x="719" y="1464"/>
              <a:ext cx="368" cy="399"/>
            </a:xfrm>
            <a:prstGeom prst="rect"/>
            <a:solidFill>
              <a:schemeClr val="folHlink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5pPr>
            </a:lstStyle>
            <a:p>
              <a:pPr eaLnBrk="1" hangingPunct="1" lvl="0"/>
              <a:endParaRPr altLang="en-US" sz="2400" lang="en-US"/>
            </a:p>
          </p:txBody>
        </p:sp>
        <p:sp>
          <p:nvSpPr>
            <p:cNvPr id="1048746" name="Rectangle 9"/>
            <p:cNvSpPr/>
            <p:nvPr/>
          </p:nvSpPr>
          <p:spPr>
            <a:xfrm rot="0">
              <a:off x="0" y="1464"/>
              <a:ext cx="367" cy="399"/>
            </a:xfrm>
            <a:prstGeom prst="rect"/>
            <a:solidFill>
              <a:schemeClr val="dk2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5pPr>
            </a:lstStyle>
            <a:p>
              <a:pPr eaLnBrk="1" hangingPunct="1" lvl="0"/>
              <a:endParaRPr altLang="en-US" sz="2400" lang="en-US"/>
            </a:p>
          </p:txBody>
        </p:sp>
        <p:sp>
          <p:nvSpPr>
            <p:cNvPr id="1048747" name="Rectangle 10"/>
            <p:cNvSpPr/>
            <p:nvPr/>
          </p:nvSpPr>
          <p:spPr>
            <a:xfrm rot="0">
              <a:off x="1081" y="1464"/>
              <a:ext cx="362" cy="399"/>
            </a:xfrm>
            <a:prstGeom prst="rect"/>
            <a:solidFill>
              <a:schemeClr val="accent2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5pPr>
            </a:lstStyle>
            <a:p>
              <a:pPr eaLnBrk="1" hangingPunct="1" lvl="0"/>
              <a:endParaRPr altLang="en-US" sz="2400" lang="en-US"/>
            </a:p>
          </p:txBody>
        </p:sp>
        <p:sp>
          <p:nvSpPr>
            <p:cNvPr id="1048748" name="Rectangle 11"/>
            <p:cNvSpPr/>
            <p:nvPr/>
          </p:nvSpPr>
          <p:spPr>
            <a:xfrm rot="0">
              <a:off x="361" y="1857"/>
              <a:ext cx="363" cy="406"/>
            </a:xfrm>
            <a:prstGeom prst="rect"/>
            <a:solidFill>
              <a:schemeClr val="folHlink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5pPr>
            </a:lstStyle>
            <a:p>
              <a:pPr eaLnBrk="1" hangingPunct="1" lvl="0"/>
              <a:endParaRPr altLang="en-US" sz="2400" lang="en-US"/>
            </a:p>
          </p:txBody>
        </p:sp>
        <p:sp>
          <p:nvSpPr>
            <p:cNvPr id="1048749" name="Rectangle 12"/>
            <p:cNvSpPr/>
            <p:nvPr/>
          </p:nvSpPr>
          <p:spPr>
            <a:xfrm rot="0">
              <a:off x="719" y="1857"/>
              <a:ext cx="368" cy="406"/>
            </a:xfrm>
            <a:prstGeom prst="rect"/>
            <a:solidFill>
              <a:schemeClr val="accent2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Arial" pitchFamily="0" charset="0"/>
                  <a:sym typeface="Arial" pitchFamily="0" charset="0"/>
                </a:defRPr>
              </a:lvl5pPr>
            </a:lstStyle>
            <a:p>
              <a:pPr eaLnBrk="1" hangingPunct="1" lvl="0"/>
              <a:endParaRPr altLang="en-US" sz="2400" lang="en-US"/>
            </a:p>
          </p:txBody>
        </p:sp>
      </p:grpSp>
      <p:sp>
        <p:nvSpPr>
          <p:cNvPr id="1048750" name="Text Box 15"/>
          <p:cNvSpPr txBox="1"/>
          <p:nvPr/>
        </p:nvSpPr>
        <p:spPr>
          <a:xfrm rot="0">
            <a:off x="71437" y="6583362"/>
            <a:ext cx="3810000" cy="27463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lvl="0">
              <a:spcBef>
                <a:spcPct val="50000"/>
              </a:spcBef>
            </a:pPr>
            <a:r>
              <a:rPr altLang="en-US" sz="1200" lang="en-US"/>
              <a:t>©2005, Southwestern</a:t>
            </a:r>
          </a:p>
        </p:txBody>
      </p:sp>
      <p:pic>
        <p:nvPicPr>
          <p:cNvPr id="2097160" name="Picture 16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20979" r="0" b="0"/>
          <a:stretch>
            <a:fillRect/>
          </a:stretch>
        </p:blipFill>
        <p:spPr>
          <a:xfrm rot="0">
            <a:off x="152400" y="0"/>
            <a:ext cx="8810625" cy="2152650"/>
          </a:xfrm>
          <a:prstGeom prst="rect"/>
          <a:noFill/>
          <a:ln>
            <a:noFill/>
          </a:ln>
        </p:spPr>
      </p:pic>
      <p:pic>
        <p:nvPicPr>
          <p:cNvPr id="2097161" name="Picture 17"/>
          <p:cNvPicPr>
            <a:picLocks/>
          </p:cNvPicPr>
          <p:nvPr/>
        </p:nvPicPr>
        <p:blipFill>
          <a:blip xmlns:r="http://schemas.openxmlformats.org/officeDocument/2006/relationships" r:embed="rId2"/>
          <a:srcRect l="3300" t="0" r="0" b="0"/>
          <a:stretch>
            <a:fillRect/>
          </a:stretch>
        </p:blipFill>
        <p:spPr>
          <a:xfrm rot="0">
            <a:off x="152400" y="2149475"/>
            <a:ext cx="3349625" cy="4471987"/>
          </a:xfrm>
          <a:prstGeom prst="rect"/>
          <a:noFill/>
          <a:ln>
            <a:noFill/>
          </a:ln>
        </p:spPr>
      </p:pic>
      <p:pic>
        <p:nvPicPr>
          <p:cNvPr id="2097162" name="Picture 18"/>
          <p:cNvPicPr>
            <a:picLocks/>
          </p:cNvPicPr>
          <p:nvPr/>
        </p:nvPicPr>
        <p:blipFill>
          <a:blip xmlns:r="http://schemas.openxmlformats.org/officeDocument/2006/relationships" r:embed="rId3"/>
          <a:srcRect l="0" t="0" r="0" b="0"/>
          <a:stretch>
            <a:fillRect/>
          </a:stretch>
        </p:blipFill>
        <p:spPr>
          <a:xfrm rot="0">
            <a:off x="3513137" y="6256337"/>
            <a:ext cx="814387" cy="206375"/>
          </a:xfrm>
          <a:prstGeom prst="rect"/>
          <a:noFill/>
          <a:ln>
            <a:noFill/>
          </a:ln>
        </p:spPr>
      </p:pic>
      <p:sp>
        <p:nvSpPr>
          <p:cNvPr id="1048751" name="Text Box 19"/>
          <p:cNvSpPr txBox="1"/>
          <p:nvPr/>
        </p:nvSpPr>
        <p:spPr>
          <a:xfrm rot="0">
            <a:off x="5219700" y="5724525"/>
            <a:ext cx="3743325" cy="779462"/>
          </a:xfrm>
          <a:prstGeom prst="rect"/>
          <a:gradFill rotWithShape="1">
            <a:gsLst>
              <a:gs pos="0">
                <a:schemeClr val="hlink">
                  <a:alpha val="100000"/>
                </a:schemeClr>
              </a:gs>
              <a:gs pos="100000">
                <a:srgbClr val="2F2F47">
                  <a:alpha val="100000"/>
                </a:srgbClr>
              </a:gs>
            </a:gsLst>
            <a:lin ang="5400000" scaled="1"/>
          </a:gra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lvl="0">
              <a:spcBef>
                <a:spcPct val="50000"/>
              </a:spcBef>
            </a:pPr>
            <a:r>
              <a:rPr altLang="en-US" lang="en-US">
                <a:solidFill>
                  <a:schemeClr val="lt1"/>
                </a:solidFill>
              </a:rPr>
              <a:t>Slides by Pamela L. Hall</a:t>
            </a:r>
          </a:p>
          <a:p>
            <a:pPr lvl="0">
              <a:spcBef>
                <a:spcPct val="50000"/>
              </a:spcBef>
            </a:pPr>
            <a:r>
              <a:rPr altLang="en-US" lang="en-US">
                <a:solidFill>
                  <a:schemeClr val="lt1"/>
                </a:solidFill>
              </a:rPr>
              <a:t>Western Washington University</a:t>
            </a:r>
          </a:p>
        </p:txBody>
      </p:sp>
      <p:pic>
        <p:nvPicPr>
          <p:cNvPr id="2097163" name="Picture 20"/>
          <p:cNvPicPr>
            <a:picLocks/>
          </p:cNvPicPr>
          <p:nvPr/>
        </p:nvPicPr>
        <p:blipFill>
          <a:blip xmlns:r="http://schemas.openxmlformats.org/officeDocument/2006/relationships" r:embed="rId4"/>
          <a:srcRect l="0" t="0" r="0" b="0"/>
          <a:stretch>
            <a:fillRect/>
          </a:stretch>
        </p:blipFill>
        <p:spPr>
          <a:xfrm rot="0">
            <a:off x="3500437" y="5651500"/>
            <a:ext cx="5462587" cy="82550"/>
          </a:xfrm>
          <a:prstGeom prst="rect"/>
          <a:noFill/>
          <a:ln>
            <a:noFill/>
          </a:ln>
        </p:spPr>
      </p:pic>
      <p:sp>
        <p:nvSpPr>
          <p:cNvPr id="1048755" name="Rectangle 14"/>
          <p:cNvSpPr>
            <a:spLocks noGrp="1" noChangeArrowheads="1"/>
          </p:cNvSpPr>
          <p:nvPr>
            <p:ph type="subTitle" idx="1"/>
          </p:nvPr>
        </p:nvSpPr>
        <p:spPr>
          <a:xfrm>
            <a:off x="4648200" y="4619625"/>
            <a:ext cx="4314825" cy="990600"/>
          </a:xfrm>
        </p:spPr>
        <p:txBody>
          <a:bodyPr/>
          <a:lstStyle>
            <a:lvl1pPr algn="ctr" indent="0" marL="0">
              <a:buFont typeface="Wingdings" pitchFamily="2" charset="2"/>
              <a:buNone/>
              <a:defRPr sz="3400">
                <a:solidFill>
                  <a:schemeClr val="hlink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754" name="Rectangle 13"/>
          <p:cNvSpPr>
            <a:spLocks noGrp="1" noChangeArrowheads="1"/>
          </p:cNvSpPr>
          <p:nvPr>
            <p:ph type="ctrTitle"/>
          </p:nvPr>
        </p:nvSpPr>
        <p:spPr>
          <a:xfrm>
            <a:off x="4648200" y="2266950"/>
            <a:ext cx="4314825" cy="2209800"/>
          </a:xfrm>
        </p:spPr>
        <p:txBody>
          <a:bodyPr/>
          <a:lstStyle>
            <a:lvl1pPr>
              <a:defRPr sz="5000">
                <a:solidFill>
                  <a:schemeClr val="hlink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2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83" name="Rectangle 4"/>
          <p:cNvSpPr/>
          <p:nvPr/>
        </p:nvSpPr>
        <p:spPr>
          <a:xfrm rot="0">
            <a:off x="0" y="0"/>
            <a:ext cx="9144000" cy="1371600"/>
          </a:xfrm>
          <a:prstGeom prst="rect"/>
          <a:gradFill rotWithShape="1">
            <a:gsLst>
              <a:gs pos="0">
                <a:srgbClr val="CC3300">
                  <a:alpha val="100000"/>
                </a:srgbClr>
              </a:gs>
              <a:gs pos="100000">
                <a:srgbClr val="5E1800">
                  <a:alpha val="100000"/>
                </a:srgbClr>
              </a:gs>
            </a:gsLst>
            <a:lin ang="5400000" scaled="1"/>
          </a:gra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endParaRPr altLang="en-US" lang="en-US"/>
          </a:p>
        </p:txBody>
      </p:sp>
      <p:sp>
        <p:nvSpPr>
          <p:cNvPr id="1048584" name="Line 8"/>
          <p:cNvSpPr/>
          <p:nvPr/>
        </p:nvSpPr>
        <p:spPr>
          <a:xfrm rot="0">
            <a:off x="1295400" y="1371600"/>
            <a:ext cx="7848600" cy="0"/>
          </a:xfrm>
          <a:prstGeom prst="line"/>
          <a:noFill/>
          <a:ln w="63500" cap="flat" cmpd="sng">
            <a:solidFill>
              <a:srgbClr val="006699">
                <a:alpha val="100000"/>
              </a:srgbClr>
            </a:solidFill>
            <a:prstDash val="solid"/>
            <a:round/>
          </a:ln>
        </p:spPr>
      </p:sp>
      <p:sp>
        <p:nvSpPr>
          <p:cNvPr id="1048587" name="Rectangle 2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/>
          </a:p>
        </p:txBody>
      </p:sp>
      <p:sp>
        <p:nvSpPr>
          <p:cNvPr id="1048588" name="Rectangle 3"/>
          <p:cNvSpPr/>
          <p:nvPr>
            <p:ph type="dt" sz="half" idx="2"/>
          </p:nvPr>
        </p:nvSpPr>
        <p:spPr>
          <a:xfrm rot="0">
            <a:off x="457200" y="6102350"/>
            <a:ext cx="3967162" cy="47625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200" lang="en-US">
              <a:solidFill>
                <a:srgbClr val="950546"/>
              </a:solidFill>
            </a:endParaRPr>
          </a:p>
        </p:txBody>
      </p:sp>
      <p:sp>
        <p:nvSpPr>
          <p:cNvPr id="1048589" name="Rectangle 7"/>
          <p:cNvSpPr/>
          <p:nvPr>
            <p:ph type="sldNum" sz="quarter" idx="4"/>
          </p:nvPr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59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9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8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56" name="Rectangle 4"/>
          <p:cNvSpPr/>
          <p:nvPr/>
        </p:nvSpPr>
        <p:spPr>
          <a:xfrm rot="0">
            <a:off x="0" y="0"/>
            <a:ext cx="9144000" cy="1371600"/>
          </a:xfrm>
          <a:prstGeom prst="rect"/>
          <a:gradFill rotWithShape="1">
            <a:gsLst>
              <a:gs pos="0">
                <a:srgbClr val="CC3300">
                  <a:alpha val="100000"/>
                </a:srgbClr>
              </a:gs>
              <a:gs pos="100000">
                <a:srgbClr val="5E1800">
                  <a:alpha val="100000"/>
                </a:srgbClr>
              </a:gs>
            </a:gsLst>
            <a:lin ang="5400000" scaled="1"/>
          </a:gra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endParaRPr altLang="en-US" lang="en-US"/>
          </a:p>
        </p:txBody>
      </p:sp>
      <p:sp>
        <p:nvSpPr>
          <p:cNvPr id="1048757" name="Line 8"/>
          <p:cNvSpPr/>
          <p:nvPr/>
        </p:nvSpPr>
        <p:spPr>
          <a:xfrm rot="0">
            <a:off x="1295400" y="1371600"/>
            <a:ext cx="7848600" cy="0"/>
          </a:xfrm>
          <a:prstGeom prst="line"/>
          <a:noFill/>
          <a:ln w="63500" cap="flat" cmpd="sng">
            <a:solidFill>
              <a:srgbClr val="006699">
                <a:alpha val="100000"/>
              </a:srgbClr>
            </a:solidFill>
            <a:prstDash val="solid"/>
            <a:round/>
          </a:ln>
        </p:spPr>
      </p:sp>
      <p:sp>
        <p:nvSpPr>
          <p:cNvPr id="1048760" name="Rectangle 2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/>
          </a:p>
        </p:txBody>
      </p:sp>
      <p:sp>
        <p:nvSpPr>
          <p:cNvPr id="1048761" name="Rectangle 3"/>
          <p:cNvSpPr/>
          <p:nvPr>
            <p:ph type="dt" sz="half" idx="2"/>
          </p:nvPr>
        </p:nvSpPr>
        <p:spPr>
          <a:xfrm rot="0">
            <a:off x="457200" y="6102350"/>
            <a:ext cx="3967162" cy="47625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200" lang="en-US">
              <a:solidFill>
                <a:srgbClr val="950546"/>
              </a:solidFill>
            </a:endParaRPr>
          </a:p>
        </p:txBody>
      </p:sp>
      <p:sp>
        <p:nvSpPr>
          <p:cNvPr id="1048762" name="Rectangle 7"/>
          <p:cNvSpPr/>
          <p:nvPr>
            <p:ph type="sldNum" sz="quarter" idx="4"/>
          </p:nvPr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764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/>
            </a:lvl1pPr>
            <a:lvl2pPr indent="0" marL="457200">
              <a:buNone/>
              <a:defRPr sz="1800"/>
            </a:lvl2pPr>
            <a:lvl3pPr indent="0" marL="914400">
              <a:buNone/>
              <a:defRPr sz="1600"/>
            </a:lvl3pPr>
            <a:lvl4pPr indent="0" marL="1371600">
              <a:buNone/>
              <a:defRPr sz="1400"/>
            </a:lvl4pPr>
            <a:lvl5pPr indent="0" marL="1828800">
              <a:buNone/>
              <a:defRPr sz="1400"/>
            </a:lvl5pPr>
            <a:lvl6pPr indent="0" marL="2286000">
              <a:buNone/>
              <a:defRPr sz="1400"/>
            </a:lvl6pPr>
            <a:lvl7pPr indent="0" marL="2743200">
              <a:buNone/>
              <a:defRPr sz="1400"/>
            </a:lvl7pPr>
            <a:lvl8pPr indent="0" marL="3200400">
              <a:buNone/>
              <a:defRPr sz="1400"/>
            </a:lvl8pPr>
            <a:lvl9pPr indent="0" marL="365760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63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8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65" name="Rectangle 4"/>
          <p:cNvSpPr/>
          <p:nvPr/>
        </p:nvSpPr>
        <p:spPr>
          <a:xfrm rot="0">
            <a:off x="0" y="0"/>
            <a:ext cx="9144000" cy="1371600"/>
          </a:xfrm>
          <a:prstGeom prst="rect"/>
          <a:gradFill rotWithShape="1">
            <a:gsLst>
              <a:gs pos="0">
                <a:srgbClr val="CC3300">
                  <a:alpha val="100000"/>
                </a:srgbClr>
              </a:gs>
              <a:gs pos="100000">
                <a:srgbClr val="5E1800">
                  <a:alpha val="100000"/>
                </a:srgbClr>
              </a:gs>
            </a:gsLst>
            <a:lin ang="5400000" scaled="1"/>
          </a:gra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endParaRPr altLang="en-US" lang="en-US"/>
          </a:p>
        </p:txBody>
      </p:sp>
      <p:sp>
        <p:nvSpPr>
          <p:cNvPr id="1048766" name="Line 8"/>
          <p:cNvSpPr/>
          <p:nvPr/>
        </p:nvSpPr>
        <p:spPr>
          <a:xfrm rot="0">
            <a:off x="1295400" y="1371600"/>
            <a:ext cx="7848600" cy="0"/>
          </a:xfrm>
          <a:prstGeom prst="line"/>
          <a:noFill/>
          <a:ln w="63500" cap="flat" cmpd="sng">
            <a:solidFill>
              <a:srgbClr val="006699">
                <a:alpha val="100000"/>
              </a:srgbClr>
            </a:solidFill>
            <a:prstDash val="solid"/>
            <a:round/>
          </a:ln>
        </p:spPr>
      </p:sp>
      <p:sp>
        <p:nvSpPr>
          <p:cNvPr id="1048769" name="Rectangle 2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/>
          </a:p>
        </p:txBody>
      </p:sp>
      <p:sp>
        <p:nvSpPr>
          <p:cNvPr id="1048770" name="Rectangle 3"/>
          <p:cNvSpPr/>
          <p:nvPr>
            <p:ph type="dt" sz="half" idx="2"/>
          </p:nvPr>
        </p:nvSpPr>
        <p:spPr>
          <a:xfrm rot="0">
            <a:off x="457200" y="6102350"/>
            <a:ext cx="3967162" cy="47625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200" lang="en-US">
              <a:solidFill>
                <a:srgbClr val="950546"/>
              </a:solidFill>
            </a:endParaRPr>
          </a:p>
        </p:txBody>
      </p:sp>
      <p:sp>
        <p:nvSpPr>
          <p:cNvPr id="1048771" name="Rectangle 7"/>
          <p:cNvSpPr/>
          <p:nvPr>
            <p:ph type="sldNum" sz="quarter" idx="4"/>
          </p:nvPr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77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371600"/>
            <a:ext cx="4267200" cy="4686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7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371600"/>
            <a:ext cx="4267200" cy="4686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7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8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75" name="Rectangle 4"/>
          <p:cNvSpPr/>
          <p:nvPr/>
        </p:nvSpPr>
        <p:spPr>
          <a:xfrm rot="0">
            <a:off x="0" y="0"/>
            <a:ext cx="9144000" cy="1371600"/>
          </a:xfrm>
          <a:prstGeom prst="rect"/>
          <a:gradFill rotWithShape="1">
            <a:gsLst>
              <a:gs pos="0">
                <a:srgbClr val="CC3300">
                  <a:alpha val="100000"/>
                </a:srgbClr>
              </a:gs>
              <a:gs pos="100000">
                <a:srgbClr val="5E1800">
                  <a:alpha val="100000"/>
                </a:srgbClr>
              </a:gs>
            </a:gsLst>
            <a:lin ang="5400000" scaled="1"/>
          </a:gra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endParaRPr altLang="en-US" lang="en-US"/>
          </a:p>
        </p:txBody>
      </p:sp>
      <p:sp>
        <p:nvSpPr>
          <p:cNvPr id="1048776" name="Line 8"/>
          <p:cNvSpPr/>
          <p:nvPr/>
        </p:nvSpPr>
        <p:spPr>
          <a:xfrm rot="0">
            <a:off x="1295400" y="1371600"/>
            <a:ext cx="7848600" cy="0"/>
          </a:xfrm>
          <a:prstGeom prst="line"/>
          <a:noFill/>
          <a:ln w="63500" cap="flat" cmpd="sng">
            <a:solidFill>
              <a:srgbClr val="006699">
                <a:alpha val="100000"/>
              </a:srgbClr>
            </a:solidFill>
            <a:prstDash val="solid"/>
            <a:round/>
          </a:ln>
        </p:spPr>
      </p:sp>
      <p:sp>
        <p:nvSpPr>
          <p:cNvPr id="1048779" name="Rectangle 2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/>
          </a:p>
        </p:txBody>
      </p:sp>
      <p:sp>
        <p:nvSpPr>
          <p:cNvPr id="1048780" name="Rectangle 3"/>
          <p:cNvSpPr/>
          <p:nvPr>
            <p:ph type="dt" sz="half" idx="2"/>
          </p:nvPr>
        </p:nvSpPr>
        <p:spPr>
          <a:xfrm rot="0">
            <a:off x="457200" y="6102350"/>
            <a:ext cx="3967162" cy="47625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200" lang="en-US">
              <a:solidFill>
                <a:srgbClr val="950546"/>
              </a:solidFill>
            </a:endParaRPr>
          </a:p>
        </p:txBody>
      </p:sp>
      <p:sp>
        <p:nvSpPr>
          <p:cNvPr id="1048781" name="Rectangle 7"/>
          <p:cNvSpPr/>
          <p:nvPr>
            <p:ph type="sldNum" sz="quarter" idx="4"/>
          </p:nvPr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78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8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8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8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8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8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87" name="Rectangle 4"/>
          <p:cNvSpPr/>
          <p:nvPr/>
        </p:nvSpPr>
        <p:spPr>
          <a:xfrm rot="0">
            <a:off x="0" y="0"/>
            <a:ext cx="9144000" cy="1371600"/>
          </a:xfrm>
          <a:prstGeom prst="rect"/>
          <a:gradFill rotWithShape="1">
            <a:gsLst>
              <a:gs pos="0">
                <a:srgbClr val="CC3300">
                  <a:alpha val="100000"/>
                </a:srgbClr>
              </a:gs>
              <a:gs pos="100000">
                <a:srgbClr val="5E1800">
                  <a:alpha val="100000"/>
                </a:srgbClr>
              </a:gs>
            </a:gsLst>
            <a:lin ang="5400000" scaled="1"/>
          </a:gra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endParaRPr altLang="en-US" lang="en-US"/>
          </a:p>
        </p:txBody>
      </p:sp>
      <p:sp>
        <p:nvSpPr>
          <p:cNvPr id="1048788" name="Line 8"/>
          <p:cNvSpPr/>
          <p:nvPr/>
        </p:nvSpPr>
        <p:spPr>
          <a:xfrm rot="0">
            <a:off x="1295400" y="1371600"/>
            <a:ext cx="7848600" cy="0"/>
          </a:xfrm>
          <a:prstGeom prst="line"/>
          <a:noFill/>
          <a:ln w="63500" cap="flat" cmpd="sng">
            <a:solidFill>
              <a:srgbClr val="006699">
                <a:alpha val="100000"/>
              </a:srgbClr>
            </a:solidFill>
            <a:prstDash val="solid"/>
            <a:round/>
          </a:ln>
        </p:spPr>
      </p:sp>
      <p:sp>
        <p:nvSpPr>
          <p:cNvPr id="1048791" name="Rectangle 8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/>
          </a:p>
        </p:txBody>
      </p:sp>
      <p:sp>
        <p:nvSpPr>
          <p:cNvPr id="1048792" name="Rectangle 9"/>
          <p:cNvSpPr/>
          <p:nvPr>
            <p:ph type="dt" sz="half" idx="2"/>
          </p:nvPr>
        </p:nvSpPr>
        <p:spPr>
          <a:xfrm rot="0">
            <a:off x="457200" y="6102350"/>
            <a:ext cx="3967162" cy="47625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200" lang="en-US">
              <a:solidFill>
                <a:srgbClr val="950546"/>
              </a:solidFill>
            </a:endParaRPr>
          </a:p>
        </p:txBody>
      </p:sp>
      <p:sp>
        <p:nvSpPr>
          <p:cNvPr id="1048793" name="Rectangle 7"/>
          <p:cNvSpPr/>
          <p:nvPr>
            <p:ph type="sldNum" sz="quarter" idx="4"/>
          </p:nvPr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79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9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95" name="Rectangle 4"/>
          <p:cNvSpPr/>
          <p:nvPr/>
        </p:nvSpPr>
        <p:spPr>
          <a:xfrm rot="0">
            <a:off x="0" y="0"/>
            <a:ext cx="9144000" cy="1371600"/>
          </a:xfrm>
          <a:prstGeom prst="rect"/>
          <a:gradFill rotWithShape="1">
            <a:gsLst>
              <a:gs pos="0">
                <a:srgbClr val="CC3300">
                  <a:alpha val="100000"/>
                </a:srgbClr>
              </a:gs>
              <a:gs pos="100000">
                <a:srgbClr val="5E1800">
                  <a:alpha val="100000"/>
                </a:srgbClr>
              </a:gs>
            </a:gsLst>
            <a:lin ang="5400000" scaled="1"/>
          </a:gra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endParaRPr altLang="en-US" lang="en-US"/>
          </a:p>
        </p:txBody>
      </p:sp>
      <p:sp>
        <p:nvSpPr>
          <p:cNvPr id="1048796" name="Line 8"/>
          <p:cNvSpPr/>
          <p:nvPr/>
        </p:nvSpPr>
        <p:spPr>
          <a:xfrm rot="0">
            <a:off x="1295400" y="1371600"/>
            <a:ext cx="7848600" cy="0"/>
          </a:xfrm>
          <a:prstGeom prst="line"/>
          <a:noFill/>
          <a:ln w="63500" cap="flat" cmpd="sng">
            <a:solidFill>
              <a:srgbClr val="006699">
                <a:alpha val="100000"/>
              </a:srgbClr>
            </a:solidFill>
            <a:prstDash val="solid"/>
            <a:round/>
          </a:ln>
        </p:spPr>
      </p:sp>
      <p:sp>
        <p:nvSpPr>
          <p:cNvPr id="1048799" name="Rectangle 2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/>
          </a:p>
        </p:txBody>
      </p:sp>
      <p:sp>
        <p:nvSpPr>
          <p:cNvPr id="1048800" name="Rectangle 3"/>
          <p:cNvSpPr/>
          <p:nvPr>
            <p:ph type="dt" sz="half" idx="2"/>
          </p:nvPr>
        </p:nvSpPr>
        <p:spPr>
          <a:xfrm rot="0">
            <a:off x="457200" y="6102350"/>
            <a:ext cx="3967162" cy="47625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200" lang="en-US">
              <a:solidFill>
                <a:srgbClr val="950546"/>
              </a:solidFill>
            </a:endParaRPr>
          </a:p>
        </p:txBody>
      </p:sp>
      <p:sp>
        <p:nvSpPr>
          <p:cNvPr id="1048801" name="Rectangle 7"/>
          <p:cNvSpPr/>
          <p:nvPr>
            <p:ph type="sldNum" sz="quarter" idx="4"/>
          </p:nvPr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9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02" name="Rectangle 4"/>
          <p:cNvSpPr/>
          <p:nvPr/>
        </p:nvSpPr>
        <p:spPr>
          <a:xfrm rot="0">
            <a:off x="0" y="0"/>
            <a:ext cx="9144000" cy="1371600"/>
          </a:xfrm>
          <a:prstGeom prst="rect"/>
          <a:gradFill rotWithShape="1">
            <a:gsLst>
              <a:gs pos="0">
                <a:srgbClr val="CC3300">
                  <a:alpha val="100000"/>
                </a:srgbClr>
              </a:gs>
              <a:gs pos="100000">
                <a:srgbClr val="5E1800">
                  <a:alpha val="100000"/>
                </a:srgbClr>
              </a:gs>
            </a:gsLst>
            <a:lin ang="5400000" scaled="1"/>
          </a:gra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endParaRPr altLang="en-US" lang="en-US"/>
          </a:p>
        </p:txBody>
      </p:sp>
      <p:sp>
        <p:nvSpPr>
          <p:cNvPr id="1048803" name="Line 8"/>
          <p:cNvSpPr/>
          <p:nvPr/>
        </p:nvSpPr>
        <p:spPr>
          <a:xfrm rot="0">
            <a:off x="1295400" y="1371600"/>
            <a:ext cx="7848600" cy="0"/>
          </a:xfrm>
          <a:prstGeom prst="line"/>
          <a:noFill/>
          <a:ln w="63500" cap="flat" cmpd="sng">
            <a:solidFill>
              <a:srgbClr val="006699">
                <a:alpha val="100000"/>
              </a:srgbClr>
            </a:solidFill>
            <a:prstDash val="solid"/>
            <a:round/>
          </a:ln>
        </p:spPr>
      </p:sp>
      <p:sp>
        <p:nvSpPr>
          <p:cNvPr id="1048806" name="Rectangle 2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/>
          </a:p>
        </p:txBody>
      </p:sp>
      <p:sp>
        <p:nvSpPr>
          <p:cNvPr id="1048807" name="Rectangle 3"/>
          <p:cNvSpPr/>
          <p:nvPr>
            <p:ph type="dt" sz="half" idx="2"/>
          </p:nvPr>
        </p:nvSpPr>
        <p:spPr>
          <a:xfrm rot="0">
            <a:off x="457200" y="6102350"/>
            <a:ext cx="3967162" cy="47625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200" lang="en-US">
              <a:solidFill>
                <a:srgbClr val="950546"/>
              </a:solidFill>
            </a:endParaRPr>
          </a:p>
        </p:txBody>
      </p:sp>
      <p:sp>
        <p:nvSpPr>
          <p:cNvPr id="1048808" name="Rectangle 7"/>
          <p:cNvSpPr/>
          <p:nvPr>
            <p:ph type="sldNum" sz="quarter" idx="4"/>
          </p:nvPr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811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10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09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9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12" name="Rectangle 4"/>
          <p:cNvSpPr/>
          <p:nvPr/>
        </p:nvSpPr>
        <p:spPr>
          <a:xfrm rot="0">
            <a:off x="0" y="0"/>
            <a:ext cx="9144000" cy="1371600"/>
          </a:xfrm>
          <a:prstGeom prst="rect"/>
          <a:gradFill rotWithShape="1">
            <a:gsLst>
              <a:gs pos="0">
                <a:srgbClr val="CC3300">
                  <a:alpha val="100000"/>
                </a:srgbClr>
              </a:gs>
              <a:gs pos="100000">
                <a:srgbClr val="5E1800">
                  <a:alpha val="100000"/>
                </a:srgbClr>
              </a:gs>
            </a:gsLst>
            <a:lin ang="5400000" scaled="1"/>
          </a:gra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endParaRPr altLang="en-US" lang="en-US"/>
          </a:p>
        </p:txBody>
      </p:sp>
      <p:sp>
        <p:nvSpPr>
          <p:cNvPr id="1048813" name="Line 8"/>
          <p:cNvSpPr/>
          <p:nvPr/>
        </p:nvSpPr>
        <p:spPr>
          <a:xfrm rot="0">
            <a:off x="1295400" y="1371600"/>
            <a:ext cx="7848600" cy="0"/>
          </a:xfrm>
          <a:prstGeom prst="line"/>
          <a:noFill/>
          <a:ln w="63500" cap="flat" cmpd="sng">
            <a:solidFill>
              <a:srgbClr val="006699">
                <a:alpha val="100000"/>
              </a:srgbClr>
            </a:solidFill>
            <a:prstDash val="solid"/>
            <a:round/>
          </a:ln>
        </p:spPr>
      </p:sp>
      <p:sp>
        <p:nvSpPr>
          <p:cNvPr id="1048816" name="Rectangle 2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/>
          </a:p>
        </p:txBody>
      </p:sp>
      <p:sp>
        <p:nvSpPr>
          <p:cNvPr id="1048817" name="Rectangle 3"/>
          <p:cNvSpPr/>
          <p:nvPr>
            <p:ph type="dt" sz="half" idx="2"/>
          </p:nvPr>
        </p:nvSpPr>
        <p:spPr>
          <a:xfrm rot="0">
            <a:off x="457200" y="6102350"/>
            <a:ext cx="3967162" cy="47625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200" lang="en-US">
              <a:solidFill>
                <a:srgbClr val="950546"/>
              </a:solidFill>
            </a:endParaRPr>
          </a:p>
        </p:txBody>
      </p:sp>
      <p:sp>
        <p:nvSpPr>
          <p:cNvPr id="1048818" name="Rectangle 7"/>
          <p:cNvSpPr/>
          <p:nvPr>
            <p:ph type="sldNum" sz="quarter" idx="4"/>
          </p:nvPr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821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20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anchor="t" anchorCtr="0" bIns="45720" compatLnSpc="1" lIns="91440" numCol="1" rIns="91440" tIns="45720" vert="horz" wrap="square">
            <a:prstTxWarp prst="textNoShape"/>
          </a:bodyPr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</a:pPr>
            <a:endParaRPr baseline="0" b="0" cap="none" sz="3200" i="0" kern="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819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7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22" name="Rectangle 4"/>
          <p:cNvSpPr/>
          <p:nvPr/>
        </p:nvSpPr>
        <p:spPr>
          <a:xfrm rot="0">
            <a:off x="0" y="0"/>
            <a:ext cx="9144000" cy="1371600"/>
          </a:xfrm>
          <a:prstGeom prst="rect"/>
          <a:gradFill rotWithShape="1">
            <a:gsLst>
              <a:gs pos="0">
                <a:srgbClr val="CC3300">
                  <a:alpha val="100000"/>
                </a:srgbClr>
              </a:gs>
              <a:gs pos="100000">
                <a:srgbClr val="5E1800">
                  <a:alpha val="100000"/>
                </a:srgbClr>
              </a:gs>
            </a:gsLst>
            <a:lin ang="5400000" scaled="1"/>
          </a:gra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endParaRPr altLang="en-US" lang="en-US"/>
          </a:p>
        </p:txBody>
      </p:sp>
      <p:sp>
        <p:nvSpPr>
          <p:cNvPr id="1048723" name="Line 8"/>
          <p:cNvSpPr/>
          <p:nvPr/>
        </p:nvSpPr>
        <p:spPr>
          <a:xfrm rot="0">
            <a:off x="1295400" y="1371600"/>
            <a:ext cx="7848600" cy="0"/>
          </a:xfrm>
          <a:prstGeom prst="line"/>
          <a:noFill/>
          <a:ln w="63500" cap="flat" cmpd="sng">
            <a:solidFill>
              <a:srgbClr val="006699">
                <a:alpha val="100000"/>
              </a:srgbClr>
            </a:solidFill>
            <a:prstDash val="solid"/>
            <a:round/>
          </a:ln>
        </p:spPr>
      </p:sp>
      <p:sp>
        <p:nvSpPr>
          <p:cNvPr id="1048726" name="Rectangle 2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/>
          </a:p>
        </p:txBody>
      </p:sp>
      <p:sp>
        <p:nvSpPr>
          <p:cNvPr id="1048727" name="Rectangle 3"/>
          <p:cNvSpPr/>
          <p:nvPr>
            <p:ph type="dt" sz="half" idx="2"/>
          </p:nvPr>
        </p:nvSpPr>
        <p:spPr>
          <a:xfrm rot="0">
            <a:off x="457200" y="6102350"/>
            <a:ext cx="3967162" cy="47625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200" lang="en-US">
              <a:solidFill>
                <a:srgbClr val="950546"/>
              </a:solidFill>
            </a:endParaRPr>
          </a:p>
        </p:txBody>
      </p:sp>
      <p:sp>
        <p:nvSpPr>
          <p:cNvPr id="1048728" name="Rectangle 7"/>
          <p:cNvSpPr/>
          <p:nvPr>
            <p:ph type="sldNum" sz="quarter" idx="4"/>
          </p:nvPr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73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2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7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31" name="Rectangle 4"/>
          <p:cNvSpPr/>
          <p:nvPr/>
        </p:nvSpPr>
        <p:spPr>
          <a:xfrm rot="0">
            <a:off x="0" y="0"/>
            <a:ext cx="9144000" cy="1371600"/>
          </a:xfrm>
          <a:prstGeom prst="rect"/>
          <a:gradFill rotWithShape="1">
            <a:gsLst>
              <a:gs pos="0">
                <a:srgbClr val="CC3300">
                  <a:alpha val="100000"/>
                </a:srgbClr>
              </a:gs>
              <a:gs pos="100000">
                <a:srgbClr val="5E1800">
                  <a:alpha val="100000"/>
                </a:srgbClr>
              </a:gs>
            </a:gsLst>
            <a:lin ang="5400000" scaled="1"/>
          </a:gra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endParaRPr altLang="en-US" lang="en-US"/>
          </a:p>
        </p:txBody>
      </p:sp>
      <p:sp>
        <p:nvSpPr>
          <p:cNvPr id="1048732" name="Line 8"/>
          <p:cNvSpPr/>
          <p:nvPr/>
        </p:nvSpPr>
        <p:spPr>
          <a:xfrm rot="0">
            <a:off x="1295400" y="1371600"/>
            <a:ext cx="7848600" cy="0"/>
          </a:xfrm>
          <a:prstGeom prst="line"/>
          <a:noFill/>
          <a:ln w="63500" cap="flat" cmpd="sng">
            <a:solidFill>
              <a:srgbClr val="006699">
                <a:alpha val="100000"/>
              </a:srgbClr>
            </a:solidFill>
            <a:prstDash val="solid"/>
            <a:round/>
          </a:ln>
        </p:spPr>
      </p:sp>
      <p:sp>
        <p:nvSpPr>
          <p:cNvPr id="1048735" name="Rectangle 2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/>
          </a:p>
        </p:txBody>
      </p:sp>
      <p:sp>
        <p:nvSpPr>
          <p:cNvPr id="1048736" name="Rectangle 3"/>
          <p:cNvSpPr/>
          <p:nvPr>
            <p:ph type="dt" sz="half" idx="2"/>
          </p:nvPr>
        </p:nvSpPr>
        <p:spPr>
          <a:xfrm rot="0">
            <a:off x="457200" y="6102350"/>
            <a:ext cx="3967162" cy="47625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200" lang="en-US">
              <a:solidFill>
                <a:srgbClr val="950546"/>
              </a:solidFill>
            </a:endParaRPr>
          </a:p>
        </p:txBody>
      </p:sp>
      <p:sp>
        <p:nvSpPr>
          <p:cNvPr id="1048737" name="Rectangle 7"/>
          <p:cNvSpPr/>
          <p:nvPr>
            <p:ph type="sldNum" sz="quarter" idx="4"/>
          </p:nvPr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73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057900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38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057900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/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solidFill>
          <a:schemeClr val="lt1"/>
        </a:solidFill>
      </p:bgPr>
    </p:bg>
    <p:spTree>
      <p:nvGrpSpPr>
        <p:cNvPr id="2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76" name="Rectangle 2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/>
          </a:p>
        </p:txBody>
      </p:sp>
      <p:sp>
        <p:nvSpPr>
          <p:cNvPr id="1048577" name="Rectangle 3"/>
          <p:cNvSpPr/>
          <p:nvPr>
            <p:ph type="dt" sz="half" idx="2"/>
          </p:nvPr>
        </p:nvSpPr>
        <p:spPr>
          <a:xfrm rot="0">
            <a:off x="457200" y="6102350"/>
            <a:ext cx="3967162" cy="47625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200" lang="en-US">
              <a:solidFill>
                <a:srgbClr val="950546"/>
              </a:solidFill>
            </a:endParaRPr>
          </a:p>
        </p:txBody>
      </p:sp>
      <p:sp>
        <p:nvSpPr>
          <p:cNvPr id="1048578" name="Rectangle 4"/>
          <p:cNvSpPr/>
          <p:nvPr/>
        </p:nvSpPr>
        <p:spPr>
          <a:xfrm rot="0">
            <a:off x="0" y="0"/>
            <a:ext cx="9144000" cy="1371600"/>
          </a:xfrm>
          <a:prstGeom prst="rect"/>
          <a:gradFill rotWithShape="1">
            <a:gsLst>
              <a:gs pos="0">
                <a:srgbClr val="CC3300">
                  <a:alpha val="100000"/>
                </a:srgbClr>
              </a:gs>
              <a:gs pos="100000">
                <a:srgbClr val="5E1800">
                  <a:alpha val="100000"/>
                </a:srgbClr>
              </a:gs>
            </a:gsLst>
            <a:lin ang="5400000" scaled="1"/>
          </a:gra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endParaRPr altLang="en-US" lang="en-US"/>
          </a:p>
        </p:txBody>
      </p:sp>
      <p:sp>
        <p:nvSpPr>
          <p:cNvPr id="1048579" name="Rectangle 5"/>
          <p:cNvSpPr/>
          <p:nvPr>
            <p:ph type="title" sz="full" idx="0"/>
          </p:nvPr>
        </p:nvSpPr>
        <p:spPr>
          <a:xfrm rot="0">
            <a:off x="0" y="0"/>
            <a:ext cx="9144000" cy="13716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p>
            <a:pPr lvl="0"/>
            <a:r>
              <a:rPr altLang="en-US" lang="en-US"/>
              <a:t>Click to edit Master title style</a:t>
            </a:r>
          </a:p>
        </p:txBody>
      </p:sp>
      <p:sp>
        <p:nvSpPr>
          <p:cNvPr id="1048580" name="Rectangle 6"/>
          <p:cNvSpPr/>
          <p:nvPr>
            <p:ph type="body" sz="full" idx="1"/>
          </p:nvPr>
        </p:nvSpPr>
        <p:spPr>
          <a:xfrm rot="0">
            <a:off x="152400" y="1371600"/>
            <a:ext cx="8686800" cy="46863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r>
              <a:rPr altLang="en-US" lang="en-US"/>
              <a:t>Click to edit Master text styles</a:t>
            </a:r>
          </a:p>
          <a:p>
            <a:pPr lvl="1"/>
            <a:r>
              <a:rPr altLang="en-US" lang="en-US"/>
              <a:t>Second level</a:t>
            </a:r>
          </a:p>
          <a:p>
            <a:pPr lvl="2"/>
            <a:r>
              <a:rPr altLang="en-US" lang="en-US"/>
              <a:t>Third level</a:t>
            </a:r>
          </a:p>
          <a:p>
            <a:pPr lvl="3"/>
            <a:r>
              <a:rPr altLang="en-US" lang="en-US"/>
              <a:t>Fourth level</a:t>
            </a:r>
          </a:p>
          <a:p>
            <a:pPr lvl="4"/>
            <a:r>
              <a:rPr altLang="en-US" lang="en-US"/>
              <a:t>Fifth level</a:t>
            </a:r>
          </a:p>
        </p:txBody>
      </p:sp>
      <p:sp>
        <p:nvSpPr>
          <p:cNvPr id="1048581" name="Rectangle 7"/>
          <p:cNvSpPr/>
          <p:nvPr>
            <p:ph type="sldNum" sz="quarter" idx="4"/>
          </p:nvPr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582" name="Line 8"/>
          <p:cNvSpPr/>
          <p:nvPr/>
        </p:nvSpPr>
        <p:spPr>
          <a:xfrm rot="0">
            <a:off x="1295400" y="1371600"/>
            <a:ext cx="7848600" cy="0"/>
          </a:xfrm>
          <a:prstGeom prst="line"/>
          <a:noFill/>
          <a:ln w="63500" cap="flat" cmpd="sng">
            <a:solidFill>
              <a:srgbClr val="006699">
                <a:alpha val="100000"/>
              </a:srgbClr>
            </a:solidFill>
            <a:prstDash val="solid"/>
            <a:round/>
          </a:ln>
        </p:spPr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fill="hold" id="1" nodeType="withEffect" presetClass="entr" presetID="12" presetSubtype="4">
          <p:stCondLst>
            <p:cond delay="0"/>
          </p:stCondLst>
          <p:childTnLst>
            <p:set>
              <p:cBhvr>
                <p:cTn dur="1" fill="hold" id="2">
                  <p:stCondLst>
                    <p:cond delay="0"/>
                  </p:stCondLst>
                </p:cTn>
                <p:tgtEl>
                  <p:spTgt spid="1048580"/>
                </p:tgtEl>
                <p:attrNameLst>
                  <p:attrName>style.visibility</p:attrName>
                </p:attrNameLst>
              </p:cBhvr>
              <p:to>
                <p:strVal val="visible"/>
              </p:to>
            </p:set>
            <p:animEffect transition="in" filter="slide(fromBottom)">
              <p:cBhvr>
                <p:cTn dur="500" id="3"/>
                <p:tgtEl>
                  <p:spTgt spid="1048580"/>
                </p:tgtEl>
              </p:cBhvr>
            </p:animEffect>
          </p:childTnLst>
        </p:cTn>
      </p:par>
    </p:tnLst>
    <p:bldLst>
      <p:bldP spid="1048579" grpId="0" uiExpand="0" build="whole"/>
      <p:bldP spid="1048580" grpId="0" uiExpand="0" build="p" bldLvl="5"/>
    </p:bldLst>
  </p:timing>
  <p:hf dt="0" ftr="0" hdr="0" sldNum="1"/>
  <p:txStyles>
    <p:titleStyle>
      <a:lvl1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2pPr>
      <a:lvl3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3pPr>
      <a:lvl4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4pPr>
      <a:lvl5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5pPr>
      <a:lvl6pPr algn="ctr" fontAlgn="base" marL="457200" rtl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6pPr>
      <a:lvl7pPr algn="ctr" fontAlgn="base" marL="914400" rtl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7pPr>
      <a:lvl8pPr algn="ctr" fontAlgn="base" marL="1371600" rtl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8pPr>
      <a:lvl9pPr algn="ctr" fontAlgn="base" marL="1828800" rtl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9pPr>
    </p:titleStyle>
    <p:bodyStyle>
      <a:lvl1pPr algn="l" eaLnBrk="0" fontAlgn="base" hangingPunct="0" indent="-342900" marL="342900" rtl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algn="l" eaLnBrk="0" fontAlgn="base" hangingPunct="0" indent="-285750" marL="742950" rtl="0">
        <a:spcBef>
          <a:spcPct val="20000"/>
        </a:spcBef>
        <a:spcAft>
          <a:spcPct val="0"/>
        </a:spcAft>
        <a:buClr>
          <a:schemeClr val="accent2"/>
        </a:buClr>
        <a:buSzPct val="120000"/>
        <a:buFont typeface="Wingdings" pitchFamily="2" charset="2"/>
        <a:buChar char="§"/>
        <a:defRPr sz="2800">
          <a:solidFill>
            <a:schemeClr val="tx1"/>
          </a:solidFill>
          <a:latin typeface="+mn-lt"/>
        </a:defRPr>
      </a:lvl2pPr>
      <a:lvl3pPr algn="l" eaLnBrk="0" fontAlgn="base" hangingPunct="0" indent="-228600" marL="1143000" rtl="0">
        <a:spcBef>
          <a:spcPct val="20000"/>
        </a:spcBef>
        <a:spcAft>
          <a:spcPct val="0"/>
        </a:spcAft>
        <a:buClr>
          <a:schemeClr val="bg2"/>
        </a:buClr>
        <a:buSzPct val="120000"/>
        <a:buChar char="•"/>
        <a:defRPr sz="2400">
          <a:solidFill>
            <a:schemeClr val="tx1"/>
          </a:solidFill>
          <a:latin typeface="+mn-lt"/>
        </a:defRPr>
      </a:lvl3pPr>
      <a:lvl4pPr algn="l" eaLnBrk="0" fontAlgn="base" hangingPunct="0" indent="-228600" marL="1600200" rtl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algn="l" eaLnBrk="0" fontAlgn="base" hangingPunct="0" indent="-228600" marL="2057400" rtl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algn="l" fontAlgn="base" indent="-228600" marL="2514600" rtl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algn="l" fontAlgn="base" indent="-228600" marL="2971800" rtl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algn="l" fontAlgn="base" indent="-228600" marL="3429000" rtl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algn="l" fontAlgn="base" indent="-228600" marL="3886200" rtl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2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2" name="Slide Number Placeholder 5"/>
          <p:cNvSpPr txBox="1"/>
          <p:nvPr/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  <a:t>1</a:t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593" name="Rectangle 2"/>
          <p:cNvSpPr/>
          <p:nvPr>
            <p:ph type="title" sz="full" idx="0"/>
          </p:nvPr>
        </p:nvSpPr>
        <p:spPr>
          <a:xfrm rot="0">
            <a:off x="0" y="0"/>
            <a:ext cx="9144000" cy="13716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1"/>
                </a:solidFill>
                <a:latin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b="1" lang="en-US"/>
              <a:t>WELFARE ECONOMICS</a:t>
            </a:r>
          </a:p>
        </p:txBody>
      </p:sp>
      <p:sp>
        <p:nvSpPr>
          <p:cNvPr id="1048594" name="Rectangle 3"/>
          <p:cNvSpPr/>
          <p:nvPr>
            <p:ph type="body" sz="full" idx="1"/>
          </p:nvPr>
        </p:nvSpPr>
        <p:spPr>
          <a:xfrm rot="0">
            <a:off x="152400" y="1371600"/>
            <a:ext cx="8686800" cy="5029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 typeface="Wingdings" pitchFamily="2" charset="2"/>
              <a:buChar char="n"/>
              <a:defRPr baseline="0" b="0" sz="32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Wingdings" pitchFamily="2" charset="2"/>
              <a:buChar char="§"/>
              <a:defRPr baseline="0" b="0" sz="2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2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00000"/>
              <a:buFont typeface="Wingdings" pitchFamily="2" charset="2"/>
              <a:buChar char="§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ctr" eaLnBrk="1" hangingPunct="1" indent="0" lvl="0" marL="0">
              <a:buNone/>
            </a:pPr>
            <a:endParaRPr altLang="en-US" sz="2400" lang="en-US"/>
          </a:p>
          <a:p>
            <a:pPr algn="ctr" eaLnBrk="1" hangingPunct="1" indent="0" lvl="0" marL="0">
              <a:buNone/>
            </a:pPr>
            <a:endParaRPr altLang="en-US" sz="2400" lang="en-US"/>
          </a:p>
          <a:p>
            <a:pPr algn="ctr" eaLnBrk="1" hangingPunct="1" indent="0" lvl="0" marL="0">
              <a:buNone/>
            </a:pPr>
            <a:r>
              <a:rPr altLang="en-US" b="1" sz="2400" lang="en-US"/>
              <a:t>SLIDES </a:t>
            </a:r>
          </a:p>
          <a:p>
            <a:pPr algn="ctr" eaLnBrk="1" hangingPunct="1" indent="0" lvl="0" marL="0">
              <a:buNone/>
            </a:pPr>
            <a:endParaRPr altLang="en-US" b="1" sz="2400" lang="en-US"/>
          </a:p>
          <a:p>
            <a:pPr algn="ctr" eaLnBrk="1" hangingPunct="1" indent="0" lvl="0" marL="0">
              <a:buNone/>
            </a:pPr>
            <a:r>
              <a:rPr altLang="en-US" b="1" sz="2400" lang="en-US"/>
              <a:t>BY </a:t>
            </a:r>
          </a:p>
          <a:p>
            <a:pPr algn="ctr" eaLnBrk="1" hangingPunct="1" indent="0" lvl="0" marL="0">
              <a:buNone/>
            </a:pPr>
            <a:endParaRPr altLang="en-US" b="1" sz="2400" lang="en-US"/>
          </a:p>
          <a:p>
            <a:pPr algn="ctr" eaLnBrk="1" hangingPunct="1" indent="0" lvl="0" marL="0">
              <a:buNone/>
            </a:pPr>
            <a:r>
              <a:rPr altLang="en-US" b="1" sz="2400" lang="en-US"/>
              <a:t>KULWIJILA, M.</a:t>
            </a:r>
          </a:p>
          <a:p>
            <a:pPr algn="ctr" eaLnBrk="1" hangingPunct="1" indent="0" lvl="0" marL="0">
              <a:buNone/>
            </a:pPr>
            <a:endParaRPr altLang="en-US" b="1" sz="2400" lang="en-US"/>
          </a:p>
          <a:p>
            <a:pPr algn="ctr" eaLnBrk="1" hangingPunct="1" indent="0" lvl="0" marL="0">
              <a:buNone/>
            </a:pPr>
            <a:r>
              <a:rPr altLang="en-US" b="1" sz="2400" lang="en-US"/>
              <a:t>DEPARTMENT OF ECONOMICS</a:t>
            </a:r>
          </a:p>
          <a:p>
            <a:pPr algn="ctr" eaLnBrk="1" hangingPunct="1" indent="0" lvl="0" marL="0">
              <a:buNone/>
            </a:pPr>
            <a:endParaRPr altLang="en-US" b="1" sz="2400" lang="en-US"/>
          </a:p>
          <a:p>
            <a:pPr algn="ctr" eaLnBrk="1" hangingPunct="1" indent="0" lvl="0" marL="0">
              <a:buNone/>
            </a:pPr>
            <a:r>
              <a:rPr altLang="en-US" b="1" sz="2400" lang="en-US"/>
              <a:t>THE UNIVERSITY OF DODOMA</a:t>
            </a:r>
          </a:p>
        </p:txBody>
      </p:sp>
    </p:spTree>
  </p:cSld>
  <p:clrMapOvr>
    <a:masterClrMapping/>
  </p:clrMapOvr>
  <p:transition spd="fast" advClick="1"/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4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5" name="Slide Number Placeholder 5"/>
          <p:cNvSpPr txBox="1"/>
          <p:nvPr/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  <a:t>2</a:t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596" name="Rectangle 2"/>
          <p:cNvSpPr/>
          <p:nvPr>
            <p:ph type="title" sz="full" idx="0"/>
          </p:nvPr>
        </p:nvSpPr>
        <p:spPr>
          <a:xfrm rot="0">
            <a:off x="0" y="0"/>
            <a:ext cx="9144000" cy="13716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1"/>
                </a:solidFill>
                <a:latin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b="1" lang="en-US"/>
              <a:t>Introduction</a:t>
            </a:r>
          </a:p>
        </p:txBody>
      </p:sp>
      <p:sp>
        <p:nvSpPr>
          <p:cNvPr id="1048597" name="Rectangle 3"/>
          <p:cNvSpPr/>
          <p:nvPr>
            <p:ph type="body" sz="full" idx="1"/>
          </p:nvPr>
        </p:nvSpPr>
        <p:spPr>
          <a:xfrm rot="0">
            <a:off x="152400" y="1371600"/>
            <a:ext cx="8686800" cy="53340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 typeface="Wingdings" pitchFamily="2" charset="2"/>
              <a:buChar char="n"/>
              <a:defRPr baseline="0" b="0" sz="32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Wingdings" pitchFamily="2" charset="2"/>
              <a:buChar char="§"/>
              <a:defRPr baseline="0" b="0" sz="2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2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00000"/>
              <a:buFont typeface="Wingdings" pitchFamily="2" charset="2"/>
              <a:buChar char="§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just" eaLnBrk="1" hangingPunct="1" lvl="0"/>
            <a:r>
              <a:rPr altLang="en-US" sz="2400" lang="en-US"/>
              <a:t>Welfare economics is a branch of economics that focuses on </a:t>
            </a:r>
            <a:r>
              <a:rPr altLang="en-US" sz="2400" lang="en-US"/>
              <a:t>the optimal allocation of resources and how the allocation of these resources affect social welfare. </a:t>
            </a:r>
          </a:p>
          <a:p>
            <a:pPr algn="just" eaLnBrk="1" hangingPunct="1" lvl="0">
              <a:buNone/>
            </a:pPr>
            <a:endParaRPr altLang="en-US" sz="2400" lang="en-US"/>
          </a:p>
          <a:p>
            <a:pPr algn="just" lvl="0"/>
            <a:r>
              <a:rPr altLang="en-US" sz="2400" lang="en-US"/>
              <a:t>In general equilibrium we have focused on Pareto efficiency in evaluating economic allocations but there are other important considerations which are important such as society’s equity well-being with different resource allocation outcomes. </a:t>
            </a:r>
          </a:p>
          <a:p>
            <a:pPr algn="just" lvl="0">
              <a:buNone/>
            </a:pPr>
            <a:endParaRPr altLang="en-US" sz="2400" lang="en-US"/>
          </a:p>
          <a:p>
            <a:pPr algn="just" lvl="0"/>
            <a:r>
              <a:rPr altLang="en-US" sz="2400" lang="en-US"/>
              <a:t>Hence </a:t>
            </a:r>
            <a:r>
              <a:rPr altLang="en-US" sz="2400" lang="en-US"/>
              <a:t>we need a powerful tool that will incorporate both efficiency and equity and this tool is called welfare function.</a:t>
            </a:r>
          </a:p>
        </p:txBody>
      </p:sp>
    </p:spTree>
  </p:cSld>
  <p:clrMapOvr>
    <a:masterClrMapping/>
  </p:clrMapOvr>
  <p:transition spd="fast" advClick="1"/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4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8" name="Slide Number Placeholder 5"/>
          <p:cNvSpPr txBox="1"/>
          <p:nvPr/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  <a:t>3</a:t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599" name="Rectangle 2"/>
          <p:cNvSpPr/>
          <p:nvPr>
            <p:ph type="title" sz="full" idx="0"/>
          </p:nvPr>
        </p:nvSpPr>
        <p:spPr>
          <a:xfrm rot="0">
            <a:off x="0" y="0"/>
            <a:ext cx="9144000" cy="13716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1"/>
                </a:solidFill>
                <a:latin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b="1" lang="en-US"/>
              <a:t>WELFARE FUNCTION</a:t>
            </a:r>
          </a:p>
        </p:txBody>
      </p:sp>
      <p:sp>
        <p:nvSpPr>
          <p:cNvPr id="1048600" name="Rectangle 3"/>
          <p:cNvSpPr/>
          <p:nvPr>
            <p:ph type="body" sz="full" idx="1"/>
          </p:nvPr>
        </p:nvSpPr>
        <p:spPr>
          <a:xfrm rot="0">
            <a:off x="152400" y="1371600"/>
            <a:ext cx="8686800" cy="51816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 typeface="Wingdings" pitchFamily="2" charset="2"/>
              <a:buChar char="n"/>
              <a:defRPr baseline="0" b="0" sz="32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Wingdings" pitchFamily="2" charset="2"/>
              <a:buChar char="§"/>
              <a:defRPr baseline="0" b="0" sz="2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2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00000"/>
              <a:buFont typeface="Wingdings" pitchFamily="2" charset="2"/>
              <a:buChar char="§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just" lvl="0"/>
            <a:r>
              <a:rPr altLang="en-US" b="1" sz="2400" lang="en-US"/>
              <a:t>Welfare </a:t>
            </a:r>
            <a:r>
              <a:rPr altLang="en-US" b="1" sz="2400" lang="en-US"/>
              <a:t>function: </a:t>
            </a:r>
            <a:r>
              <a:rPr altLang="en-US" sz="2400" lang="en-US"/>
              <a:t>a </a:t>
            </a:r>
            <a:r>
              <a:rPr altLang="en-US" sz="2400" lang="en-US"/>
              <a:t>way of adding together the utilities of the individual member of a society. More </a:t>
            </a:r>
            <a:r>
              <a:rPr altLang="en-US" sz="2400" lang="en-US"/>
              <a:t>generally, </a:t>
            </a:r>
            <a:r>
              <a:rPr altLang="en-US" sz="2400" lang="en-US"/>
              <a:t>it provides a way to rank different distributions of utility among consumers.</a:t>
            </a:r>
          </a:p>
          <a:p>
            <a:pPr algn="just" eaLnBrk="1" hangingPunct="1" lvl="0"/>
            <a:endParaRPr altLang="en-US" sz="2400" lang="en-US"/>
          </a:p>
          <a:p>
            <a:pPr algn="just" eaLnBrk="1" hangingPunct="1" lvl="0"/>
            <a:r>
              <a:rPr altLang="en-US" sz="2400" lang="en-US"/>
              <a:t>Two </a:t>
            </a:r>
            <a:r>
              <a:rPr altLang="en-US" sz="2400" lang="en-US"/>
              <a:t>ways </a:t>
            </a:r>
            <a:r>
              <a:rPr altLang="en-US" sz="2400" lang="en-US"/>
              <a:t>are used </a:t>
            </a:r>
            <a:r>
              <a:rPr altLang="en-US" sz="2400" lang="en-US"/>
              <a:t>to add together or aggregate consumer’s preferences</a:t>
            </a:r>
            <a:r>
              <a:rPr altLang="en-US" sz="2400" lang="en-US"/>
              <a:t>. </a:t>
            </a:r>
          </a:p>
          <a:p>
            <a:pPr algn="just" eaLnBrk="1" hangingPunct="1" lvl="0">
              <a:buNone/>
            </a:pPr>
            <a:endParaRPr altLang="en-US" sz="2400" lang="en-US"/>
          </a:p>
          <a:p>
            <a:pPr algn="just" eaLnBrk="1" hangingPunct="1" lvl="0"/>
            <a:r>
              <a:rPr altLang="en-US" b="1" sz="2400" lang="en-US">
                <a:solidFill>
                  <a:srgbClr val="000000"/>
                </a:solidFill>
              </a:rPr>
              <a:t>1. Majority Voting: </a:t>
            </a:r>
            <a:r>
              <a:rPr altLang="en-US" sz="2400" lang="en-US"/>
              <a:t>If </a:t>
            </a:r>
            <a:r>
              <a:rPr altLang="en-US" sz="2400" lang="en-US"/>
              <a:t>X is preferred to Y, then we could agree that X is socially preferred to Y since the majority of the individuals/consumers prefer X to Y. One of the problems associated with majority voting is that it may not generate a transitive </a:t>
            </a:r>
            <a:r>
              <a:rPr altLang="en-US" sz="2400" lang="en-US"/>
              <a:t>social </a:t>
            </a:r>
            <a:r>
              <a:rPr altLang="en-US" sz="2400" lang="en-US"/>
              <a:t>preference ordering.</a:t>
            </a:r>
            <a:r>
              <a:rPr altLang="en-US" sz="2400" lang="en-US">
                <a:solidFill>
                  <a:srgbClr val="000000"/>
                </a:solidFill>
              </a:rPr>
              <a:t> </a:t>
            </a:r>
          </a:p>
        </p:txBody>
      </p:sp>
    </p:spTree>
  </p:cSld>
  <p:clrMapOvr>
    <a:masterClrMapping/>
  </p:clrMapOvr>
  <p:transition spd="fast" advClick="1"/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4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1" name="Slide Number Placeholder 5"/>
          <p:cNvSpPr txBox="1"/>
          <p:nvPr/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  <a:t>4</a:t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602" name="Rectangle 2"/>
          <p:cNvSpPr/>
          <p:nvPr>
            <p:ph type="title" sz="full" idx="0"/>
          </p:nvPr>
        </p:nvSpPr>
        <p:spPr>
          <a:xfrm rot="0">
            <a:off x="0" y="0"/>
            <a:ext cx="9144000" cy="13716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1"/>
                </a:solidFill>
                <a:latin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b="1" lang="en-US"/>
              <a:t>WELFARE FUNCTION</a:t>
            </a:r>
          </a:p>
        </p:txBody>
      </p:sp>
      <p:sp>
        <p:nvSpPr>
          <p:cNvPr id="1048603" name="Rectangle 3"/>
          <p:cNvSpPr/>
          <p:nvPr>
            <p:ph type="body" sz="full" idx="1"/>
          </p:nvPr>
        </p:nvSpPr>
        <p:spPr>
          <a:xfrm rot="0">
            <a:off x="152400" y="1371600"/>
            <a:ext cx="8686800" cy="53340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 typeface="Wingdings" pitchFamily="2" charset="2"/>
              <a:buChar char="n"/>
              <a:defRPr baseline="0" b="0" sz="32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Wingdings" pitchFamily="2" charset="2"/>
              <a:buChar char="§"/>
              <a:defRPr baseline="0" b="0" sz="2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2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00000"/>
              <a:buFont typeface="Wingdings" pitchFamily="2" charset="2"/>
              <a:buChar char="§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just" lvl="0"/>
            <a:r>
              <a:rPr altLang="en-US" sz="2400" lang="en-US"/>
              <a:t>Example: Suppose the society decides to use majority voting to decide on which is the most preferred allocations as depicted below</a:t>
            </a:r>
            <a:r>
              <a:rPr altLang="en-US" sz="2400" lang="en-US"/>
              <a:t>:-</a:t>
            </a:r>
          </a:p>
          <a:p>
            <a:pPr lvl="0">
              <a:buNone/>
            </a:pPr>
            <a:r>
              <a:rPr altLang="en-US" sz="2400" lang="en-US"/>
              <a:t> </a:t>
            </a:r>
            <a:r>
              <a:rPr altLang="en-US" sz="2400" lang="en-US"/>
              <a:t>   Table 1: Preferences that lead to intransitive voting</a:t>
            </a:r>
          </a:p>
          <a:p>
            <a:pPr algn="just" eaLnBrk="1" hangingPunct="1" lvl="0"/>
            <a:endParaRPr altLang="en-US" sz="2400" lang="en-US"/>
          </a:p>
          <a:p>
            <a:pPr algn="just" eaLnBrk="1" hangingPunct="1" lvl="0">
              <a:buNone/>
            </a:pPr>
            <a:endParaRPr altLang="en-US" sz="2400" lang="en-US"/>
          </a:p>
          <a:p>
            <a:pPr lvl="0"/>
            <a:endParaRPr altLang="en-US" sz="2400" lang="en-US"/>
          </a:p>
          <a:p>
            <a:pPr lvl="0"/>
            <a:endParaRPr altLang="en-US" sz="2400" lang="en-US"/>
          </a:p>
          <a:p>
            <a:pPr lvl="0"/>
            <a:r>
              <a:rPr altLang="en-US" sz="2400" lang="en-US"/>
              <a:t>Each </a:t>
            </a:r>
            <a:r>
              <a:rPr altLang="en-US" sz="2400" lang="en-US"/>
              <a:t>column shows how the voter ranks the choices among the three commodities</a:t>
            </a:r>
            <a:r>
              <a:rPr altLang="en-US" sz="2400" lang="en-US"/>
              <a:t>.</a:t>
            </a:r>
          </a:p>
          <a:p>
            <a:pPr lvl="0"/>
            <a:endParaRPr altLang="en-US" sz="2400" lang="en-US"/>
          </a:p>
          <a:p>
            <a:pPr lvl="0"/>
            <a:r>
              <a:rPr altLang="en-US" sz="2400" lang="en-US"/>
              <a:t>Majority </a:t>
            </a:r>
            <a:r>
              <a:rPr altLang="en-US" sz="2400" lang="en-US"/>
              <a:t>of people in the society prefer X to Y, a majority prefers Y to Z and lastly a majority prefers Z to X. </a:t>
            </a:r>
          </a:p>
          <a:p>
            <a:pPr algn="just" eaLnBrk="1" hangingPunct="1" lvl="0">
              <a:buNone/>
            </a:pPr>
            <a:r>
              <a:rPr altLang="en-US" sz="2400" lang="en-US">
                <a:solidFill>
                  <a:srgbClr val="000000"/>
                </a:solidFill>
              </a:rPr>
              <a:t> </a:t>
            </a:r>
          </a:p>
        </p:txBody>
      </p:sp>
      <p:graphicFrame>
        <p:nvGraphicFramePr>
          <p:cNvPr id="4194304" name=""/>
          <p:cNvGraphicFramePr>
            <a:graphicFrameLocks/>
          </p:cNvGraphicFramePr>
          <p:nvPr/>
        </p:nvGraphicFramePr>
        <p:xfrm rot="0">
          <a:off x="533400" y="3276600"/>
          <a:ext cx="8153400" cy="1450975"/>
        </p:xfrm>
        <a:graphic>
          <a:graphicData uri="http://schemas.openxmlformats.org/drawingml/2006/table">
            <a:tbl>
              <a:tblPr/>
              <a:tblGrid>
                <a:gridCol w="1897062"/>
                <a:gridCol w="2179637"/>
                <a:gridCol w="2179637"/>
                <a:gridCol w="1897062"/>
              </a:tblGrid>
              <a:tr h="365125">
                <a:tc>
                  <a:txBody>
                    <a:bodyPr/>
                    <a:p>
                      <a:pPr algn="just" eaLnBrk="1" hangingPunct="1" lvl="0"/>
                      <a:r>
                        <a:rPr altLang="en-US" b="1" sz="1200" lang="en-US">
                          <a:solidFill>
                            <a:srgbClr val="FFFFFF"/>
                          </a:solidFill>
                          <a:latin typeface="Times New Roman" pitchFamily="18" charset="0"/>
                          <a:ea typeface="Times New Roman" pitchFamily="18" charset="0"/>
                        </a:rPr>
                        <a:t>Choices</a:t>
                      </a:r>
                    </a:p>
                  </a:txBody>
                  <a:tcPr marL="68580" marR="68580" marT="0" marB="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just" eaLnBrk="1" hangingPunct="1" lvl="0"/>
                      <a:r>
                        <a:rPr altLang="en-US" b="1" sz="1200" lang="en-US">
                          <a:solidFill>
                            <a:srgbClr val="FFFFFF"/>
                          </a:solidFill>
                        </a:rPr>
                        <a:t>Person A</a:t>
                      </a:r>
                    </a:p>
                  </a:txBody>
                  <a:tcPr marL="68580" marR="68580" marT="0" marB="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l" eaLnBrk="1" hangingPunct="1" lvl="0">
                        <a:lnSpc>
                          <a:spcPct val="115000"/>
                        </a:lnSpc>
                      </a:pPr>
                      <a:r>
                        <a:rPr altLang="en-US" b="1" sz="1100" lang="en-US">
                          <a:solidFill>
                            <a:srgbClr val="FFFFFF"/>
                          </a:solidFill>
                        </a:rPr>
                        <a:t>Person B</a:t>
                      </a:r>
                    </a:p>
                  </a:txBody>
                  <a:tcPr marL="68580" marR="68580" marT="0" marB="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l" eaLnBrk="1" hangingPunct="1" lvl="0">
                        <a:lnSpc>
                          <a:spcPct val="115000"/>
                        </a:lnSpc>
                      </a:pPr>
                      <a:r>
                        <a:rPr altLang="en-US" b="1" sz="1100" lang="en-US">
                          <a:solidFill>
                            <a:srgbClr val="FFFFFF"/>
                          </a:solidFill>
                        </a:rPr>
                        <a:t>Person C</a:t>
                      </a:r>
                    </a:p>
                  </a:txBody>
                  <a:tcPr marL="68580" marR="68580" marT="0" marB="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chemeClr val="accent1"/>
                    </a:solidFill>
                  </a:tcPr>
                </a:tc>
              </a:tr>
              <a:tr h="361950">
                <a:tc>
                  <a:txBody>
                    <a:bodyPr/>
                    <a:p>
                      <a:pPr algn="just" eaLnBrk="1" hangingPunct="1" lvl="0"/>
                      <a:r>
                        <a:rPr altLang="en-US" b="1" sz="1200" lang="en-US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marL="68580" marR="68580" marT="0" marB="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just" eaLnBrk="1" hangingPunct="1" lvl="0"/>
                      <a:r>
                        <a:rPr altLang="en-US" b="0" sz="1200" lang="en-US">
                          <a:solidFill>
                            <a:srgbClr val="000000"/>
                          </a:solidFill>
                        </a:rPr>
                        <a:t>X</a:t>
                      </a:r>
                    </a:p>
                  </a:txBody>
                  <a:tcPr marL="68580" marR="68580" marT="0" marB="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DEDEFF"/>
                    </a:solidFill>
                  </a:tcPr>
                </a:tc>
                <a:tc>
                  <a:txBody>
                    <a:bodyPr/>
                    <a:p>
                      <a:pPr algn="just" eaLnBrk="1" hangingPunct="1" lvl="0"/>
                      <a:r>
                        <a:rPr altLang="en-US" b="0" sz="1200" lang="en-US">
                          <a:solidFill>
                            <a:srgbClr val="000000"/>
                          </a:solidFill>
                        </a:rPr>
                        <a:t>Y</a:t>
                      </a:r>
                    </a:p>
                  </a:txBody>
                  <a:tcPr marL="68580" marR="68580" marT="0" marB="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DEDEFF"/>
                    </a:solidFill>
                  </a:tcPr>
                </a:tc>
                <a:tc>
                  <a:txBody>
                    <a:bodyPr/>
                    <a:p>
                      <a:pPr algn="just" eaLnBrk="1" hangingPunct="1" lvl="0"/>
                      <a:r>
                        <a:rPr altLang="en-US" b="0" sz="1200" lang="en-US">
                          <a:solidFill>
                            <a:srgbClr val="000000"/>
                          </a:solidFill>
                        </a:rPr>
                        <a:t>Z</a:t>
                      </a:r>
                    </a:p>
                  </a:txBody>
                  <a:tcPr marL="68580" marR="68580" marT="0" marB="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DEDEFF"/>
                    </a:solidFill>
                  </a:tcPr>
                </a:tc>
              </a:tr>
              <a:tr h="361950">
                <a:tc>
                  <a:txBody>
                    <a:bodyPr/>
                    <a:p>
                      <a:pPr algn="just" eaLnBrk="1" hangingPunct="1" lvl="0"/>
                      <a:r>
                        <a:rPr altLang="en-US" b="1" sz="1200" lang="en-US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marL="68580" marR="68580" marT="0" marB="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just" eaLnBrk="1" hangingPunct="1" lvl="0"/>
                      <a:r>
                        <a:rPr altLang="en-US" b="0" sz="1200" lang="en-US">
                          <a:solidFill>
                            <a:srgbClr val="000000"/>
                          </a:solidFill>
                        </a:rPr>
                        <a:t>Y</a:t>
                      </a:r>
                    </a:p>
                  </a:txBody>
                  <a:tcPr marL="68580" marR="68580" marT="0" marB="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EFEFFF"/>
                    </a:solidFill>
                  </a:tcPr>
                </a:tc>
                <a:tc>
                  <a:txBody>
                    <a:bodyPr/>
                    <a:p>
                      <a:pPr algn="just" eaLnBrk="1" hangingPunct="1" lvl="0"/>
                      <a:r>
                        <a:rPr altLang="en-US" b="0" sz="1200" lang="en-US">
                          <a:solidFill>
                            <a:srgbClr val="000000"/>
                          </a:solidFill>
                        </a:rPr>
                        <a:t>Z</a:t>
                      </a:r>
                    </a:p>
                  </a:txBody>
                  <a:tcPr marL="68580" marR="68580" marT="0" marB="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EFEFFF"/>
                    </a:solidFill>
                  </a:tcPr>
                </a:tc>
                <a:tc>
                  <a:txBody>
                    <a:bodyPr/>
                    <a:p>
                      <a:pPr algn="just" eaLnBrk="1" hangingPunct="1" lvl="0"/>
                      <a:r>
                        <a:rPr altLang="en-US" b="0" sz="1200" lang="en-US">
                          <a:solidFill>
                            <a:srgbClr val="000000"/>
                          </a:solidFill>
                        </a:rPr>
                        <a:t>X</a:t>
                      </a:r>
                    </a:p>
                  </a:txBody>
                  <a:tcPr marL="68580" marR="68580" marT="0" marB="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EFEFFF"/>
                    </a:solidFill>
                  </a:tcPr>
                </a:tc>
              </a:tr>
              <a:tr h="361950">
                <a:tc>
                  <a:txBody>
                    <a:bodyPr/>
                    <a:p>
                      <a:pPr algn="just" eaLnBrk="1" hangingPunct="1" lvl="0"/>
                      <a:r>
                        <a:rPr altLang="en-US" b="1" sz="1200" lang="en-US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marL="68580" marR="68580" marT="0" marB="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just" eaLnBrk="1" hangingPunct="1" lvl="0"/>
                      <a:r>
                        <a:rPr altLang="en-US" b="0" sz="1200" lang="en-US">
                          <a:solidFill>
                            <a:srgbClr val="000000"/>
                          </a:solidFill>
                        </a:rPr>
                        <a:t>Z</a:t>
                      </a:r>
                    </a:p>
                  </a:txBody>
                  <a:tcPr marL="68580" marR="68580" marT="0" marB="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DEDEFF"/>
                    </a:solidFill>
                  </a:tcPr>
                </a:tc>
                <a:tc>
                  <a:txBody>
                    <a:bodyPr/>
                    <a:p>
                      <a:pPr algn="just" eaLnBrk="1" hangingPunct="1" lvl="0"/>
                      <a:r>
                        <a:rPr altLang="en-US" b="0" sz="1200" lang="en-US">
                          <a:solidFill>
                            <a:srgbClr val="000000"/>
                          </a:solidFill>
                        </a:rPr>
                        <a:t>X</a:t>
                      </a:r>
                    </a:p>
                  </a:txBody>
                  <a:tcPr marL="68580" marR="68580" marT="0" marB="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DEDEFF"/>
                    </a:solidFill>
                  </a:tcPr>
                </a:tc>
                <a:tc>
                  <a:txBody>
                    <a:bodyPr/>
                    <a:p>
                      <a:pPr algn="just" eaLnBrk="1" hangingPunct="1" lvl="0"/>
                      <a:r>
                        <a:rPr altLang="en-US" b="0" sz="1200" lang="en-US">
                          <a:solidFill>
                            <a:srgbClr val="000000"/>
                          </a:solidFill>
                        </a:rPr>
                        <a:t>Y</a:t>
                      </a:r>
                    </a:p>
                  </a:txBody>
                  <a:tcPr marL="68580" marR="68580" marT="0" marB="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DEDE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 advClick="1"/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4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30" name="Slide Number Placeholder 5"/>
          <p:cNvSpPr txBox="1"/>
          <p:nvPr/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  <a:t>5</a:t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631" name="Rectangle 2"/>
          <p:cNvSpPr/>
          <p:nvPr>
            <p:ph type="title" sz="full" idx="0"/>
          </p:nvPr>
        </p:nvSpPr>
        <p:spPr>
          <a:xfrm rot="0">
            <a:off x="0" y="0"/>
            <a:ext cx="9144000" cy="13716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1"/>
                </a:solidFill>
                <a:latin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b="1" lang="en-US"/>
              <a:t>WELFARE FUNCTION</a:t>
            </a:r>
          </a:p>
        </p:txBody>
      </p:sp>
      <p:sp>
        <p:nvSpPr>
          <p:cNvPr id="1048632" name="Rectangle 3"/>
          <p:cNvSpPr/>
          <p:nvPr>
            <p:ph type="body" sz="full" idx="1"/>
          </p:nvPr>
        </p:nvSpPr>
        <p:spPr>
          <a:xfrm rot="0">
            <a:off x="152400" y="1371600"/>
            <a:ext cx="8686800" cy="53340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 typeface="Wingdings" pitchFamily="2" charset="2"/>
              <a:buChar char="n"/>
              <a:defRPr baseline="0" b="0" sz="32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Wingdings" pitchFamily="2" charset="2"/>
              <a:buChar char="§"/>
              <a:defRPr baseline="0" b="0" sz="2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2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00000"/>
              <a:buFont typeface="Wingdings" pitchFamily="2" charset="2"/>
              <a:buChar char="§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just" lvl="0"/>
            <a:r>
              <a:rPr altLang="en-US" sz="2400" lang="en-US"/>
              <a:t>Thus, aggregating individuals preferences by majority voting won’t work because social preferences resulting from majority voting are not well behaved preferences, since they are not transitive.</a:t>
            </a:r>
          </a:p>
          <a:p>
            <a:pPr algn="just" lvl="0"/>
            <a:endParaRPr altLang="en-US" sz="2400" lang="en-US"/>
          </a:p>
          <a:p>
            <a:pPr algn="just" lvl="0"/>
            <a:r>
              <a:rPr altLang="en-US" sz="2400" lang="en-US"/>
              <a:t>Since preferences are not transitive, there will be no best alternative from the set of alternatives (X, Y &amp; Z) i.e. with majority voting social preferences are inconsistent.</a:t>
            </a:r>
          </a:p>
          <a:p>
            <a:pPr algn="just" lvl="0"/>
            <a:endParaRPr altLang="en-US" sz="2400" lang="en-US"/>
          </a:p>
          <a:p>
            <a:pPr algn="just" lvl="0"/>
            <a:r>
              <a:rPr altLang="en-US" sz="2400" lang="en-US"/>
              <a:t>They could be transitive if the three people in the table decide to vote first on X versus Y and then vote on the winner of this two versus Z (i.e. if X is preferred to Y, Y to Z, X to Z hence social preferences consistent because transitive rule has met. </a:t>
            </a:r>
          </a:p>
          <a:p>
            <a:pPr algn="just" lvl="0">
              <a:buNone/>
            </a:pPr>
            <a:r>
              <a:rPr altLang="en-US" sz="2400" lang="en-US"/>
              <a:t> </a:t>
            </a:r>
          </a:p>
          <a:p>
            <a:pPr algn="just" lvl="0"/>
            <a:endParaRPr altLang="en-US" sz="2400" lang="en-US"/>
          </a:p>
          <a:p>
            <a:pPr algn="just" lvl="0"/>
            <a:endParaRPr altLang="en-US" sz="2400" lang="en-US"/>
          </a:p>
          <a:p>
            <a:pPr lvl="0"/>
            <a:endParaRPr altLang="en-US" sz="2400" lang="en-US"/>
          </a:p>
          <a:p>
            <a:pPr lvl="0"/>
            <a:endParaRPr altLang="en-US" sz="2400" lang="en-US"/>
          </a:p>
          <a:p>
            <a:pPr lvl="0">
              <a:buNone/>
            </a:pPr>
            <a:endParaRPr altLang="en-US" sz="2400" lang="en-US"/>
          </a:p>
          <a:p>
            <a:pPr algn="just" eaLnBrk="1" hangingPunct="1" lvl="0">
              <a:buNone/>
            </a:pPr>
            <a:r>
              <a:rPr altLang="en-US" sz="2400" lang="en-US">
                <a:solidFill>
                  <a:srgbClr val="000000"/>
                </a:solidFill>
              </a:rPr>
              <a:t> </a:t>
            </a:r>
          </a:p>
        </p:txBody>
      </p:sp>
    </p:spTree>
  </p:cSld>
  <p:clrMapOvr>
    <a:masterClrMapping/>
  </p:clrMapOvr>
  <p:transition spd="fast" advClick="1"/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4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33" name="Slide Number Placeholder 5"/>
          <p:cNvSpPr txBox="1"/>
          <p:nvPr/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  <a:t>6</a:t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634" name="Rectangle 2"/>
          <p:cNvSpPr/>
          <p:nvPr>
            <p:ph type="title" sz="full" idx="0"/>
          </p:nvPr>
        </p:nvSpPr>
        <p:spPr>
          <a:xfrm rot="0">
            <a:off x="0" y="0"/>
            <a:ext cx="9144000" cy="13716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1"/>
                </a:solidFill>
                <a:latin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b="1" lang="en-US"/>
              <a:t>WELFARE FUNCTION</a:t>
            </a:r>
          </a:p>
        </p:txBody>
      </p:sp>
      <p:sp>
        <p:nvSpPr>
          <p:cNvPr id="1048635" name="Rectangle 3"/>
          <p:cNvSpPr/>
          <p:nvPr>
            <p:ph type="body" sz="full" idx="1"/>
          </p:nvPr>
        </p:nvSpPr>
        <p:spPr>
          <a:xfrm rot="0">
            <a:off x="152400" y="1371600"/>
            <a:ext cx="8686800" cy="53340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 typeface="Wingdings" pitchFamily="2" charset="2"/>
              <a:buChar char="n"/>
              <a:defRPr baseline="0" b="0" sz="32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Wingdings" pitchFamily="2" charset="2"/>
              <a:buChar char="§"/>
              <a:defRPr baseline="0" b="0" sz="2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2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00000"/>
              <a:buFont typeface="Wingdings" pitchFamily="2" charset="2"/>
              <a:buChar char="§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just" lvl="0"/>
            <a:r>
              <a:rPr altLang="en-US" b="1" sz="2400" lang="en-US"/>
              <a:t>2. Rank order voting: </a:t>
            </a:r>
            <a:r>
              <a:rPr altLang="en-US" sz="2400" lang="en-US"/>
              <a:t>Here each person ranks the goods according to his preferences and assigns a number that indicates its rank in his ordering e.g 1 can stand for the best alternative,  2 for the second alternative and so on.</a:t>
            </a:r>
          </a:p>
          <a:p>
            <a:pPr algn="just" lvl="0"/>
            <a:endParaRPr altLang="en-US" sz="2400" lang="en-US"/>
          </a:p>
          <a:p>
            <a:pPr algn="just" lvl="0"/>
            <a:r>
              <a:rPr altLang="en-US" sz="2400" lang="en-US"/>
              <a:t>The sum of the scores for each alternative is done across the people to determine an aggregate score for each alternative.</a:t>
            </a:r>
          </a:p>
          <a:p>
            <a:pPr algn="just" lvl="0"/>
            <a:endParaRPr altLang="en-US" sz="2400" lang="en-US"/>
          </a:p>
          <a:p>
            <a:pPr algn="just" lvl="0"/>
            <a:endParaRPr altLang="en-US" sz="2400" lang="en-US"/>
          </a:p>
          <a:p>
            <a:pPr algn="just" lvl="0"/>
            <a:r>
              <a:rPr altLang="en-US" sz="2400" lang="en-US"/>
              <a:t>The outcome is socially preferred to another if it has a lower score.</a:t>
            </a:r>
          </a:p>
          <a:p>
            <a:pPr algn="just" lvl="0"/>
            <a:endParaRPr altLang="en-US" sz="2400" lang="en-US"/>
          </a:p>
          <a:p>
            <a:pPr algn="just" lvl="0"/>
            <a:endParaRPr altLang="en-US" sz="2400" lang="en-US"/>
          </a:p>
          <a:p>
            <a:pPr algn="just" lvl="0"/>
            <a:endParaRPr altLang="en-US" sz="2400" lang="en-US"/>
          </a:p>
          <a:p>
            <a:pPr lvl="0"/>
            <a:endParaRPr altLang="en-US" sz="2400" lang="en-US"/>
          </a:p>
          <a:p>
            <a:pPr lvl="0"/>
            <a:endParaRPr altLang="en-US" sz="2400" lang="en-US"/>
          </a:p>
          <a:p>
            <a:pPr lvl="0">
              <a:buNone/>
            </a:pPr>
            <a:endParaRPr altLang="en-US" sz="2400" lang="en-US"/>
          </a:p>
          <a:p>
            <a:pPr algn="just" eaLnBrk="1" hangingPunct="1" lvl="0">
              <a:buNone/>
            </a:pPr>
            <a:r>
              <a:rPr altLang="en-US" sz="2400" lang="en-US">
                <a:solidFill>
                  <a:srgbClr val="000000"/>
                </a:solidFill>
              </a:rPr>
              <a:t> </a:t>
            </a:r>
          </a:p>
        </p:txBody>
      </p:sp>
    </p:spTree>
  </p:cSld>
  <p:clrMapOvr>
    <a:masterClrMapping/>
  </p:clrMapOvr>
  <p:transition spd="fast" advClick="1"/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4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36" name="Slide Number Placeholder 5"/>
          <p:cNvSpPr txBox="1"/>
          <p:nvPr/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  <a:t>7</a:t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637" name="Rectangle 2"/>
          <p:cNvSpPr/>
          <p:nvPr>
            <p:ph type="title" sz="full" idx="0"/>
          </p:nvPr>
        </p:nvSpPr>
        <p:spPr>
          <a:xfrm rot="0">
            <a:off x="0" y="0"/>
            <a:ext cx="9144000" cy="13716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1"/>
                </a:solidFill>
                <a:latin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b="1" lang="en-US"/>
              <a:t>WELFARE FUNCTION</a:t>
            </a:r>
          </a:p>
        </p:txBody>
      </p:sp>
      <p:sp>
        <p:nvSpPr>
          <p:cNvPr id="1048638" name="Rectangle 3"/>
          <p:cNvSpPr/>
          <p:nvPr>
            <p:ph type="body" sz="full" idx="1"/>
          </p:nvPr>
        </p:nvSpPr>
        <p:spPr>
          <a:xfrm rot="0">
            <a:off x="152400" y="1371600"/>
            <a:ext cx="8686800" cy="53340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 typeface="Wingdings" pitchFamily="2" charset="2"/>
              <a:buChar char="n"/>
              <a:defRPr baseline="0" b="0" sz="32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Wingdings" pitchFamily="2" charset="2"/>
              <a:buChar char="§"/>
              <a:defRPr baseline="0" b="0" sz="2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2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00000"/>
              <a:buFont typeface="Wingdings" pitchFamily="2" charset="2"/>
              <a:buChar char="§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just" lvl="0"/>
            <a:r>
              <a:rPr altLang="en-US" sz="2400" lang="en-US"/>
              <a:t>Example: Consider a preference ordering for three allocations X, Y &amp; Z by two people. If person A gives X a score of 1, Y a score 2 and Z a score of 3 while person B give Y a score of 1, Z a score of 2 and X a score of 3.</a:t>
            </a:r>
          </a:p>
          <a:p>
            <a:pPr algn="just" lvl="0"/>
            <a:endParaRPr altLang="en-US" sz="2400" lang="en-US"/>
          </a:p>
          <a:p>
            <a:pPr algn="just" lvl="0"/>
            <a:endParaRPr altLang="en-US" sz="2400" lang="en-US"/>
          </a:p>
          <a:p>
            <a:pPr algn="just" lvl="0"/>
            <a:endParaRPr altLang="en-US" sz="2400" lang="en-US"/>
          </a:p>
          <a:p>
            <a:pPr algn="just" lvl="0"/>
            <a:endParaRPr altLang="en-US" sz="2400" lang="en-US"/>
          </a:p>
          <a:p>
            <a:pPr algn="just" lvl="0"/>
            <a:endParaRPr altLang="en-US" sz="2400" lang="en-US"/>
          </a:p>
          <a:p>
            <a:pPr algn="just" lvl="0"/>
            <a:endParaRPr altLang="en-US" sz="2400" lang="en-US"/>
          </a:p>
          <a:p>
            <a:pPr algn="just" lvl="0"/>
            <a:r>
              <a:rPr altLang="en-US" sz="2400" lang="en-US"/>
              <a:t>Then X have an aggregate rank of 4, Y aggregate rank of 3 and Z aggregate rank of 5. Y is a social preferred good to X and Z because has a lower score.</a:t>
            </a:r>
          </a:p>
          <a:p>
            <a:pPr algn="just" lvl="0"/>
            <a:endParaRPr altLang="en-US" sz="2400" lang="en-US"/>
          </a:p>
          <a:p>
            <a:pPr algn="just" lvl="0"/>
            <a:endParaRPr altLang="en-US" sz="2400" lang="en-US"/>
          </a:p>
          <a:p>
            <a:pPr algn="just" lvl="0"/>
            <a:endParaRPr altLang="en-US" sz="2400" lang="en-US"/>
          </a:p>
          <a:p>
            <a:pPr lvl="0"/>
            <a:endParaRPr altLang="en-US" sz="2400" lang="en-US"/>
          </a:p>
          <a:p>
            <a:pPr lvl="0"/>
            <a:endParaRPr altLang="en-US" sz="2400" lang="en-US"/>
          </a:p>
          <a:p>
            <a:pPr lvl="0">
              <a:buNone/>
            </a:pPr>
            <a:endParaRPr altLang="en-US" sz="2400" lang="en-US"/>
          </a:p>
          <a:p>
            <a:pPr algn="just" eaLnBrk="1" hangingPunct="1" lvl="0">
              <a:buNone/>
            </a:pPr>
            <a:r>
              <a:rPr altLang="en-US" sz="2400" lang="en-US">
                <a:solidFill>
                  <a:srgbClr val="000000"/>
                </a:solidFill>
              </a:rPr>
              <a:t> </a:t>
            </a:r>
          </a:p>
        </p:txBody>
      </p:sp>
      <p:graphicFrame>
        <p:nvGraphicFramePr>
          <p:cNvPr id="4194305" name=""/>
          <p:cNvGraphicFramePr>
            <a:graphicFrameLocks/>
          </p:cNvGraphicFramePr>
          <p:nvPr/>
        </p:nvGraphicFramePr>
        <p:xfrm rot="0">
          <a:off x="609600" y="3124200"/>
          <a:ext cx="8077200" cy="2209800"/>
        </p:xfrm>
        <a:graphic>
          <a:graphicData uri="http://schemas.openxmlformats.org/drawingml/2006/table">
            <a:tbl>
              <a:tblPr/>
              <a:tblGrid>
                <a:gridCol w="2019300"/>
                <a:gridCol w="2019300"/>
                <a:gridCol w="2019300"/>
                <a:gridCol w="2019300"/>
              </a:tblGrid>
              <a:tr h="552450">
                <a:tc>
                  <a:txBody>
                    <a:bodyPr/>
                    <a:p>
                      <a:pPr algn="l" eaLnBrk="1" hangingPunct="1" lvl="0"/>
                      <a:r>
                        <a:rPr altLang="en-US" b="1" sz="1800" lang="en-US">
                          <a:solidFill>
                            <a:srgbClr val="FFFFFF"/>
                          </a:solidFill>
                        </a:rPr>
                        <a:t>Person A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l" eaLnBrk="1" hangingPunct="1" lvl="0"/>
                      <a:r>
                        <a:rPr altLang="en-US" b="1" sz="1800" lang="en-US">
                          <a:solidFill>
                            <a:srgbClr val="FFFFFF"/>
                          </a:solidFill>
                        </a:rPr>
                        <a:t>A’s Rank score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l" eaLnBrk="1" hangingPunct="1" lvl="0"/>
                      <a:r>
                        <a:rPr altLang="en-US" b="1" sz="1800" lang="en-US">
                          <a:solidFill>
                            <a:srgbClr val="FFFFFF"/>
                          </a:solidFill>
                        </a:rPr>
                        <a:t>Person B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l" eaLnBrk="1" hangingPunct="1" lvl="0"/>
                      <a:r>
                        <a:rPr altLang="en-US" b="1" sz="1800" lang="en-US">
                          <a:solidFill>
                            <a:srgbClr val="FFFFFF"/>
                          </a:solidFill>
                        </a:rPr>
                        <a:t>B’s rank score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chemeClr val="accent1"/>
                    </a:solidFill>
                  </a:tcPr>
                </a:tc>
              </a:tr>
              <a:tr h="552450">
                <a:tc>
                  <a:txBody>
                    <a:bodyPr/>
                    <a:p>
                      <a:pPr algn="l" eaLnBrk="1" hangingPunct="1" lvl="0"/>
                      <a:r>
                        <a:rPr altLang="en-US" b="0" sz="1800" lang="en-US">
                          <a:solidFill>
                            <a:srgbClr val="000000"/>
                          </a:solidFill>
                        </a:rPr>
                        <a:t>X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DEDEFF"/>
                    </a:solidFill>
                  </a:tcPr>
                </a:tc>
                <a:tc>
                  <a:txBody>
                    <a:bodyPr/>
                    <a:p>
                      <a:pPr algn="l" eaLnBrk="1" hangingPunct="1" lvl="0"/>
                      <a:r>
                        <a:rPr altLang="en-US" b="0" sz="1800" lang="en-US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DEDEFF"/>
                    </a:solidFill>
                  </a:tcPr>
                </a:tc>
                <a:tc>
                  <a:txBody>
                    <a:bodyPr/>
                    <a:p>
                      <a:pPr algn="l" eaLnBrk="1" hangingPunct="1" lvl="0"/>
                      <a:r>
                        <a:rPr altLang="en-US" b="0" sz="1800" lang="en-US">
                          <a:solidFill>
                            <a:srgbClr val="000000"/>
                          </a:solidFill>
                        </a:rPr>
                        <a:t>Y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DEDEFF"/>
                    </a:solidFill>
                  </a:tcPr>
                </a:tc>
                <a:tc>
                  <a:txBody>
                    <a:bodyPr/>
                    <a:p>
                      <a:pPr algn="l" eaLnBrk="1" hangingPunct="1" lvl="0"/>
                      <a:r>
                        <a:rPr altLang="en-US" b="0" sz="1800" lang="en-US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DEDEFF"/>
                    </a:solidFill>
                  </a:tcPr>
                </a:tc>
              </a:tr>
              <a:tr h="552450">
                <a:tc>
                  <a:txBody>
                    <a:bodyPr/>
                    <a:p>
                      <a:pPr algn="l" eaLnBrk="1" hangingPunct="1" lvl="0"/>
                      <a:r>
                        <a:rPr altLang="en-US" b="0" sz="1800" lang="en-US">
                          <a:solidFill>
                            <a:srgbClr val="000000"/>
                          </a:solidFill>
                        </a:rPr>
                        <a:t>Y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EFEFFF"/>
                    </a:solidFill>
                  </a:tcPr>
                </a:tc>
                <a:tc>
                  <a:txBody>
                    <a:bodyPr/>
                    <a:p>
                      <a:pPr algn="l" eaLnBrk="1" hangingPunct="1" lvl="0"/>
                      <a:r>
                        <a:rPr altLang="en-US" b="0" sz="1800" lang="en-US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EFEFFF"/>
                    </a:solidFill>
                  </a:tcPr>
                </a:tc>
                <a:tc>
                  <a:txBody>
                    <a:bodyPr/>
                    <a:p>
                      <a:pPr algn="l" eaLnBrk="1" hangingPunct="1" lvl="0"/>
                      <a:r>
                        <a:rPr altLang="en-US" b="0" sz="1800" lang="en-US">
                          <a:solidFill>
                            <a:srgbClr val="000000"/>
                          </a:solidFill>
                        </a:rPr>
                        <a:t>Z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EFEFFF"/>
                    </a:solidFill>
                  </a:tcPr>
                </a:tc>
                <a:tc>
                  <a:txBody>
                    <a:bodyPr/>
                    <a:p>
                      <a:pPr algn="l" eaLnBrk="1" hangingPunct="1" lvl="0"/>
                      <a:r>
                        <a:rPr altLang="en-US" b="0" sz="1800" lang="en-US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EFEFFF"/>
                    </a:solidFill>
                  </a:tcPr>
                </a:tc>
              </a:tr>
              <a:tr h="552450">
                <a:tc>
                  <a:txBody>
                    <a:bodyPr/>
                    <a:p>
                      <a:pPr algn="l" eaLnBrk="1" hangingPunct="1" lvl="0"/>
                      <a:r>
                        <a:rPr altLang="en-US" b="0" sz="1800" lang="en-US">
                          <a:solidFill>
                            <a:srgbClr val="000000"/>
                          </a:solidFill>
                        </a:rPr>
                        <a:t>Z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DEDEFF"/>
                    </a:solidFill>
                  </a:tcPr>
                </a:tc>
                <a:tc>
                  <a:txBody>
                    <a:bodyPr/>
                    <a:p>
                      <a:pPr algn="l" eaLnBrk="1" hangingPunct="1" lvl="0"/>
                      <a:r>
                        <a:rPr altLang="en-US" b="0" sz="1800" lang="en-US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DEDEFF"/>
                    </a:solidFill>
                  </a:tcPr>
                </a:tc>
                <a:tc>
                  <a:txBody>
                    <a:bodyPr/>
                    <a:p>
                      <a:pPr algn="l" eaLnBrk="1" hangingPunct="1" lvl="0"/>
                      <a:r>
                        <a:rPr altLang="en-US" b="0" sz="1800" lang="en-US">
                          <a:solidFill>
                            <a:srgbClr val="000000"/>
                          </a:solidFill>
                        </a:rPr>
                        <a:t>X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DEDEFF"/>
                    </a:solidFill>
                  </a:tcPr>
                </a:tc>
                <a:tc>
                  <a:txBody>
                    <a:bodyPr/>
                    <a:p>
                      <a:pPr algn="l" eaLnBrk="1" hangingPunct="1" lvl="0"/>
                      <a:r>
                        <a:rPr altLang="en-US" b="0" sz="1800" lang="en-US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DEDEFF"/>
                    </a:solidFill>
                  </a:tcPr>
                </a:tc>
              </a:tr>
            </a:tbl>
          </a:graphicData>
        </a:graphic>
      </p:graphicFrame>
      <p:cxnSp>
        <p:nvCxnSpPr>
          <p:cNvPr id="3145728" name="Straight Arrow Connector 3"/>
          <p:cNvCxnSpPr>
            <a:cxnSpLocks/>
          </p:cNvCxnSpPr>
          <p:nvPr/>
        </p:nvCxnSpPr>
        <p:spPr>
          <a:xfrm rot="0">
            <a:off x="2971800" y="3886200"/>
            <a:ext cx="3733800" cy="1066800"/>
          </a:xfrm>
          <a:prstGeom prst="straightConnector1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  <a:headEnd type="arrow" w="med" len="med"/>
            <a:tailEnd type="arrow" w="med" len="med"/>
          </a:ln>
        </p:spPr>
      </p:cxnSp>
      <p:cxnSp>
        <p:nvCxnSpPr>
          <p:cNvPr id="3145729" name="Straight Arrow Connector 9"/>
          <p:cNvCxnSpPr>
            <a:cxnSpLocks/>
          </p:cNvCxnSpPr>
          <p:nvPr/>
        </p:nvCxnSpPr>
        <p:spPr>
          <a:xfrm rot="0" flipV="1">
            <a:off x="2971800" y="3886200"/>
            <a:ext cx="3733800" cy="533400"/>
          </a:xfrm>
          <a:prstGeom prst="straightConnector1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  <a:headEnd type="arrow" w="med" len="med"/>
            <a:tailEnd type="arrow" w="med" len="med"/>
          </a:ln>
        </p:spPr>
      </p:cxnSp>
      <p:cxnSp>
        <p:nvCxnSpPr>
          <p:cNvPr id="3145730" name="Straight Arrow Connector 12"/>
          <p:cNvCxnSpPr>
            <a:cxnSpLocks/>
          </p:cNvCxnSpPr>
          <p:nvPr/>
        </p:nvCxnSpPr>
        <p:spPr>
          <a:xfrm rot="0" flipV="1">
            <a:off x="2971800" y="4419600"/>
            <a:ext cx="3733800" cy="533400"/>
          </a:xfrm>
          <a:prstGeom prst="straightConnector1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  <a:headEnd type="arrow" w="med" len="med"/>
            <a:tailEnd type="arrow" w="med" len="med"/>
          </a:ln>
        </p:spPr>
      </p:cxnSp>
    </p:spTree>
  </p:cSld>
  <p:clrMapOvr>
    <a:masterClrMapping/>
  </p:clrMapOvr>
  <p:transition spd="fast" advClick="1"/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5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65" name="Slide Number Placeholder 5"/>
          <p:cNvSpPr txBox="1"/>
          <p:nvPr/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  <a:t>8</a:t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666" name="Rectangle 2"/>
          <p:cNvSpPr/>
          <p:nvPr>
            <p:ph type="title" sz="full" idx="0"/>
          </p:nvPr>
        </p:nvSpPr>
        <p:spPr>
          <a:xfrm rot="0">
            <a:off x="0" y="0"/>
            <a:ext cx="9144000" cy="13716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1"/>
                </a:solidFill>
                <a:latin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b="1" lang="en-US"/>
              <a:t>WELFARE FUNCTION</a:t>
            </a:r>
          </a:p>
        </p:txBody>
      </p:sp>
      <p:sp>
        <p:nvSpPr>
          <p:cNvPr id="1048667" name="Rectangle 3"/>
          <p:cNvSpPr/>
          <p:nvPr>
            <p:ph type="body" sz="full" idx="1"/>
          </p:nvPr>
        </p:nvSpPr>
        <p:spPr>
          <a:xfrm rot="0">
            <a:off x="152400" y="1371600"/>
            <a:ext cx="8686800" cy="46863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 typeface="Wingdings" pitchFamily="2" charset="2"/>
              <a:buChar char="n"/>
              <a:defRPr baseline="0" b="0" sz="32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Wingdings" pitchFamily="2" charset="2"/>
              <a:buChar char="§"/>
              <a:defRPr baseline="0" b="0" sz="2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2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00000"/>
              <a:buFont typeface="Wingdings" pitchFamily="2" charset="2"/>
              <a:buChar char="§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buNone/>
            </a:pPr>
            <a:r>
              <a:rPr altLang="en-US" sz="2400" lang="en-US"/>
              <a:t>Problems with both majority and rank order voting</a:t>
            </a:r>
          </a:p>
          <a:p>
            <a:pPr algn="just" eaLnBrk="1" hangingPunct="1" indent="0" lvl="0" marL="0"/>
            <a:r>
              <a:rPr altLang="en-US" sz="2400" lang="en-US">
                <a:solidFill>
                  <a:srgbClr val="000000"/>
                </a:solidFill>
              </a:rPr>
              <a:t>The outcome of both methods can be manipulated by a wise/ intelligent person.</a:t>
            </a:r>
          </a:p>
          <a:p>
            <a:pPr eaLnBrk="1" hangingPunct="1" indent="0" lvl="0" marL="0">
              <a:buNone/>
            </a:pPr>
            <a:endParaRPr altLang="en-US" sz="1800" lang="en-US">
              <a:solidFill>
                <a:srgbClr val="000000"/>
              </a:solidFill>
            </a:endParaRPr>
          </a:p>
          <a:p>
            <a:pPr algn="just" eaLnBrk="1" hangingPunct="1" indent="0" lvl="0" marL="0"/>
            <a:r>
              <a:rPr altLang="en-US" sz="2400" lang="en-US">
                <a:solidFill>
                  <a:srgbClr val="000000"/>
                </a:solidFill>
              </a:rPr>
              <a:t>For majority voting the </a:t>
            </a:r>
            <a:r>
              <a:rPr altLang="en-US" sz="2400" lang="en-US">
                <a:solidFill>
                  <a:srgbClr val="000000"/>
                </a:solidFill>
              </a:rPr>
              <a:t>outcome </a:t>
            </a:r>
            <a:r>
              <a:rPr altLang="en-US" sz="2400" lang="en-US">
                <a:solidFill>
                  <a:srgbClr val="000000"/>
                </a:solidFill>
              </a:rPr>
              <a:t>can be manipulated by changing the order on which things are voted so as to yield the desired outcome.</a:t>
            </a:r>
          </a:p>
          <a:p>
            <a:pPr algn="just" eaLnBrk="1" hangingPunct="1" indent="0" lvl="0" marL="0"/>
            <a:endParaRPr altLang="en-US" sz="2000" lang="en-US">
              <a:solidFill>
                <a:srgbClr val="000000"/>
              </a:solidFill>
            </a:endParaRPr>
          </a:p>
          <a:p>
            <a:pPr algn="just" eaLnBrk="1" hangingPunct="1" indent="0" lvl="0" marL="0"/>
            <a:r>
              <a:rPr altLang="en-US" sz="2400" lang="en-US">
                <a:solidFill>
                  <a:srgbClr val="000000"/>
                </a:solidFill>
              </a:rPr>
              <a:t>Rank order voting can be manipulated by introducing new alternatives that change the final ranks of the relevant alternatives. For example person C would always try to have the structure of voting that would achieve Z as the outcome.</a:t>
            </a:r>
          </a:p>
        </p:txBody>
      </p:sp>
    </p:spTree>
  </p:cSld>
  <p:clrMapOvr>
    <a:masterClrMapping/>
  </p:clrMapOvr>
  <p:transition spd="fast" advClick="1"/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5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68" name="Slide Number Placeholder 5"/>
          <p:cNvSpPr txBox="1"/>
          <p:nvPr/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  <a:t>9</a:t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669" name="Rectangle 2"/>
          <p:cNvSpPr/>
          <p:nvPr>
            <p:ph type="title" sz="full" idx="0"/>
          </p:nvPr>
        </p:nvSpPr>
        <p:spPr>
          <a:xfrm rot="0">
            <a:off x="0" y="0"/>
            <a:ext cx="9144000" cy="13716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1"/>
                </a:solidFill>
                <a:latin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b="1" lang="en-US"/>
              <a:t>Properties of a social decision mechanism</a:t>
            </a:r>
          </a:p>
        </p:txBody>
      </p:sp>
      <p:sp>
        <p:nvSpPr>
          <p:cNvPr id="1048670" name="Rectangle 3"/>
          <p:cNvSpPr/>
          <p:nvPr>
            <p:ph type="body" sz="full" idx="1"/>
          </p:nvPr>
        </p:nvSpPr>
        <p:spPr>
          <a:xfrm rot="0">
            <a:off x="152400" y="1371600"/>
            <a:ext cx="8686800" cy="46863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 typeface="Wingdings" pitchFamily="2" charset="2"/>
              <a:buChar char="n"/>
              <a:defRPr baseline="0" b="0" sz="32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Wingdings" pitchFamily="2" charset="2"/>
              <a:buChar char="§"/>
              <a:defRPr baseline="0" b="0" sz="2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2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00000"/>
              <a:buFont typeface="Wingdings" pitchFamily="2" charset="2"/>
              <a:buChar char="§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eaLnBrk="1" hangingPunct="1" lvl="0">
              <a:lnSpc>
                <a:spcPct val="90000"/>
              </a:lnSpc>
            </a:pPr>
            <a:r>
              <a:rPr altLang="en-US" sz="1800" lang="en-US">
                <a:solidFill>
                  <a:srgbClr val="000000"/>
                </a:solidFill>
              </a:rPr>
              <a:t>A reasonable social ranking may be stated with the following axioms relating individual consumers’ preferences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b="1" sz="1600" lang="en-US">
                <a:solidFill>
                  <a:srgbClr val="000000"/>
                </a:solidFill>
              </a:rPr>
              <a:t>Axiom 1: Completeness</a:t>
            </a:r>
            <a:r>
              <a:rPr altLang="en-US" b="1" sz="1600" lang="zh-CN">
                <a:solidFill>
                  <a:srgbClr val="000000"/>
                </a:solidFill>
                <a:ea typeface="Arial" pitchFamily="0" charset="0"/>
              </a:rPr>
              <a:t>—</a:t>
            </a:r>
            <a:r>
              <a:rPr altLang="en-US" sz="1600" lang="en-US">
                <a:solidFill>
                  <a:srgbClr val="000000"/>
                </a:solidFill>
              </a:rPr>
              <a:t>Social ranking must rank all social states</a:t>
            </a:r>
          </a:p>
          <a:p>
            <a:pPr eaLnBrk="1" hangingPunct="1" lvl="2">
              <a:lnSpc>
                <a:spcPct val="90000"/>
              </a:lnSpc>
            </a:pPr>
            <a:r>
              <a:rPr altLang="en-US" sz="1400" lang="en-US">
                <a:solidFill>
                  <a:srgbClr val="000000"/>
                </a:solidFill>
              </a:rPr>
              <a:t>Either A &gt; B, B &gt; A, or A </a:t>
            </a:r>
            <a:r>
              <a:rPr altLang="en-US" sz="1400" lang="en-US">
                <a:solidFill>
                  <a:srgbClr val="000000"/>
                </a:solidFill>
                <a:sym typeface="Symbol" pitchFamily="18" charset="2"/>
              </a:rPr>
              <a:t></a:t>
            </a:r>
            <a:r>
              <a:rPr altLang="en-US" sz="1400" lang="en-US">
                <a:solidFill>
                  <a:srgbClr val="000000"/>
                </a:solidFill>
              </a:rPr>
              <a:t> B for any two states</a:t>
            </a:r>
          </a:p>
          <a:p>
            <a:pPr eaLnBrk="1" hangingPunct="1" lvl="3">
              <a:lnSpc>
                <a:spcPct val="90000"/>
              </a:lnSpc>
            </a:pPr>
            <a:r>
              <a:rPr altLang="en-US" sz="1200" lang="en-US">
                <a:solidFill>
                  <a:srgbClr val="000000"/>
                </a:solidFill>
              </a:rPr>
              <a:t>Identical to Completeness Axiom for individual preference ordering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b="1" sz="1600" lang="en-US">
                <a:solidFill>
                  <a:srgbClr val="000000"/>
                </a:solidFill>
              </a:rPr>
              <a:t>Axiom 2: Transitivity</a:t>
            </a:r>
            <a:r>
              <a:rPr altLang="en-US" b="1" sz="1600" lang="zh-CN">
                <a:solidFill>
                  <a:srgbClr val="000000"/>
                </a:solidFill>
                <a:ea typeface="Arial" pitchFamily="0" charset="0"/>
              </a:rPr>
              <a:t>—</a:t>
            </a:r>
            <a:r>
              <a:rPr altLang="en-US" sz="1600" lang="en-US">
                <a:solidFill>
                  <a:srgbClr val="000000"/>
                </a:solidFill>
              </a:rPr>
              <a:t>Society’s social ranking must be transitive</a:t>
            </a:r>
          </a:p>
          <a:p>
            <a:pPr eaLnBrk="1" hangingPunct="1" lvl="2">
              <a:lnSpc>
                <a:spcPct val="90000"/>
              </a:lnSpc>
            </a:pPr>
            <a:r>
              <a:rPr altLang="en-US" sz="1400" lang="en-US">
                <a:solidFill>
                  <a:srgbClr val="000000"/>
                </a:solidFill>
              </a:rPr>
              <a:t>Given three social states, A, B, and C, if A &gt; B and B &gt; C, then A &gt; C</a:t>
            </a:r>
          </a:p>
          <a:p>
            <a:pPr eaLnBrk="1" hangingPunct="1" lvl="3">
              <a:lnSpc>
                <a:spcPct val="90000"/>
              </a:lnSpc>
            </a:pPr>
            <a:r>
              <a:rPr altLang="en-US" sz="1200" lang="en-US">
                <a:solidFill>
                  <a:srgbClr val="000000"/>
                </a:solidFill>
              </a:rPr>
              <a:t>Identical to Transitivity Axiom for individual preference ordering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b="1" sz="1600" lang="en-US">
                <a:solidFill>
                  <a:srgbClr val="000000"/>
                </a:solidFill>
              </a:rPr>
              <a:t>Axiom 3: Pareto</a:t>
            </a:r>
            <a:r>
              <a:rPr altLang="en-US" b="1" sz="1600" lang="zh-CN">
                <a:solidFill>
                  <a:srgbClr val="000000"/>
                </a:solidFill>
                <a:ea typeface="Arial" pitchFamily="0" charset="0"/>
              </a:rPr>
              <a:t>—</a:t>
            </a:r>
            <a:r>
              <a:rPr altLang="en-US" sz="1600" lang="en-US">
                <a:solidFill>
                  <a:srgbClr val="000000"/>
                </a:solidFill>
              </a:rPr>
              <a:t>If every consumer prefers A to B, then A is preferable in a social ranking</a:t>
            </a:r>
          </a:p>
          <a:p>
            <a:pPr eaLnBrk="1" hangingPunct="1" lvl="2">
              <a:lnSpc>
                <a:spcPct val="90000"/>
              </a:lnSpc>
            </a:pPr>
            <a:r>
              <a:rPr altLang="en-US" sz="1400" lang="en-US">
                <a:solidFill>
                  <a:srgbClr val="000000"/>
                </a:solidFill>
              </a:rPr>
              <a:t>This also holds for the other two pairs (A, C) and (B, C)</a:t>
            </a:r>
          </a:p>
          <a:p>
            <a:pPr eaLnBrk="1" hangingPunct="1" lvl="3">
              <a:lnSpc>
                <a:spcPct val="90000"/>
              </a:lnSpc>
            </a:pPr>
            <a:r>
              <a:rPr altLang="en-US" sz="1200" lang="en-US">
                <a:solidFill>
                  <a:srgbClr val="000000"/>
                </a:solidFill>
              </a:rPr>
              <a:t>Identical to a Pareto improvement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b="1" sz="1600" lang="en-US">
                <a:solidFill>
                  <a:srgbClr val="000000"/>
                </a:solidFill>
              </a:rPr>
              <a:t>Axiom 4: Nondictatorial</a:t>
            </a:r>
            <a:r>
              <a:rPr altLang="en-US" b="1" sz="1600" lang="zh-CN">
                <a:solidFill>
                  <a:srgbClr val="000000"/>
                </a:solidFill>
                <a:ea typeface="Arial" pitchFamily="0" charset="0"/>
              </a:rPr>
              <a:t>—</a:t>
            </a:r>
            <a:r>
              <a:rPr altLang="en-US" sz="1600" lang="en-US">
                <a:solidFill>
                  <a:srgbClr val="000000"/>
                </a:solidFill>
              </a:rPr>
              <a:t>One consumer’s preferences should not determine society’s preferences</a:t>
            </a:r>
          </a:p>
          <a:p>
            <a:pPr eaLnBrk="1" hangingPunct="1" lvl="2">
              <a:lnSpc>
                <a:spcPct val="90000"/>
              </a:lnSpc>
            </a:pPr>
            <a:r>
              <a:rPr altLang="en-US" sz="1400" lang="en-US">
                <a:solidFill>
                  <a:srgbClr val="000000"/>
                </a:solidFill>
              </a:rPr>
              <a:t>No agent paternalism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b="1" sz="1600" lang="en-US">
                <a:solidFill>
                  <a:srgbClr val="000000"/>
                </a:solidFill>
              </a:rPr>
              <a:t>Axiom 5: Pairwise Independence</a:t>
            </a:r>
            <a:r>
              <a:rPr altLang="en-US" b="1" sz="1600" lang="zh-CN">
                <a:solidFill>
                  <a:srgbClr val="000000"/>
                </a:solidFill>
                <a:ea typeface="Arial" pitchFamily="0" charset="0"/>
              </a:rPr>
              <a:t>—</a:t>
            </a:r>
            <a:r>
              <a:rPr altLang="en-US" sz="1600" lang="en-US">
                <a:solidFill>
                  <a:srgbClr val="000000"/>
                </a:solidFill>
              </a:rPr>
              <a:t>Society’s social ranking between A and B should depend only on individual preferences between A and B</a:t>
            </a:r>
          </a:p>
          <a:p>
            <a:pPr eaLnBrk="1" hangingPunct="1" lvl="2">
              <a:lnSpc>
                <a:spcPct val="90000"/>
              </a:lnSpc>
            </a:pPr>
            <a:r>
              <a:rPr altLang="en-US" sz="1400" lang="en-US">
                <a:solidFill>
                  <a:srgbClr val="000000"/>
                </a:solidFill>
              </a:rPr>
              <a:t>Not on individual preferences for some other social state, say state C</a:t>
            </a:r>
          </a:p>
          <a:p>
            <a:pPr eaLnBrk="1" hangingPunct="1" lvl="3">
              <a:lnSpc>
                <a:spcPct val="90000"/>
              </a:lnSpc>
            </a:pPr>
            <a:r>
              <a:rPr altLang="en-US" sz="1200" lang="en-US">
                <a:solidFill>
                  <a:srgbClr val="000000"/>
                </a:solidFill>
              </a:rPr>
              <a:t>Identical to Independence Axiom for individual preference ordering of states of nature</a:t>
            </a:r>
          </a:p>
        </p:txBody>
      </p:sp>
    </p:spTree>
  </p:cSld>
  <p:clrMapOvr>
    <a:masterClrMapping/>
  </p:clrMapOvr>
  <p:transition spd="fast" advClick="1"/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5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71" name="Slide Number Placeholder 5"/>
          <p:cNvSpPr txBox="1"/>
          <p:nvPr/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  <a:t>10</a:t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672" name="Rectangle 2"/>
          <p:cNvSpPr/>
          <p:nvPr>
            <p:ph type="title" sz="full" idx="0"/>
          </p:nvPr>
        </p:nvSpPr>
        <p:spPr>
          <a:xfrm rot="0">
            <a:off x="0" y="0"/>
            <a:ext cx="9144000" cy="13716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1"/>
                </a:solidFill>
                <a:latin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b="1" lang="en-US"/>
              <a:t>Arrow’s Impossibility Theorem</a:t>
            </a:r>
            <a:r>
              <a:rPr altLang="en-US" b="1" lang="en-US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1048673" name="Rectangle 3"/>
          <p:cNvSpPr/>
          <p:nvPr>
            <p:ph type="body" sz="full" idx="1"/>
          </p:nvPr>
        </p:nvSpPr>
        <p:spPr>
          <a:xfrm rot="0">
            <a:off x="152400" y="1371600"/>
            <a:ext cx="8686800" cy="5410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 typeface="Wingdings" pitchFamily="2" charset="2"/>
              <a:buChar char="n"/>
              <a:defRPr baseline="0" b="0" sz="32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Wingdings" pitchFamily="2" charset="2"/>
              <a:buChar char="§"/>
              <a:defRPr baseline="0" b="0" sz="2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2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00000"/>
              <a:buFont typeface="Wingdings" pitchFamily="2" charset="2"/>
              <a:buChar char="§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r>
              <a:rPr altLang="en-US" sz="2400" lang="en-US">
                <a:solidFill>
                  <a:srgbClr val="000000"/>
                </a:solidFill>
              </a:rPr>
              <a:t>Can now state Arrow’s Impossibility Theorem more formally</a:t>
            </a:r>
          </a:p>
          <a:p>
            <a:pPr algn="just" eaLnBrk="1" hangingPunct="1" lvl="1"/>
            <a:r>
              <a:rPr altLang="en-US" sz="2000" lang="en-US">
                <a:solidFill>
                  <a:srgbClr val="000000"/>
                </a:solidFill>
              </a:rPr>
              <a:t>Impossible to establish a reasonable social preference ranking based solely on individual preference rankings. </a:t>
            </a:r>
          </a:p>
          <a:p>
            <a:pPr algn="just" eaLnBrk="1" hangingPunct="1" lvl="1"/>
            <a:endParaRPr altLang="en-US" sz="2000" lang="en-US">
              <a:solidFill>
                <a:srgbClr val="000000"/>
              </a:solidFill>
            </a:endParaRPr>
          </a:p>
          <a:p>
            <a:pPr algn="just" eaLnBrk="1" hangingPunct="1" lvl="1"/>
            <a:r>
              <a:rPr altLang="en-US" sz="2000" lang="en-US">
                <a:solidFill>
                  <a:srgbClr val="000000"/>
                </a:solidFill>
              </a:rPr>
              <a:t>A social decision mechanism satisfying the above five axioms is impossible, if any then it is a dictatorship. </a:t>
            </a:r>
          </a:p>
          <a:p>
            <a:pPr algn="just" eaLnBrk="1" hangingPunct="1" lvl="1"/>
            <a:endParaRPr altLang="en-US" sz="1800" lang="en-US">
              <a:solidFill>
                <a:srgbClr val="000000"/>
              </a:solidFill>
            </a:endParaRPr>
          </a:p>
          <a:p>
            <a:pPr algn="just" eaLnBrk="1" hangingPunct="1" lvl="1"/>
            <a:r>
              <a:rPr altLang="en-US" sz="1800" lang="en-US">
                <a:solidFill>
                  <a:srgbClr val="000000"/>
                </a:solidFill>
              </a:rPr>
              <a:t>Implies that there is no perfect way to aggregate agents’ preferences to make one social preference because not everybody have preferences in the same direction.</a:t>
            </a:r>
          </a:p>
          <a:p>
            <a:pPr algn="just" eaLnBrk="1" hangingPunct="1" lvl="1"/>
            <a:endParaRPr altLang="en-US" sz="1800" lang="en-US">
              <a:solidFill>
                <a:srgbClr val="000000"/>
              </a:solidFill>
            </a:endParaRPr>
          </a:p>
          <a:p>
            <a:pPr algn="just" eaLnBrk="1" hangingPunct="1" lvl="1"/>
            <a:r>
              <a:rPr altLang="en-US" sz="1800" lang="en-US">
                <a:solidFill>
                  <a:srgbClr val="000000"/>
                </a:solidFill>
              </a:rPr>
              <a:t>If we want to find a way to aggregate individuals preferences to form social preferences, we must give up (violate) one of the properties of a social decision mechanism or one of the above axioms.</a:t>
            </a:r>
          </a:p>
          <a:p>
            <a:pPr algn="just" eaLnBrk="1" hangingPunct="1" lvl="0"/>
            <a:r>
              <a:rPr altLang="en-US" sz="2400" lang="en-US">
                <a:solidFill>
                  <a:srgbClr val="000000"/>
                </a:solidFill>
              </a:rPr>
              <a:t>Thus, social choice must be unreasonable if it is based on agents’ preference ranking</a:t>
            </a:r>
          </a:p>
        </p:txBody>
      </p:sp>
    </p:spTree>
  </p:cSld>
  <p:clrMapOvr>
    <a:masterClrMapping/>
  </p:clrMapOvr>
  <p:transition spd="fast" advClick="1"/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5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74" name="Slide Number Placeholder 5"/>
          <p:cNvSpPr txBox="1"/>
          <p:nvPr/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  <a:t>11</a:t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675" name="Rectangle 2"/>
          <p:cNvSpPr/>
          <p:nvPr>
            <p:ph type="title" sz="full" idx="0"/>
          </p:nvPr>
        </p:nvSpPr>
        <p:spPr>
          <a:xfrm rot="0">
            <a:off x="0" y="0"/>
            <a:ext cx="9144000" cy="13716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1"/>
                </a:solidFill>
                <a:latin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lang="en-US">
                <a:solidFill>
                  <a:srgbClr val="000000"/>
                </a:solidFill>
              </a:rPr>
              <a:t> </a:t>
            </a:r>
            <a:r>
              <a:rPr altLang="en-US" b="1" lang="en-US"/>
              <a:t>Arrow’s Impossibility Theorem</a:t>
            </a:r>
            <a:r>
              <a:rPr altLang="en-US" b="1" lang="en-US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1048676" name="Rectangle 3"/>
          <p:cNvSpPr/>
          <p:nvPr>
            <p:ph type="body" sz="full" idx="1"/>
          </p:nvPr>
        </p:nvSpPr>
        <p:spPr>
          <a:xfrm rot="0">
            <a:off x="152400" y="1371600"/>
            <a:ext cx="8686800" cy="46863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 typeface="Wingdings" pitchFamily="2" charset="2"/>
              <a:buChar char="n"/>
              <a:defRPr baseline="0" b="0" sz="32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Wingdings" pitchFamily="2" charset="2"/>
              <a:buChar char="§"/>
              <a:defRPr baseline="0" b="0" sz="2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2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00000"/>
              <a:buFont typeface="Wingdings" pitchFamily="2" charset="2"/>
              <a:buChar char="§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just" eaLnBrk="1" hangingPunct="1" lvl="0"/>
            <a:r>
              <a:rPr altLang="en-US" sz="2000" lang="en-US">
                <a:solidFill>
                  <a:srgbClr val="000000"/>
                </a:solidFill>
              </a:rPr>
              <a:t>To see that Arrow’s Impossibility Theorem holds, let’s consider majority voting again</a:t>
            </a:r>
          </a:p>
          <a:p>
            <a:pPr algn="just" eaLnBrk="1" hangingPunct="1" lvl="1"/>
            <a:r>
              <a:rPr altLang="en-US" sz="1800" lang="en-US">
                <a:solidFill>
                  <a:srgbClr val="000000"/>
                </a:solidFill>
              </a:rPr>
              <a:t>Important social preference </a:t>
            </a:r>
            <a:r>
              <a:rPr altLang="en-US" b="1" sz="1800" lang="en-US">
                <a:solidFill>
                  <a:srgbClr val="000000"/>
                </a:solidFill>
              </a:rPr>
              <a:t>mechanism design </a:t>
            </a:r>
          </a:p>
          <a:p>
            <a:pPr algn="just" eaLnBrk="1" hangingPunct="1" lvl="2"/>
            <a:r>
              <a:rPr altLang="en-US" sz="1600" lang="en-US">
                <a:solidFill>
                  <a:srgbClr val="000000"/>
                </a:solidFill>
              </a:rPr>
              <a:t>Set of rules governing procedures for social [collective] choice</a:t>
            </a:r>
          </a:p>
          <a:p>
            <a:pPr algn="just" eaLnBrk="1" hangingPunct="1" lvl="0"/>
            <a:r>
              <a:rPr altLang="en-US" sz="2000" lang="en-US">
                <a:solidFill>
                  <a:srgbClr val="000000"/>
                </a:solidFill>
              </a:rPr>
              <a:t>Majority voting satisfies both Pareto Axiom and Non-dictatorial Axiom</a:t>
            </a:r>
          </a:p>
          <a:p>
            <a:pPr algn="just" eaLnBrk="1" hangingPunct="1" lvl="1"/>
            <a:r>
              <a:rPr altLang="en-US" sz="1800" lang="en-US">
                <a:solidFill>
                  <a:srgbClr val="000000"/>
                </a:solidFill>
              </a:rPr>
              <a:t>Sensitive to each individual agent’s preferences</a:t>
            </a:r>
          </a:p>
          <a:p>
            <a:pPr algn="just" eaLnBrk="1" hangingPunct="1" lvl="0"/>
            <a:r>
              <a:rPr altLang="en-US" sz="2000" lang="en-US">
                <a:solidFill>
                  <a:srgbClr val="000000"/>
                </a:solidFill>
              </a:rPr>
              <a:t>Majority voting is symmetric among agents</a:t>
            </a:r>
          </a:p>
          <a:p>
            <a:pPr algn="just" eaLnBrk="1" hangingPunct="1" lvl="1"/>
            <a:r>
              <a:rPr altLang="en-US" sz="1800" lang="en-US">
                <a:solidFill>
                  <a:srgbClr val="000000"/>
                </a:solidFill>
              </a:rPr>
              <a:t>Treats all agents the same and all agents have just one vote</a:t>
            </a:r>
          </a:p>
          <a:p>
            <a:pPr algn="just" eaLnBrk="1" hangingPunct="1" lvl="0"/>
            <a:r>
              <a:rPr altLang="en-US" sz="2000" lang="en-US">
                <a:solidFill>
                  <a:srgbClr val="000000"/>
                </a:solidFill>
              </a:rPr>
              <a:t>It is also neutral among alternatives</a:t>
            </a:r>
          </a:p>
          <a:p>
            <a:pPr algn="just" eaLnBrk="1" hangingPunct="1" lvl="1"/>
            <a:r>
              <a:rPr altLang="en-US" sz="1800" lang="en-US">
                <a:solidFill>
                  <a:srgbClr val="000000"/>
                </a:solidFill>
              </a:rPr>
              <a:t>By not making a distinction among alternatives </a:t>
            </a:r>
            <a:r>
              <a:rPr altLang="en-US" sz="1800" i="1" lang="en-US">
                <a:solidFill>
                  <a:srgbClr val="000000"/>
                </a:solidFill>
              </a:rPr>
              <a:t>a priori</a:t>
            </a:r>
          </a:p>
          <a:p>
            <a:pPr algn="just" eaLnBrk="1" hangingPunct="1" lvl="0"/>
            <a:r>
              <a:rPr altLang="en-US" sz="2000" lang="en-US">
                <a:solidFill>
                  <a:srgbClr val="000000"/>
                </a:solidFill>
              </a:rPr>
              <a:t>However, majority rule can lead to a pattern of social choices that is not transitive </a:t>
            </a:r>
          </a:p>
          <a:p>
            <a:pPr algn="just" eaLnBrk="1" hangingPunct="1" lvl="2"/>
            <a:r>
              <a:rPr altLang="en-US" sz="1600" lang="en-US">
                <a:solidFill>
                  <a:srgbClr val="000000"/>
                </a:solidFill>
              </a:rPr>
              <a:t>Thus, it violates Axiom 2</a:t>
            </a:r>
          </a:p>
          <a:p>
            <a:pPr eaLnBrk="1" hangingPunct="1" lvl="2">
              <a:buFontTx/>
              <a:buNone/>
            </a:pPr>
            <a:endParaRPr altLang="en-US" sz="16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fast" advClick="1"/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5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77" name="Slide Number Placeholder 5"/>
          <p:cNvSpPr txBox="1"/>
          <p:nvPr/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  <a:t>12</a:t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678" name="Rectangle 2"/>
          <p:cNvSpPr/>
          <p:nvPr>
            <p:ph type="title" sz="full" idx="0"/>
          </p:nvPr>
        </p:nvSpPr>
        <p:spPr>
          <a:xfrm rot="0">
            <a:off x="0" y="0"/>
            <a:ext cx="9144000" cy="13716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1"/>
                </a:solidFill>
                <a:latin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b="1" lang="en-US"/>
              <a:t>Social-Welfare Function (SWF)</a:t>
            </a:r>
            <a:r>
              <a:rPr altLang="en-US" b="1" lang="en-US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1048679" name="Rectangle 3"/>
          <p:cNvSpPr/>
          <p:nvPr>
            <p:ph type="body" sz="full" idx="1"/>
          </p:nvPr>
        </p:nvSpPr>
        <p:spPr>
          <a:xfrm rot="0">
            <a:off x="152400" y="1371600"/>
            <a:ext cx="8686800" cy="53340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 typeface="Wingdings" pitchFamily="2" charset="2"/>
              <a:buChar char="n"/>
              <a:defRPr baseline="0" b="0" sz="32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Wingdings" pitchFamily="2" charset="2"/>
              <a:buChar char="§"/>
              <a:defRPr baseline="0" b="0" sz="2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2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00000"/>
              <a:buFont typeface="Wingdings" pitchFamily="2" charset="2"/>
              <a:buChar char="§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r>
              <a:rPr altLang="en-US" sz="2000" lang="en-US">
                <a:solidFill>
                  <a:srgbClr val="000000"/>
                </a:solidFill>
              </a:rPr>
              <a:t>Using broad definition of social welfare as a level of happiness for society as a whole</a:t>
            </a:r>
          </a:p>
          <a:p>
            <a:pPr eaLnBrk="1" hangingPunct="1" lvl="1"/>
            <a:r>
              <a:rPr altLang="en-US" sz="1800" lang="en-US">
                <a:solidFill>
                  <a:srgbClr val="000000"/>
                </a:solidFill>
              </a:rPr>
              <a:t>Measurement for this happiness is needed to determine socially optimal allocation of resources</a:t>
            </a:r>
          </a:p>
          <a:p>
            <a:pPr eaLnBrk="1" hangingPunct="1" lvl="2"/>
            <a:r>
              <a:rPr altLang="en-US" sz="1600" lang="en-US">
                <a:solidFill>
                  <a:srgbClr val="000000"/>
                </a:solidFill>
              </a:rPr>
              <a:t>Such a measurement for determining how well off agents are in a society requires a set of welfare criteria</a:t>
            </a:r>
          </a:p>
          <a:p>
            <a:pPr eaLnBrk="1" hangingPunct="1" lvl="0"/>
            <a:r>
              <a:rPr altLang="en-US" sz="2000" lang="en-US">
                <a:solidFill>
                  <a:srgbClr val="000000"/>
                </a:solidFill>
              </a:rPr>
              <a:t>Much of research on formulation of welfare criteria and their implications for economic policy has relied on Pareto-allocation criterion</a:t>
            </a:r>
          </a:p>
          <a:p>
            <a:pPr eaLnBrk="1" hangingPunct="1" lvl="1"/>
            <a:r>
              <a:rPr altLang="en-US" sz="1800" lang="en-US">
                <a:solidFill>
                  <a:srgbClr val="000000"/>
                </a:solidFill>
              </a:rPr>
              <a:t>A Pareto criterion is a value judgment based on unanimity rule</a:t>
            </a:r>
          </a:p>
          <a:p>
            <a:pPr eaLnBrk="1" hangingPunct="1" lvl="1"/>
            <a:r>
              <a:rPr altLang="en-US" sz="1800" lang="en-US">
                <a:solidFill>
                  <a:srgbClr val="000000"/>
                </a:solidFill>
              </a:rPr>
              <a:t>If one agent could be made better off without reducing welfare of others</a:t>
            </a:r>
          </a:p>
          <a:p>
            <a:pPr eaLnBrk="1" hangingPunct="1" lvl="2"/>
            <a:r>
              <a:rPr altLang="en-US" sz="1600" lang="en-US">
                <a:solidFill>
                  <a:srgbClr val="000000"/>
                </a:solidFill>
              </a:rPr>
              <a:t>Social welfare could be improved by allocation that makes this one agent better off</a:t>
            </a:r>
          </a:p>
          <a:p>
            <a:pPr eaLnBrk="1" hangingPunct="1" lvl="3"/>
            <a:r>
              <a:rPr altLang="en-US" sz="1400" lang="en-US">
                <a:solidFill>
                  <a:srgbClr val="000000"/>
                </a:solidFill>
              </a:rPr>
              <a:t>Since no one agent is made worse off and at least one agent is made better off</a:t>
            </a:r>
          </a:p>
          <a:p>
            <a:pPr eaLnBrk="1" hangingPunct="1" lvl="4"/>
            <a:r>
              <a:rPr altLang="en-US" sz="1400" lang="en-US">
                <a:solidFill>
                  <a:srgbClr val="000000"/>
                </a:solidFill>
              </a:rPr>
              <a:t>It is assumed, given independence of utility functions, that all agents would support Pareto criterion</a:t>
            </a:r>
          </a:p>
          <a:p>
            <a:pPr eaLnBrk="1" hangingPunct="1" lvl="4">
              <a:buNone/>
            </a:pPr>
            <a:endParaRPr altLang="en-US" sz="14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fast" advClick="1"/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5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80" name="Slide Number Placeholder 5"/>
          <p:cNvSpPr txBox="1"/>
          <p:nvPr/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  <a:t>13</a:t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681" name="Rectangle 2"/>
          <p:cNvSpPr/>
          <p:nvPr>
            <p:ph type="title" sz="full" idx="0"/>
          </p:nvPr>
        </p:nvSpPr>
        <p:spPr>
          <a:xfrm rot="0">
            <a:off x="0" y="0"/>
            <a:ext cx="9144000" cy="13716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1"/>
                </a:solidFill>
                <a:latin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b="1" lang="en-US"/>
              <a:t>Social-Welfare Function</a:t>
            </a:r>
            <a:r>
              <a:rPr altLang="en-US" b="1" lang="en-US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1048682" name="Rectangle 3"/>
          <p:cNvSpPr/>
          <p:nvPr>
            <p:ph type="body" sz="full" idx="1"/>
          </p:nvPr>
        </p:nvSpPr>
        <p:spPr>
          <a:xfrm rot="0">
            <a:off x="152400" y="1371600"/>
            <a:ext cx="8686800" cy="53340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 typeface="Wingdings" pitchFamily="2" charset="2"/>
              <a:buChar char="n"/>
              <a:defRPr baseline="0" b="0" sz="32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Wingdings" pitchFamily="2" charset="2"/>
              <a:buChar char="§"/>
              <a:defRPr baseline="0" b="0" sz="2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2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00000"/>
              <a:buFont typeface="Wingdings" pitchFamily="2" charset="2"/>
              <a:buChar char="§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just" eaLnBrk="1" hangingPunct="1" lvl="0"/>
            <a:r>
              <a:rPr altLang="en-US" sz="2000" lang="en-US">
                <a:solidFill>
                  <a:srgbClr val="000000"/>
                </a:solidFill>
              </a:rPr>
              <a:t>Pareto-optimal allocation yields an efficient allocation of resources and thus is a necessary condition for a social optimum</a:t>
            </a:r>
          </a:p>
          <a:p>
            <a:pPr algn="just" eaLnBrk="1" hangingPunct="1" lvl="1"/>
            <a:r>
              <a:rPr altLang="en-US" sz="1800" lang="en-US">
                <a:solidFill>
                  <a:srgbClr val="000000"/>
                </a:solidFill>
              </a:rPr>
              <a:t>However, many decisions on allocation result in an improvement of one agent’s utility at expense of other agents</a:t>
            </a:r>
          </a:p>
          <a:p>
            <a:pPr algn="just" eaLnBrk="1" hangingPunct="1" lvl="2"/>
            <a:r>
              <a:rPr altLang="en-US" sz="1600" lang="en-US">
                <a:solidFill>
                  <a:srgbClr val="000000"/>
                </a:solidFill>
              </a:rPr>
              <a:t>For example, a redistribution of endowments from taxing rich households and providing subsidized housing for poor households may increase social welfare </a:t>
            </a:r>
          </a:p>
          <a:p>
            <a:pPr algn="just" eaLnBrk="1" hangingPunct="1" lvl="3"/>
            <a:r>
              <a:rPr altLang="en-US" sz="1400" lang="en-US">
                <a:solidFill>
                  <a:srgbClr val="000000"/>
                </a:solidFill>
              </a:rPr>
              <a:t>But cannot be justified by Pareto criterion</a:t>
            </a:r>
          </a:p>
          <a:p>
            <a:pPr algn="just" eaLnBrk="1" hangingPunct="1" lvl="1"/>
            <a:r>
              <a:rPr altLang="en-US" sz="1800" lang="en-US">
                <a:solidFill>
                  <a:srgbClr val="000000"/>
                </a:solidFill>
              </a:rPr>
              <a:t>Fundamental inadequacy of Pareto criterion is its inability to yield a complete ranking of all social states within an economy</a:t>
            </a:r>
          </a:p>
          <a:p>
            <a:pPr algn="just" eaLnBrk="1" hangingPunct="1" lvl="2"/>
            <a:r>
              <a:rPr altLang="en-US" sz="1600" lang="en-US">
                <a:solidFill>
                  <a:srgbClr val="000000"/>
                </a:solidFill>
              </a:rPr>
              <a:t>Pareto criterion is useless in context of many policy propositions, so additional welfare criteria are necessary to determine if these policies will improve social welfare</a:t>
            </a:r>
          </a:p>
          <a:p>
            <a:pPr algn="just" eaLnBrk="1" hangingPunct="1" lvl="0">
              <a:buFont typeface="Wingdings" pitchFamily="2" charset="2"/>
              <a:buChar char="v"/>
            </a:pPr>
            <a:r>
              <a:rPr altLang="en-US" sz="2000" lang="en-US">
                <a:solidFill>
                  <a:srgbClr val="000000"/>
                </a:solidFill>
              </a:rPr>
              <a:t>To investigate a social-welfare function, a comparison of individual consumers’ utilities is generally required. More precisely, SWF is a function of the utility levels of all individual members in the society</a:t>
            </a:r>
          </a:p>
          <a:p>
            <a:pPr algn="just" eaLnBrk="1" hangingPunct="1" lvl="1"/>
            <a:r>
              <a:rPr altLang="en-US" sz="1800" lang="en-US">
                <a:solidFill>
                  <a:srgbClr val="000000"/>
                </a:solidFill>
              </a:rPr>
              <a:t>It gives a way to rank different allocations that depends only on the individual preferences and it is an increasing function of each individual’s utility.</a:t>
            </a:r>
          </a:p>
          <a:p>
            <a:pPr algn="just" eaLnBrk="1" hangingPunct="1" lvl="1"/>
            <a:r>
              <a:rPr altLang="en-US" sz="1800" lang="en-US">
                <a:solidFill>
                  <a:srgbClr val="000000"/>
                </a:solidFill>
              </a:rPr>
              <a:t>It is denoted as W {U</a:t>
            </a:r>
            <a:r>
              <a:rPr altLang="en-US" sz="2000" lang="en-US">
                <a:solidFill>
                  <a:srgbClr val="000000"/>
                </a:solidFill>
              </a:rPr>
              <a:t>1</a:t>
            </a:r>
            <a:r>
              <a:rPr altLang="en-US" sz="1800" lang="en-US">
                <a:solidFill>
                  <a:srgbClr val="000000"/>
                </a:solidFill>
              </a:rPr>
              <a:t>(X),…….,Un (X)}. W = social welfare &amp; U= individual utilities</a:t>
            </a:r>
          </a:p>
        </p:txBody>
      </p:sp>
    </p:spTree>
  </p:cSld>
  <p:clrMapOvr>
    <a:masterClrMapping/>
  </p:clrMapOvr>
  <p:transition spd="fast" advClick="1"/>
  <p:timing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5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83" name="Title 1"/>
          <p:cNvSpPr/>
          <p:nvPr>
            <p:ph type="title" sz="full" idx="0"/>
          </p:nvPr>
        </p:nvSpPr>
        <p:spPr>
          <a:xfrm rot="0">
            <a:off x="0" y="0"/>
            <a:ext cx="9144000" cy="13716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1"/>
                </a:solidFill>
                <a:latin typeface="Arial" pitchFamily="0" charset="0"/>
                <a:sym typeface="Arial" pitchFamily="0" charset="0"/>
              </a:defRPr>
            </a:lvl1pPr>
          </a:lstStyle>
          <a:p>
            <a:r>
              <a:rPr altLang="en-US" lang="en-US"/>
              <a:t>Example of Social welfare function</a:t>
            </a:r>
          </a:p>
        </p:txBody>
      </p:sp>
      <p:sp>
        <p:nvSpPr>
          <p:cNvPr id="1048684" name="Content Placeholder 2"/>
          <p:cNvSpPr/>
          <p:nvPr>
            <p:ph sz="full" idx="1"/>
          </p:nvPr>
        </p:nvSpPr>
        <p:spPr>
          <a:xfrm rot="0">
            <a:off x="152400" y="1371600"/>
            <a:ext cx="8686800" cy="46863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 typeface="Wingdings" pitchFamily="2" charset="2"/>
              <a:buChar char="n"/>
              <a:defRPr baseline="0" b="0" sz="32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Wingdings" pitchFamily="2" charset="2"/>
              <a:buChar char="§"/>
              <a:defRPr baseline="0" b="0" sz="2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2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00000"/>
              <a:buFont typeface="Wingdings" pitchFamily="2" charset="2"/>
              <a:buChar char="§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lvl="0"/>
            <a:endParaRPr altLang="en-US" lang="en-US"/>
          </a:p>
          <a:p>
            <a:pPr lvl="0"/>
            <a:r>
              <a:rPr altLang="en-US" sz="2400" lang="en-US"/>
              <a:t>Utilitarian welfare functions.</a:t>
            </a:r>
          </a:p>
          <a:p>
            <a:pPr lvl="0"/>
            <a:endParaRPr altLang="en-US" sz="2400" lang="en-US"/>
          </a:p>
          <a:p>
            <a:pPr lvl="0"/>
            <a:r>
              <a:rPr altLang="en-US" sz="2400" lang="en-US"/>
              <a:t>Weighted sum of utilities welfare functions.</a:t>
            </a:r>
          </a:p>
          <a:p>
            <a:pPr lvl="0"/>
            <a:endParaRPr altLang="en-US" sz="2400" lang="en-US"/>
          </a:p>
          <a:p>
            <a:pPr lvl="0"/>
            <a:r>
              <a:rPr altLang="en-US" sz="2400" lang="en-US"/>
              <a:t>Minimax or Rawlsian social welfare functions</a:t>
            </a:r>
          </a:p>
        </p:txBody>
      </p:sp>
      <p:sp>
        <p:nvSpPr>
          <p:cNvPr id="1048685" name="Slide Number Placeholder 3"/>
          <p:cNvSpPr txBox="1"/>
          <p:nvPr/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  <a:t>14</a:t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ransition spd="fast" advClick="1"/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5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86" name="Slide Number Placeholder 5"/>
          <p:cNvSpPr txBox="1"/>
          <p:nvPr/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  <a:t>15</a:t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687" name="Rectangle 2"/>
          <p:cNvSpPr/>
          <p:nvPr>
            <p:ph type="title" sz="full" idx="0"/>
          </p:nvPr>
        </p:nvSpPr>
        <p:spPr>
          <a:xfrm rot="0">
            <a:off x="0" y="0"/>
            <a:ext cx="9144000" cy="13716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1"/>
                </a:solidFill>
                <a:latin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b="1" lang="en-US"/>
              <a:t>Utilitarian</a:t>
            </a:r>
            <a:r>
              <a:rPr altLang="en-US" b="1" i="1" lang="en-US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1048688" name="Rectangle 3"/>
          <p:cNvSpPr/>
          <p:nvPr>
            <p:ph type="body" sz="full" idx="1"/>
          </p:nvPr>
        </p:nvSpPr>
        <p:spPr>
          <a:xfrm rot="0">
            <a:off x="152400" y="1371600"/>
            <a:ext cx="8686800" cy="5410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 typeface="Wingdings" pitchFamily="2" charset="2"/>
              <a:buChar char="n"/>
              <a:defRPr baseline="0" b="0" sz="32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Wingdings" pitchFamily="2" charset="2"/>
              <a:buChar char="§"/>
              <a:defRPr baseline="0" b="0" sz="2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2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00000"/>
              <a:buFont typeface="Wingdings" pitchFamily="2" charset="2"/>
              <a:buChar char="§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r>
              <a:rPr altLang="en-US" sz="1800" lang="en-US">
                <a:solidFill>
                  <a:srgbClr val="000000"/>
                </a:solidFill>
              </a:rPr>
              <a:t>Individual utility functions are summed up or Maximizes sum  of consumers’ utility. Mathematically it is represented as W (U1, ….., Un) = </a:t>
            </a:r>
          </a:p>
          <a:p>
            <a:pPr eaLnBrk="1" hangingPunct="1" lvl="0"/>
            <a:r>
              <a:rPr altLang="en-US" sz="1800" lang="en-US">
                <a:solidFill>
                  <a:srgbClr val="000000"/>
                </a:solidFill>
              </a:rPr>
              <a:t>Criterion was formally developed by Bentham and provided initial impetus to utility theory</a:t>
            </a:r>
          </a:p>
          <a:p>
            <a:pPr eaLnBrk="1" hangingPunct="1" lvl="0"/>
            <a:r>
              <a:rPr altLang="en-US" sz="1800" lang="en-US">
                <a:solidFill>
                  <a:srgbClr val="000000"/>
                </a:solidFill>
              </a:rPr>
              <a:t>For Robinson and Friday, criterion is</a:t>
            </a:r>
          </a:p>
        </p:txBody>
      </p:sp>
      <p:pic>
        <p:nvPicPr>
          <p:cNvPr id="2097152" name="Picture 4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4495800" y="2413000"/>
            <a:ext cx="3962400" cy="625475"/>
          </a:xfrm>
          <a:prstGeom prst="rect"/>
          <a:noFill/>
          <a:ln>
            <a:noFill/>
          </a:ln>
        </p:spPr>
      </p:pic>
      <p:sp>
        <p:nvSpPr>
          <p:cNvPr id="1048689" name="Rectangle 5"/>
          <p:cNvSpPr/>
          <p:nvPr/>
        </p:nvSpPr>
        <p:spPr>
          <a:xfrm rot="0">
            <a:off x="152400" y="3048000"/>
            <a:ext cx="8686800" cy="38100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eaLnBrk="1" hangingPunct="1" indent="-445770" lvl="1" marL="742950">
              <a:spcBef>
                <a:spcPct val="20000"/>
              </a:spcBef>
              <a:buClr>
                <a:schemeClr val="accent2"/>
              </a:buClr>
              <a:buSzPct val="120000"/>
              <a:buFont typeface="Wingdings" pitchFamily="2" charset="2"/>
              <a:buChar char="§"/>
            </a:pPr>
            <a:r>
              <a:rPr altLang="en-US" sz="1600" lang="en-US">
                <a:solidFill>
                  <a:srgbClr val="000000"/>
                </a:solidFill>
              </a:rPr>
              <a:t>Called classical utilitarian</a:t>
            </a:r>
            <a:r>
              <a:rPr altLang="en-US" b="1" sz="1600" lang="en-US">
                <a:solidFill>
                  <a:srgbClr val="000000"/>
                </a:solidFill>
              </a:rPr>
              <a:t>, </a:t>
            </a:r>
            <a:r>
              <a:rPr altLang="en-US" sz="1600" lang="en-US">
                <a:solidFill>
                  <a:srgbClr val="000000"/>
                </a:solidFill>
              </a:rPr>
              <a:t>or Benthamite welfare function</a:t>
            </a:r>
          </a:p>
          <a:p>
            <a:pPr eaLnBrk="1" hangingPunct="1" indent="-445770" lvl="1" marL="742950">
              <a:spcBef>
                <a:spcPct val="20000"/>
              </a:spcBef>
              <a:buClr>
                <a:schemeClr val="accent2"/>
              </a:buClr>
              <a:buSzPct val="120000"/>
              <a:buFont typeface="Wingdings" pitchFamily="2" charset="2"/>
              <a:buChar char="§"/>
            </a:pPr>
            <a:r>
              <a:rPr altLang="en-US" sz="1600" lang="en-US">
                <a:solidFill>
                  <a:srgbClr val="000000"/>
                </a:solidFill>
              </a:rPr>
              <a:t>Maximized subject to a utility possibilities frontier (Figure 1)</a:t>
            </a:r>
          </a:p>
          <a:p>
            <a:pPr eaLnBrk="1" hangingPunct="1" indent="-342900" lvl="0" marL="342900">
              <a:spcBef>
                <a:spcPct val="20000"/>
              </a:spcBef>
              <a:buClr>
                <a:schemeClr val="dk2"/>
              </a:buClr>
              <a:buSzPct val="75000"/>
              <a:buFont typeface="Wingdings" pitchFamily="2" charset="2"/>
              <a:buChar char="n"/>
            </a:pPr>
            <a:r>
              <a:rPr altLang="en-US" lang="en-US">
                <a:solidFill>
                  <a:srgbClr val="000000"/>
                </a:solidFill>
              </a:rPr>
              <a:t>Under utilitarian criterion, increases or decreases in individual consumers’ utility results in identical changes in social welfare</a:t>
            </a:r>
          </a:p>
          <a:p>
            <a:pPr eaLnBrk="1" hangingPunct="1" indent="-445770" lvl="1" marL="742950">
              <a:spcBef>
                <a:spcPct val="20000"/>
              </a:spcBef>
              <a:buClr>
                <a:schemeClr val="accent2"/>
              </a:buClr>
              <a:buSzPct val="120000"/>
              <a:buFont typeface="Wingdings" pitchFamily="2" charset="2"/>
              <a:buChar char="§"/>
            </a:pPr>
            <a:r>
              <a:rPr altLang="en-US" sz="1600" lang="en-US">
                <a:solidFill>
                  <a:srgbClr val="000000"/>
                </a:solidFill>
              </a:rPr>
              <a:t>Only total utility is relevant, so utilitarian criterion does not consider distribution of utility</a:t>
            </a:r>
          </a:p>
          <a:p>
            <a:pPr eaLnBrk="1" hangingPunct="1" indent="-457200" lvl="2" marL="1143000">
              <a:spcBef>
                <a:spcPct val="20000"/>
              </a:spcBef>
              <a:buClr>
                <a:schemeClr val="dk2"/>
              </a:buClr>
              <a:buSzPct val="120000"/>
              <a:buFontTx/>
              <a:buChar char="•"/>
            </a:pPr>
            <a:r>
              <a:rPr altLang="en-US" sz="1400" lang="en-US">
                <a:solidFill>
                  <a:srgbClr val="000000"/>
                </a:solidFill>
              </a:rPr>
              <a:t>As long as social gain is greater than social loss, it makes no difference that consumer who gains in utility may already be happier than the other consumer</a:t>
            </a:r>
          </a:p>
          <a:p>
            <a:pPr eaLnBrk="1" hangingPunct="1" indent="-342900" lvl="0" marL="342900">
              <a:spcBef>
                <a:spcPct val="20000"/>
              </a:spcBef>
              <a:buClr>
                <a:schemeClr val="dk2"/>
              </a:buClr>
              <a:buSzPct val="75000"/>
              <a:buFont typeface="Wingdings" pitchFamily="2" charset="2"/>
              <a:buChar char="n"/>
            </a:pPr>
            <a:r>
              <a:rPr altLang="en-US" lang="en-US">
                <a:solidFill>
                  <a:srgbClr val="000000"/>
                </a:solidFill>
              </a:rPr>
              <a:t>Unless utility functions of individual consumers are close to being identical</a:t>
            </a:r>
          </a:p>
          <a:p>
            <a:pPr eaLnBrk="1" hangingPunct="1" indent="-445770" lvl="1" marL="742950">
              <a:spcBef>
                <a:spcPct val="20000"/>
              </a:spcBef>
              <a:buClr>
                <a:schemeClr val="accent2"/>
              </a:buClr>
              <a:buSzPct val="120000"/>
              <a:buFont typeface="Wingdings" pitchFamily="2" charset="2"/>
              <a:buChar char="§"/>
            </a:pPr>
            <a:r>
              <a:rPr altLang="en-US" sz="1600" lang="en-US">
                <a:solidFill>
                  <a:srgbClr val="000000"/>
                </a:solidFill>
              </a:rPr>
              <a:t>Utilitarian criteria can result in substantial differences in consumers’ utility</a:t>
            </a:r>
          </a:p>
          <a:p>
            <a:pPr eaLnBrk="1" hangingPunct="1" indent="-342900" lvl="0" marL="342900">
              <a:spcBef>
                <a:spcPct val="20000"/>
              </a:spcBef>
              <a:buClr>
                <a:schemeClr val="dk2"/>
              </a:buClr>
              <a:buSzPct val="75000"/>
              <a:buFont typeface="Wingdings" pitchFamily="2" charset="2"/>
              <a:buChar char="n"/>
            </a:pPr>
            <a:r>
              <a:rPr altLang="en-US" lang="en-US">
                <a:solidFill>
                  <a:srgbClr val="000000"/>
                </a:solidFill>
              </a:rPr>
              <a:t>Although ethics teaches that virtue is its own reward, classical utilitarian function teaches that reward is its own virtue</a:t>
            </a:r>
          </a:p>
          <a:p>
            <a:pPr eaLnBrk="1" hangingPunct="1" indent="-445770" lvl="1" marL="742950">
              <a:spcBef>
                <a:spcPct val="20000"/>
              </a:spcBef>
              <a:buClr>
                <a:schemeClr val="accent2"/>
              </a:buClr>
              <a:buSzPct val="120000"/>
              <a:buFont typeface="Wingdings" pitchFamily="2" charset="2"/>
              <a:buChar char="§"/>
            </a:pPr>
            <a:r>
              <a:rPr altLang="en-US" sz="1600" lang="en-US">
                <a:solidFill>
                  <a:srgbClr val="000000"/>
                </a:solidFill>
              </a:rPr>
              <a:t>Only total level of utility is important</a:t>
            </a:r>
          </a:p>
        </p:txBody>
      </p:sp>
    </p:spTree>
  </p:cSld>
  <p:clrMapOvr>
    <a:masterClrMapping/>
  </p:clrMapOvr>
  <p:transition spd="fast" advClick="1"/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dur="500" id="7"/>
                                        <p:tgtEl>
                                          <p:spTgt spid="2097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" nodeType="clickPar">
                      <p:stCondLst>
                        <p:cond delay="indefinite"/>
                      </p:stCondLst>
                      <p:childTnLst>
                        <p:par>
                          <p:cTn fill="hold" id="9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0" nodeType="click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9">
                                            <p:txEl>
                                              <p:charRg st="0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dur="500" id="12"/>
                                        <p:tgtEl>
                                          <p:spTgt spid="1048689">
                                            <p:txEl>
                                              <p:charRg st="0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" nodeType="clickPar">
                      <p:stCondLst>
                        <p:cond delay="indefinite"/>
                      </p:stCondLst>
                      <p:childTnLst>
                        <p:par>
                          <p:cTn fill="hold" id="1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5" nodeType="click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9">
                                            <p:txEl>
                                              <p:charRg st="61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dur="500" id="17"/>
                                        <p:tgtEl>
                                          <p:spTgt spid="1048689">
                                            <p:txEl>
                                              <p:charRg st="61" end="1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8" nodeType="clickPar">
                      <p:stCondLst>
                        <p:cond delay="indefinite"/>
                      </p:stCondLst>
                      <p:childTnLst>
                        <p:par>
                          <p:cTn fill="hold" id="19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0" nodeType="click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9">
                                            <p:txEl>
                                              <p:charRg st="126" end="2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dur="500" id="22"/>
                                        <p:tgtEl>
                                          <p:spTgt spid="1048689">
                                            <p:txEl>
                                              <p:charRg st="126" end="2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3" nodeType="clickPar">
                      <p:stCondLst>
                        <p:cond delay="indefinite"/>
                      </p:stCondLst>
                      <p:childTnLst>
                        <p:par>
                          <p:cTn fill="hold" id="2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5" nodeType="click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9">
                                            <p:txEl>
                                              <p:charRg st="258" end="3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dur="500" id="27"/>
                                        <p:tgtEl>
                                          <p:spTgt spid="1048689">
                                            <p:txEl>
                                              <p:charRg st="258" end="3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8" nodeType="clickPar">
                      <p:stCondLst>
                        <p:cond delay="indefinite"/>
                      </p:stCondLst>
                      <p:childTnLst>
                        <p:par>
                          <p:cTn fill="hold" id="29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30" nodeType="click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9">
                                            <p:txEl>
                                              <p:charRg st="357" end="5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dur="500" id="32"/>
                                        <p:tgtEl>
                                          <p:spTgt spid="1048689">
                                            <p:txEl>
                                              <p:charRg st="357" end="5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3" nodeType="clickPar">
                      <p:stCondLst>
                        <p:cond delay="indefinite"/>
                      </p:stCondLst>
                      <p:childTnLst>
                        <p:par>
                          <p:cTn fill="hold" id="3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35" nodeType="click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9">
                                            <p:txEl>
                                              <p:charRg st="514" end="5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dur="500" id="37"/>
                                        <p:tgtEl>
                                          <p:spTgt spid="1048689">
                                            <p:txEl>
                                              <p:charRg st="514" end="5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8" nodeType="clickPar">
                      <p:stCondLst>
                        <p:cond delay="indefinite"/>
                      </p:stCondLst>
                      <p:childTnLst>
                        <p:par>
                          <p:cTn fill="hold" id="39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40" nodeType="click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9">
                                            <p:txEl>
                                              <p:charRg st="592" end="6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dur="500" id="42"/>
                                        <p:tgtEl>
                                          <p:spTgt spid="1048689">
                                            <p:txEl>
                                              <p:charRg st="592" end="6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3" nodeType="clickPar">
                      <p:stCondLst>
                        <p:cond delay="indefinite"/>
                      </p:stCondLst>
                      <p:childTnLst>
                        <p:par>
                          <p:cTn fill="hold" id="4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45" nodeType="click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9">
                                            <p:txEl>
                                              <p:charRg st="673" end="7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dur="500" id="47"/>
                                        <p:tgtEl>
                                          <p:spTgt spid="1048689">
                                            <p:txEl>
                                              <p:charRg st="673" end="7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8" nodeType="clickPar">
                      <p:stCondLst>
                        <p:cond delay="indefinite"/>
                      </p:stCondLst>
                      <p:childTnLst>
                        <p:par>
                          <p:cTn fill="hold" id="49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0" nodeType="click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9">
                                            <p:txEl>
                                              <p:charRg st="797" end="8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dur="500" id="52"/>
                                        <p:tgtEl>
                                          <p:spTgt spid="1048689">
                                            <p:txEl>
                                              <p:charRg st="797" end="8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89" grpId="0" uiExpand="0" build="p" bldLvl="3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5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90" name="Slide Number Placeholder 5"/>
          <p:cNvSpPr txBox="1"/>
          <p:nvPr/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  <a:t>16</a:t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691" name="Rectangle 2"/>
          <p:cNvSpPr/>
          <p:nvPr>
            <p:ph type="title" sz="full" idx="0"/>
          </p:nvPr>
        </p:nvSpPr>
        <p:spPr>
          <a:xfrm rot="0">
            <a:off x="0" y="0"/>
            <a:ext cx="9144000" cy="13716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1"/>
                </a:solidFill>
                <a:latin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b="1" lang="en-US"/>
              <a:t>Figure 1: Benthamite (classical utilitarian) social welfare function</a:t>
            </a:r>
          </a:p>
        </p:txBody>
      </p:sp>
      <p:pic>
        <p:nvPicPr>
          <p:cNvPr id="2097153" name="Picture 4"/>
          <p:cNvPicPr>
            <a:picLocks/>
          </p:cNvPicPr>
          <p:nvPr>
            <p:ph sz="full" idx="1"/>
          </p:nvPr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52400" y="1524000"/>
            <a:ext cx="4543425" cy="4000500"/>
          </a:xfrm>
          <a:prstGeom prst="rect"/>
          <a:noFill/>
          <a:ln>
            <a:noFill/>
          </a:ln>
        </p:spPr>
      </p:pic>
    </p:spTree>
  </p:cSld>
  <p:clrMapOvr>
    <a:masterClrMapping/>
  </p:clrMapOvr>
  <p:transition spd="fast" advClick="1"/>
  <p:timing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6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92" name="Slide Number Placeholder 5"/>
          <p:cNvSpPr txBox="1"/>
          <p:nvPr/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  <a:t>17</a:t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693" name="Rectangle 2"/>
          <p:cNvSpPr/>
          <p:nvPr>
            <p:ph type="title" sz="full" idx="0"/>
          </p:nvPr>
        </p:nvSpPr>
        <p:spPr>
          <a:xfrm rot="0">
            <a:off x="0" y="0"/>
            <a:ext cx="9144000" cy="13716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1"/>
                </a:solidFill>
                <a:latin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b="1" lang="en-US"/>
              <a:t>Weighted sum utilities</a:t>
            </a:r>
          </a:p>
        </p:txBody>
      </p:sp>
      <p:sp>
        <p:nvSpPr>
          <p:cNvPr id="1048694" name="Rectangle 3"/>
          <p:cNvSpPr/>
          <p:nvPr>
            <p:ph type="body" sz="full" idx="1"/>
          </p:nvPr>
        </p:nvSpPr>
        <p:spPr>
          <a:xfrm rot="0">
            <a:off x="152400" y="1371600"/>
            <a:ext cx="8991600" cy="5029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 typeface="Wingdings" pitchFamily="2" charset="2"/>
              <a:buChar char="n"/>
              <a:defRPr baseline="0" b="0" sz="32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Wingdings" pitchFamily="2" charset="2"/>
              <a:buChar char="§"/>
              <a:defRPr baseline="0" b="0" sz="2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2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00000"/>
              <a:buFont typeface="Wingdings" pitchFamily="2" charset="2"/>
              <a:buChar char="§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r>
              <a:rPr altLang="en-US" sz="2000" lang="en-US">
                <a:solidFill>
                  <a:srgbClr val="000000"/>
                </a:solidFill>
              </a:rPr>
              <a:t>A slight generalization of classical utilitarian function, we get a generalization of the weighted sum of utilities welfare function </a:t>
            </a:r>
          </a:p>
          <a:p>
            <a:pPr eaLnBrk="1" hangingPunct="1" lvl="1"/>
            <a:r>
              <a:rPr altLang="en-US" sz="1800" lang="en-US">
                <a:solidFill>
                  <a:srgbClr val="000000"/>
                </a:solidFill>
              </a:rPr>
              <a:t>Weighted sum of utilities is represented as </a:t>
            </a:r>
          </a:p>
        </p:txBody>
      </p:sp>
      <p:sp>
        <p:nvSpPr>
          <p:cNvPr id="1048695" name="Rectangle 4"/>
          <p:cNvSpPr/>
          <p:nvPr/>
        </p:nvSpPr>
        <p:spPr>
          <a:xfrm rot="0">
            <a:off x="152400" y="2743200"/>
            <a:ext cx="8991600" cy="4114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eaLnBrk="1" hangingPunct="1" indent="-457200" lvl="2" marL="1143000">
              <a:spcBef>
                <a:spcPct val="20000"/>
              </a:spcBef>
              <a:buClr>
                <a:schemeClr val="dk2"/>
              </a:buClr>
              <a:buSzPct val="120000"/>
              <a:buFontTx/>
              <a:buChar char="•"/>
            </a:pPr>
            <a:r>
              <a:rPr altLang="en-US" sz="1600" lang="en-US">
                <a:solidFill>
                  <a:srgbClr val="000000"/>
                </a:solidFill>
              </a:rPr>
              <a:t>Weights (</a:t>
            </a:r>
            <a:r>
              <a:rPr altLang="en-US" sz="1600" lang="en-US">
                <a:solidFill>
                  <a:srgbClr val="000000"/>
                </a:solidFill>
                <a:sym typeface="Symbol" pitchFamily="18" charset="2"/>
              </a:rPr>
              <a:t></a:t>
            </a:r>
            <a:r>
              <a:rPr altLang="en-US" baseline="-25000" sz="1600" lang="en-US">
                <a:solidFill>
                  <a:srgbClr val="000000"/>
                </a:solidFill>
              </a:rPr>
              <a:t>R</a:t>
            </a:r>
            <a:r>
              <a:rPr altLang="en-US" sz="1600" lang="en-US">
                <a:solidFill>
                  <a:srgbClr val="000000"/>
                </a:solidFill>
              </a:rPr>
              <a:t>, </a:t>
            </a:r>
            <a:r>
              <a:rPr altLang="en-US" sz="1600" lang="en-US">
                <a:solidFill>
                  <a:srgbClr val="000000"/>
                </a:solidFill>
                <a:sym typeface="Symbol" pitchFamily="18" charset="2"/>
              </a:rPr>
              <a:t></a:t>
            </a:r>
            <a:r>
              <a:rPr altLang="en-US" baseline="-25000" sz="1600" lang="en-US">
                <a:solidFill>
                  <a:srgbClr val="000000"/>
                </a:solidFill>
              </a:rPr>
              <a:t>F</a:t>
            </a:r>
            <a:r>
              <a:rPr altLang="en-US" sz="1600" lang="en-US">
                <a:solidFill>
                  <a:srgbClr val="000000"/>
                </a:solidFill>
              </a:rPr>
              <a:t>)  are numbers which indicate how important each consumer’s utility is to overall social welfare</a:t>
            </a:r>
          </a:p>
          <a:p>
            <a:pPr eaLnBrk="1" hangingPunct="1" indent="-342900" lvl="0" marL="342900">
              <a:spcBef>
                <a:spcPct val="20000"/>
              </a:spcBef>
              <a:buClr>
                <a:schemeClr val="dk2"/>
              </a:buClr>
              <a:buSzPct val="75000"/>
              <a:buFont typeface="Wingdings" pitchFamily="2" charset="2"/>
              <a:buChar char="n"/>
            </a:pPr>
            <a:r>
              <a:rPr altLang="en-US" sz="2000" lang="en-US">
                <a:solidFill>
                  <a:srgbClr val="000000"/>
                </a:solidFill>
              </a:rPr>
              <a:t>In Figure 1, utilitarian social welfare optimal allocation is tangency between social indifference curve and utility possibilities curve</a:t>
            </a:r>
          </a:p>
          <a:p>
            <a:pPr eaLnBrk="1" hangingPunct="1" indent="-445770" lvl="1" marL="742950">
              <a:spcBef>
                <a:spcPct val="20000"/>
              </a:spcBef>
              <a:buClr>
                <a:schemeClr val="accent2"/>
              </a:buClr>
              <a:buSzPct val="120000"/>
              <a:buFont typeface="Wingdings" pitchFamily="2" charset="2"/>
              <a:buChar char="§"/>
            </a:pPr>
            <a:r>
              <a:rPr altLang="en-US" lang="en-US">
                <a:solidFill>
                  <a:srgbClr val="000000"/>
                </a:solidFill>
              </a:rPr>
              <a:t>Depending on weights associated with individual consumers’ utility</a:t>
            </a:r>
          </a:p>
          <a:p>
            <a:pPr eaLnBrk="1" hangingPunct="1" indent="-457200" lvl="2" marL="1143000">
              <a:spcBef>
                <a:spcPct val="20000"/>
              </a:spcBef>
              <a:buClr>
                <a:schemeClr val="dk2"/>
              </a:buClr>
              <a:buSzPct val="120000"/>
              <a:buFontTx/>
              <a:buChar char="•"/>
            </a:pPr>
            <a:r>
              <a:rPr altLang="en-US" sz="1600" lang="en-US">
                <a:solidFill>
                  <a:srgbClr val="000000"/>
                </a:solidFill>
              </a:rPr>
              <a:t>Any Pareto-efficient point on utility possibilities frontier could be a social-welfare maximum</a:t>
            </a:r>
          </a:p>
          <a:p>
            <a:pPr eaLnBrk="1" hangingPunct="1" indent="-342900" lvl="0" marL="342900">
              <a:spcBef>
                <a:spcPct val="20000"/>
              </a:spcBef>
              <a:buClr>
                <a:schemeClr val="dk2"/>
              </a:buClr>
              <a:buSzPct val="75000"/>
              <a:buFont typeface="Wingdings" pitchFamily="2" charset="2"/>
              <a:buChar char="n"/>
            </a:pPr>
            <a:r>
              <a:rPr altLang="en-US" sz="2000" lang="en-US">
                <a:solidFill>
                  <a:srgbClr val="000000"/>
                </a:solidFill>
              </a:rPr>
              <a:t>The more egalitarian a society is, the more its social indifference curves will approach right angles</a:t>
            </a:r>
          </a:p>
          <a:p>
            <a:pPr eaLnBrk="1" hangingPunct="1" indent="-445770" lvl="1" marL="742950">
              <a:spcBef>
                <a:spcPct val="20000"/>
              </a:spcBef>
              <a:buClr>
                <a:schemeClr val="accent2"/>
              </a:buClr>
              <a:buSzPct val="120000"/>
              <a:buFont typeface="Wingdings" pitchFamily="2" charset="2"/>
              <a:buChar char="§"/>
            </a:pPr>
            <a:r>
              <a:rPr altLang="en-US" lang="en-US">
                <a:solidFill>
                  <a:srgbClr val="000000"/>
                </a:solidFill>
              </a:rPr>
              <a:t>Indicating society is concerned with equity issues of distribution</a:t>
            </a:r>
          </a:p>
          <a:p>
            <a:pPr eaLnBrk="1" hangingPunct="1" indent="-457200" lvl="2" marL="1143000">
              <a:spcBef>
                <a:spcPct val="20000"/>
              </a:spcBef>
              <a:buClr>
                <a:schemeClr val="dk2"/>
              </a:buClr>
              <a:buSzPct val="120000"/>
              <a:buFontTx/>
              <a:buChar char="•"/>
            </a:pPr>
            <a:r>
              <a:rPr altLang="en-US" sz="1600" lang="en-US">
                <a:solidFill>
                  <a:srgbClr val="000000"/>
                </a:solidFill>
              </a:rPr>
              <a:t>For a utilitarian society that is indifferent to distribution, curves are more linear</a:t>
            </a:r>
          </a:p>
          <a:p>
            <a:pPr eaLnBrk="1" hangingPunct="1" indent="-480060" lvl="3" marL="16002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</a:pPr>
            <a:r>
              <a:rPr altLang="en-US" sz="1400" lang="en-US">
                <a:solidFill>
                  <a:srgbClr val="000000"/>
                </a:solidFill>
              </a:rPr>
              <a:t>Showing society simply maximizes output</a:t>
            </a:r>
          </a:p>
        </p:txBody>
      </p:sp>
      <p:pic>
        <p:nvPicPr>
          <p:cNvPr id="2097154" name="Picture 5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990600" y="2362200"/>
            <a:ext cx="4371975" cy="400050"/>
          </a:xfrm>
          <a:prstGeom prst="rect"/>
          <a:noFill/>
          <a:ln>
            <a:noFill/>
          </a:ln>
        </p:spPr>
      </p:pic>
    </p:spTree>
  </p:cSld>
  <p:clrMapOvr>
    <a:masterClrMapping/>
  </p:clrMapOvr>
  <p:transition spd="fast" advClick="1"/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dur="500" id="7"/>
                                        <p:tgtEl>
                                          <p:spTgt spid="2097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" nodeType="clickPar">
                      <p:stCondLst>
                        <p:cond delay="indefinite"/>
                      </p:stCondLst>
                      <p:childTnLst>
                        <p:par>
                          <p:cTn fill="hold" id="9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0" nodeType="click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5">
                                            <p:txEl>
                                              <p:charRg st="0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dur="500" id="12"/>
                                        <p:tgtEl>
                                          <p:spTgt spid="1048695">
                                            <p:txEl>
                                              <p:charRg st="0" end="1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" nodeType="clickPar">
                      <p:stCondLst>
                        <p:cond delay="indefinite"/>
                      </p:stCondLst>
                      <p:childTnLst>
                        <p:par>
                          <p:cTn fill="hold" id="1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5" nodeType="click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5">
                                            <p:txEl>
                                              <p:charRg st="112" end="2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dur="500" id="17"/>
                                        <p:tgtEl>
                                          <p:spTgt spid="1048695">
                                            <p:txEl>
                                              <p:charRg st="112" end="2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8" nodeType="clickPar">
                      <p:stCondLst>
                        <p:cond delay="indefinite"/>
                      </p:stCondLst>
                      <p:childTnLst>
                        <p:par>
                          <p:cTn fill="hold" id="19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0" nodeType="click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5">
                                            <p:txEl>
                                              <p:charRg st="249" end="3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dur="500" id="22"/>
                                        <p:tgtEl>
                                          <p:spTgt spid="1048695">
                                            <p:txEl>
                                              <p:charRg st="249" end="3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3" nodeType="clickPar">
                      <p:stCondLst>
                        <p:cond delay="indefinite"/>
                      </p:stCondLst>
                      <p:childTnLst>
                        <p:par>
                          <p:cTn fill="hold" id="2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5" nodeType="click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5">
                                            <p:txEl>
                                              <p:charRg st="316" end="4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dur="500" id="27"/>
                                        <p:tgtEl>
                                          <p:spTgt spid="1048695">
                                            <p:txEl>
                                              <p:charRg st="316" end="4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8" nodeType="clickPar">
                      <p:stCondLst>
                        <p:cond delay="indefinite"/>
                      </p:stCondLst>
                      <p:childTnLst>
                        <p:par>
                          <p:cTn fill="hold" id="29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30" nodeType="click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5">
                                            <p:txEl>
                                              <p:charRg st="411" end="5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dur="500" id="32"/>
                                        <p:tgtEl>
                                          <p:spTgt spid="1048695">
                                            <p:txEl>
                                              <p:charRg st="411" end="5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3" nodeType="clickPar">
                      <p:stCondLst>
                        <p:cond delay="indefinite"/>
                      </p:stCondLst>
                      <p:childTnLst>
                        <p:par>
                          <p:cTn fill="hold" id="3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35" nodeType="click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5">
                                            <p:txEl>
                                              <p:charRg st="513" end="5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dur="500" id="37"/>
                                        <p:tgtEl>
                                          <p:spTgt spid="1048695">
                                            <p:txEl>
                                              <p:charRg st="513" end="5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8" nodeType="clickPar">
                      <p:stCondLst>
                        <p:cond delay="indefinite"/>
                      </p:stCondLst>
                      <p:childTnLst>
                        <p:par>
                          <p:cTn fill="hold" id="39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40" nodeType="click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5">
                                            <p:txEl>
                                              <p:charRg st="580" end="6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dur="500" id="42"/>
                                        <p:tgtEl>
                                          <p:spTgt spid="1048695">
                                            <p:txEl>
                                              <p:charRg st="580" end="6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43" nodeType="with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5">
                                            <p:txEl>
                                              <p:charRg st="666" end="7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dur="500" id="45"/>
                                        <p:tgtEl>
                                          <p:spTgt spid="1048695">
                                            <p:txEl>
                                              <p:charRg st="666" end="7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95" grpId="0" uiExpand="0" build="p" bldLvl="3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6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96" name="Slide Number Placeholder 5"/>
          <p:cNvSpPr txBox="1"/>
          <p:nvPr/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  <a:t>18</a:t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697" name="Rectangle 2"/>
          <p:cNvSpPr/>
          <p:nvPr>
            <p:ph type="title" sz="full" idx="0"/>
          </p:nvPr>
        </p:nvSpPr>
        <p:spPr>
          <a:xfrm rot="0">
            <a:off x="0" y="0"/>
            <a:ext cx="9144000" cy="13716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1"/>
                </a:solidFill>
                <a:latin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b="1" lang="en-US"/>
              <a:t>Minimax or Rawlsian social welfare function</a:t>
            </a:r>
          </a:p>
        </p:txBody>
      </p:sp>
      <p:sp>
        <p:nvSpPr>
          <p:cNvPr id="1048698" name="Rectangle 3"/>
          <p:cNvSpPr/>
          <p:nvPr>
            <p:ph type="body" sz="full" idx="1"/>
          </p:nvPr>
        </p:nvSpPr>
        <p:spPr>
          <a:xfrm rot="0">
            <a:off x="152400" y="1371600"/>
            <a:ext cx="8686800" cy="46863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 typeface="Wingdings" pitchFamily="2" charset="2"/>
              <a:buChar char="n"/>
              <a:defRPr baseline="0" b="0" sz="32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Wingdings" pitchFamily="2" charset="2"/>
              <a:buChar char="§"/>
              <a:defRPr baseline="0" b="0" sz="2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2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00000"/>
              <a:buFont typeface="Wingdings" pitchFamily="2" charset="2"/>
              <a:buChar char="§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r>
              <a:rPr altLang="en-US" sz="2000" lang="en-US">
                <a:solidFill>
                  <a:srgbClr val="000000"/>
                </a:solidFill>
              </a:rPr>
              <a:t>A social-welfare function resulting in equality of utilities is Rawlsian </a:t>
            </a:r>
          </a:p>
          <a:p>
            <a:pPr eaLnBrk="1" hangingPunct="1" lvl="0"/>
            <a:endParaRPr altLang="en-US" sz="2000" lang="en-US">
              <a:solidFill>
                <a:srgbClr val="000000"/>
              </a:solidFill>
            </a:endParaRPr>
          </a:p>
          <a:p>
            <a:pPr eaLnBrk="1" hangingPunct="1" lvl="0"/>
            <a:r>
              <a:rPr altLang="en-US" sz="2000" lang="en-US">
                <a:solidFill>
                  <a:srgbClr val="000000"/>
                </a:solidFill>
              </a:rPr>
              <a:t>For Robinson and Friday, this criterion sets U</a:t>
            </a:r>
            <a:r>
              <a:rPr altLang="en-US" baseline="-25000" sz="2000" lang="en-US">
                <a:solidFill>
                  <a:srgbClr val="000000"/>
                </a:solidFill>
              </a:rPr>
              <a:t>R</a:t>
            </a:r>
            <a:r>
              <a:rPr altLang="en-US" sz="2000" lang="en-US">
                <a:solidFill>
                  <a:srgbClr val="000000"/>
                </a:solidFill>
              </a:rPr>
              <a:t> = U</a:t>
            </a:r>
            <a:r>
              <a:rPr altLang="en-US" baseline="-25000" sz="2000" lang="en-US">
                <a:solidFill>
                  <a:srgbClr val="000000"/>
                </a:solidFill>
              </a:rPr>
              <a:t>F</a:t>
            </a:r>
          </a:p>
          <a:p>
            <a:pPr eaLnBrk="1" hangingPunct="1" lvl="1"/>
            <a:r>
              <a:rPr altLang="en-US" sz="1800" lang="en-US">
                <a:solidFill>
                  <a:srgbClr val="000000"/>
                </a:solidFill>
              </a:rPr>
              <a:t>Most equitable allocation maximizes utility of least-well-off consumer in society that is persons with the minimal utility. </a:t>
            </a:r>
          </a:p>
          <a:p>
            <a:pPr eaLnBrk="1" hangingPunct="1" lvl="1"/>
            <a:r>
              <a:rPr altLang="en-US" sz="1800" lang="en-US">
                <a:solidFill>
                  <a:srgbClr val="000000"/>
                </a:solidFill>
              </a:rPr>
              <a:t>Rawlsian says that social welfare can not increase unless the income of the poorest individual in the society is increased. </a:t>
            </a:r>
          </a:p>
          <a:p>
            <a:pPr eaLnBrk="1" hangingPunct="1" lvl="1"/>
            <a:r>
              <a:rPr altLang="en-US" sz="1800" lang="en-US">
                <a:solidFill>
                  <a:srgbClr val="000000"/>
                </a:solidFill>
              </a:rPr>
              <a:t>It is denoted as W (U1,…,Un) = min {U1, …., Un} </a:t>
            </a:r>
          </a:p>
          <a:p>
            <a:pPr eaLnBrk="1" hangingPunct="1" lvl="1"/>
            <a:r>
              <a:rPr altLang="en-US" sz="1800" lang="en-US">
                <a:solidFill>
                  <a:srgbClr val="000000"/>
                </a:solidFill>
              </a:rPr>
              <a:t>For Robinson and Friday, Rawlsian criterion is</a:t>
            </a:r>
          </a:p>
        </p:txBody>
      </p:sp>
      <p:pic>
        <p:nvPicPr>
          <p:cNvPr id="2097155" name="Picture 4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5943600" y="3733800"/>
            <a:ext cx="2438400" cy="762000"/>
          </a:xfrm>
          <a:prstGeom prst="rect"/>
          <a:noFill/>
          <a:ln>
            <a:noFill/>
          </a:ln>
        </p:spPr>
      </p:pic>
      <p:sp>
        <p:nvSpPr>
          <p:cNvPr id="1048699" name="Rectangle 5"/>
          <p:cNvSpPr/>
          <p:nvPr/>
        </p:nvSpPr>
        <p:spPr>
          <a:xfrm rot="0">
            <a:off x="152400" y="4495800"/>
            <a:ext cx="8686800" cy="23241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eaLnBrk="1" hangingPunct="1" indent="-342900" lvl="0" marL="342900">
              <a:spcBef>
                <a:spcPct val="20000"/>
              </a:spcBef>
              <a:buClr>
                <a:schemeClr val="dk2"/>
              </a:buClr>
              <a:buSzPct val="75000"/>
              <a:buFont typeface="Wingdings" pitchFamily="2" charset="2"/>
              <a:buChar char="n"/>
            </a:pPr>
            <a:r>
              <a:rPr altLang="en-US" sz="2000" lang="en-US">
                <a:solidFill>
                  <a:srgbClr val="000000"/>
                </a:solidFill>
              </a:rPr>
              <a:t>Maximum level of social welfare given a specific utility possibilities frontier is on Pareto-efficient utility possibilities frontier (Figure 2)</a:t>
            </a:r>
          </a:p>
          <a:p>
            <a:pPr eaLnBrk="1" hangingPunct="1" indent="-445770" lvl="1" marL="742950">
              <a:spcBef>
                <a:spcPct val="20000"/>
              </a:spcBef>
              <a:buClr>
                <a:schemeClr val="accent2"/>
              </a:buClr>
              <a:buSzPct val="120000"/>
              <a:buFont typeface="Wingdings" pitchFamily="2" charset="2"/>
              <a:buChar char="§"/>
            </a:pPr>
            <a:r>
              <a:rPr altLang="en-US" lang="en-US">
                <a:solidFill>
                  <a:srgbClr val="000000"/>
                </a:solidFill>
              </a:rPr>
              <a:t>Unless Robinson and Friday have the same utility functions</a:t>
            </a:r>
          </a:p>
          <a:p>
            <a:pPr eaLnBrk="1" hangingPunct="1" indent="-457200" lvl="2" marL="1143000">
              <a:spcBef>
                <a:spcPct val="20000"/>
              </a:spcBef>
              <a:buClr>
                <a:schemeClr val="dk2"/>
              </a:buClr>
              <a:buSzPct val="120000"/>
              <a:buFontTx/>
              <a:buChar char="•"/>
            </a:pPr>
            <a:r>
              <a:rPr altLang="en-US" sz="1600" lang="en-US">
                <a:solidFill>
                  <a:srgbClr val="000000"/>
                </a:solidFill>
              </a:rPr>
              <a:t>Equality of utilities will not result in Robinson and Friday each receiving the same commodity allocation</a:t>
            </a:r>
          </a:p>
        </p:txBody>
      </p:sp>
    </p:spTree>
  </p:cSld>
  <p:clrMapOvr>
    <a:masterClrMapping/>
  </p:clrMapOvr>
  <p:transition spd="fast" advClick="1"/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dur="500" id="7"/>
                                        <p:tgtEl>
                                          <p:spTgt spid="2097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" nodeType="clickPar">
                      <p:stCondLst>
                        <p:cond delay="indefinite"/>
                      </p:stCondLst>
                      <p:childTnLst>
                        <p:par>
                          <p:cTn fill="hold" id="9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0" nodeType="click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9">
                                            <p:txEl>
                                              <p:charRg st="0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dur="500" id="12"/>
                                        <p:tgtEl>
                                          <p:spTgt spid="1048699">
                                            <p:txEl>
                                              <p:charRg st="0" end="1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" nodeType="clickPar">
                      <p:stCondLst>
                        <p:cond delay="indefinite"/>
                      </p:stCondLst>
                      <p:childTnLst>
                        <p:par>
                          <p:cTn fill="hold" id="1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5" nodeType="click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9">
                                            <p:txEl>
                                              <p:charRg st="145" end="2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dur="500" id="17"/>
                                        <p:tgtEl>
                                          <p:spTgt spid="1048699">
                                            <p:txEl>
                                              <p:charRg st="145" end="2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8" nodeType="clickPar">
                      <p:stCondLst>
                        <p:cond delay="indefinite"/>
                      </p:stCondLst>
                      <p:childTnLst>
                        <p:par>
                          <p:cTn fill="hold" id="19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0" nodeType="click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9">
                                            <p:txEl>
                                              <p:charRg st="204" end="3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dur="500" id="22"/>
                                        <p:tgtEl>
                                          <p:spTgt spid="1048699">
                                            <p:txEl>
                                              <p:charRg st="204" end="3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99" grpId="0" uiExpand="0" build="p" bldLvl="3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6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00" name="Slide Number Placeholder 5"/>
          <p:cNvSpPr txBox="1"/>
          <p:nvPr/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  <a:t>19</a:t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701" name="Rectangle 2"/>
          <p:cNvSpPr/>
          <p:nvPr>
            <p:ph type="title" sz="full" idx="0"/>
          </p:nvPr>
        </p:nvSpPr>
        <p:spPr>
          <a:xfrm rot="0">
            <a:off x="0" y="0"/>
            <a:ext cx="9144000" cy="13716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1"/>
                </a:solidFill>
                <a:latin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b="1" lang="en-US"/>
              <a:t>Figure 2: Rawlsian social-welfare function</a:t>
            </a:r>
          </a:p>
        </p:txBody>
      </p:sp>
      <p:pic>
        <p:nvPicPr>
          <p:cNvPr id="2097156" name="Picture 4"/>
          <p:cNvPicPr>
            <a:picLocks/>
          </p:cNvPicPr>
          <p:nvPr>
            <p:ph sz="full" idx="1"/>
          </p:nvPr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52400" y="1524000"/>
            <a:ext cx="4486275" cy="3867150"/>
          </a:xfrm>
          <a:prstGeom prst="rect"/>
          <a:noFill/>
          <a:ln>
            <a:noFill/>
          </a:ln>
        </p:spPr>
      </p:pic>
    </p:spTree>
  </p:cSld>
  <p:clrMapOvr>
    <a:masterClrMapping/>
  </p:clrMapOvr>
  <p:transition spd="fast" advClick="1"/>
  <p:timing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6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02" name="Slide Number Placeholder 5"/>
          <p:cNvSpPr txBox="1"/>
          <p:nvPr/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  <a:t>20</a:t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703" name="Rectangle 2"/>
          <p:cNvSpPr/>
          <p:nvPr>
            <p:ph type="title" sz="full" idx="0"/>
          </p:nvPr>
        </p:nvSpPr>
        <p:spPr>
          <a:xfrm rot="0">
            <a:off x="0" y="0"/>
            <a:ext cx="9144000" cy="13716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1"/>
                </a:solidFill>
                <a:latin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b="1" lang="en-US"/>
              <a:t>Welfare maximization</a:t>
            </a:r>
          </a:p>
        </p:txBody>
      </p:sp>
      <p:sp>
        <p:nvSpPr>
          <p:cNvPr id="1048704" name="Rectangle 3"/>
          <p:cNvSpPr/>
          <p:nvPr>
            <p:ph type="body" sz="full" idx="1"/>
          </p:nvPr>
        </p:nvSpPr>
        <p:spPr>
          <a:xfrm rot="0">
            <a:off x="152400" y="1371600"/>
            <a:ext cx="8686800" cy="5410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 typeface="Wingdings" pitchFamily="2" charset="2"/>
              <a:buChar char="n"/>
              <a:defRPr baseline="0" b="0" sz="32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Wingdings" pitchFamily="2" charset="2"/>
              <a:buChar char="§"/>
              <a:defRPr baseline="0" b="0" sz="2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2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00000"/>
              <a:buFont typeface="Wingdings" pitchFamily="2" charset="2"/>
              <a:buChar char="§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just" eaLnBrk="1" hangingPunct="1" lvl="0"/>
            <a:r>
              <a:rPr altLang="en-US" sz="2400" lang="en-US">
                <a:solidFill>
                  <a:srgbClr val="000000"/>
                </a:solidFill>
              </a:rPr>
              <a:t>We maximize welfare function subject to a utility possibilities frontier based on individual consumers’ preferences.</a:t>
            </a:r>
          </a:p>
          <a:p>
            <a:pPr algn="just" eaLnBrk="1" hangingPunct="1" lvl="0"/>
            <a:r>
              <a:rPr altLang="en-US" sz="2400" lang="en-US">
                <a:solidFill>
                  <a:srgbClr val="000000"/>
                </a:solidFill>
              </a:rPr>
              <a:t>The logic behind welfare maximization is to find ways of attaining equitable allocation that maximizes welfare.</a:t>
            </a:r>
          </a:p>
          <a:p>
            <a:pPr algn="just" eaLnBrk="1" hangingPunct="1" lvl="0"/>
            <a:r>
              <a:rPr altLang="en-US" sz="2400" lang="en-US">
                <a:solidFill>
                  <a:srgbClr val="000000"/>
                </a:solidFill>
              </a:rPr>
              <a:t>Consider pure-exchange economy we discussed in GE i.e., 2-consumer (Friday and Robinson), 2-commodity (q</a:t>
            </a:r>
            <a:r>
              <a:rPr altLang="en-US" baseline="-25000" sz="2400" lang="en-US">
                <a:solidFill>
                  <a:srgbClr val="000000"/>
                </a:solidFill>
              </a:rPr>
              <a:t>1</a:t>
            </a:r>
            <a:r>
              <a:rPr altLang="en-US" sz="2400" lang="en-US">
                <a:solidFill>
                  <a:srgbClr val="000000"/>
                </a:solidFill>
              </a:rPr>
              <a:t> and q</a:t>
            </a:r>
            <a:r>
              <a:rPr altLang="en-US" baseline="-25000" sz="2400" lang="en-US">
                <a:solidFill>
                  <a:srgbClr val="000000"/>
                </a:solidFill>
              </a:rPr>
              <a:t>2</a:t>
            </a:r>
            <a:r>
              <a:rPr altLang="en-US" sz="2400" lang="en-US">
                <a:solidFill>
                  <a:srgbClr val="000000"/>
                </a:solidFill>
              </a:rPr>
              <a:t>) </a:t>
            </a:r>
          </a:p>
          <a:p>
            <a:pPr algn="just" eaLnBrk="1" hangingPunct="1" lvl="0"/>
            <a:r>
              <a:rPr altLang="en-US" sz="2400" lang="en-US">
                <a:solidFill>
                  <a:srgbClr val="000000"/>
                </a:solidFill>
              </a:rPr>
              <a:t>Only points on contract curve can be considered as possible candidates for a social optimum. </a:t>
            </a:r>
            <a:r>
              <a:rPr altLang="en-US" sz="2000" lang="en-US">
                <a:solidFill>
                  <a:srgbClr val="000000"/>
                </a:solidFill>
              </a:rPr>
              <a:t>For example, points P</a:t>
            </a:r>
            <a:r>
              <a:rPr altLang="en-US" baseline="-25000" sz="2000" lang="en-US">
                <a:solidFill>
                  <a:srgbClr val="000000"/>
                </a:solidFill>
              </a:rPr>
              <a:t>1</a:t>
            </a:r>
            <a:r>
              <a:rPr altLang="en-US" sz="2000" lang="en-US">
                <a:solidFill>
                  <a:srgbClr val="000000"/>
                </a:solidFill>
              </a:rPr>
              <a:t>, P</a:t>
            </a:r>
            <a:r>
              <a:rPr altLang="en-US" baseline="-25000" sz="2000" lang="en-US">
                <a:solidFill>
                  <a:srgbClr val="000000"/>
                </a:solidFill>
              </a:rPr>
              <a:t>2</a:t>
            </a:r>
            <a:r>
              <a:rPr altLang="en-US" sz="2000" lang="en-US">
                <a:solidFill>
                  <a:srgbClr val="000000"/>
                </a:solidFill>
              </a:rPr>
              <a:t>, and P</a:t>
            </a:r>
            <a:r>
              <a:rPr altLang="en-US" baseline="-25000" sz="2000" lang="en-US">
                <a:solidFill>
                  <a:srgbClr val="000000"/>
                </a:solidFill>
              </a:rPr>
              <a:t>3</a:t>
            </a:r>
            <a:r>
              <a:rPr altLang="en-US" sz="2000" lang="en-US">
                <a:solidFill>
                  <a:srgbClr val="000000"/>
                </a:solidFill>
              </a:rPr>
              <a:t> represent tangencies of Friday’s and Robinson’s indifference curves</a:t>
            </a:r>
          </a:p>
          <a:p>
            <a:pPr algn="just" eaLnBrk="1" hangingPunct="1" lvl="2"/>
            <a:r>
              <a:rPr altLang="en-US" sz="1800" lang="en-US">
                <a:solidFill>
                  <a:srgbClr val="000000"/>
                </a:solidFill>
              </a:rPr>
              <a:t>Any point off this contract curve is not Pareto efficient because it is </a:t>
            </a:r>
            <a:r>
              <a:rPr altLang="en-US" sz="1600" lang="en-US">
                <a:solidFill>
                  <a:srgbClr val="000000"/>
                </a:solidFill>
              </a:rPr>
              <a:t>possible to increase welfare of one consumer without reducing welfare of the other</a:t>
            </a:r>
          </a:p>
          <a:p>
            <a:pPr algn="just" eaLnBrk="1" hangingPunct="1" lvl="0"/>
            <a:r>
              <a:rPr altLang="en-US" sz="2400" lang="en-US">
                <a:solidFill>
                  <a:srgbClr val="000000"/>
                </a:solidFill>
              </a:rPr>
              <a:t>From contract curve, we can derive a utility possibilities frontier</a:t>
            </a:r>
          </a:p>
          <a:p>
            <a:pPr algn="just" eaLnBrk="1" hangingPunct="1" lvl="1"/>
            <a:r>
              <a:rPr altLang="en-US" sz="2000" lang="en-US">
                <a:solidFill>
                  <a:srgbClr val="000000"/>
                </a:solidFill>
              </a:rPr>
              <a:t>Theoretically similar in construction to production possibilities frontier</a:t>
            </a:r>
          </a:p>
        </p:txBody>
      </p:sp>
    </p:spTree>
  </p:cSld>
  <p:clrMapOvr>
    <a:masterClrMapping/>
  </p:clrMapOvr>
  <p:transition spd="fast" advClick="1"/>
  <p:timing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6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05" name="Slide Number Placeholder 5"/>
          <p:cNvSpPr txBox="1"/>
          <p:nvPr/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  <a:t>21</a:t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706" name="Rectangle 2"/>
          <p:cNvSpPr/>
          <p:nvPr>
            <p:ph type="title" sz="full" idx="0"/>
          </p:nvPr>
        </p:nvSpPr>
        <p:spPr>
          <a:xfrm rot="0">
            <a:off x="0" y="0"/>
            <a:ext cx="9144000" cy="13716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1"/>
                </a:solidFill>
                <a:latin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b="1" lang="en-US"/>
              <a:t>Figure 3: Utility possibilities frontier</a:t>
            </a:r>
          </a:p>
        </p:txBody>
      </p:sp>
      <p:pic>
        <p:nvPicPr>
          <p:cNvPr id="2097157" name="Picture 4"/>
          <p:cNvPicPr>
            <a:picLocks/>
          </p:cNvPicPr>
          <p:nvPr>
            <p:ph sz="full" idx="1"/>
          </p:nvPr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52400" y="1524000"/>
            <a:ext cx="7291387" cy="4686300"/>
          </a:xfrm>
          <a:prstGeom prst="rect"/>
          <a:noFill/>
          <a:ln>
            <a:noFill/>
          </a:ln>
        </p:spPr>
      </p:pic>
    </p:spTree>
  </p:cSld>
  <p:clrMapOvr>
    <a:masterClrMapping/>
  </p:clrMapOvr>
  <p:transition spd="fast" advClick="1"/>
  <p:timing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6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07" name="Slide Number Placeholder 5"/>
          <p:cNvSpPr txBox="1"/>
          <p:nvPr/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  <a:t>22</a:t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708" name="Rectangle 2"/>
          <p:cNvSpPr/>
          <p:nvPr>
            <p:ph type="title" sz="full" idx="0"/>
          </p:nvPr>
        </p:nvSpPr>
        <p:spPr>
          <a:xfrm rot="0">
            <a:off x="0" y="0"/>
            <a:ext cx="9144000" cy="13716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1"/>
                </a:solidFill>
                <a:latin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b="1" lang="en-US"/>
              <a:t>Maximizing Social Welfare</a:t>
            </a:r>
            <a:r>
              <a:rPr altLang="en-US" b="1" lang="en-US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1048709" name="Rectangle 3"/>
          <p:cNvSpPr/>
          <p:nvPr>
            <p:ph type="body" sz="full" idx="1"/>
          </p:nvPr>
        </p:nvSpPr>
        <p:spPr>
          <a:xfrm rot="0">
            <a:off x="152400" y="1371600"/>
            <a:ext cx="8686800" cy="46863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 typeface="Wingdings" pitchFamily="2" charset="2"/>
              <a:buChar char="n"/>
              <a:defRPr baseline="0" b="0" sz="32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Wingdings" pitchFamily="2" charset="2"/>
              <a:buChar char="§"/>
              <a:defRPr baseline="0" b="0" sz="2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2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00000"/>
              <a:buFont typeface="Wingdings" pitchFamily="2" charset="2"/>
              <a:buChar char="§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just" eaLnBrk="1" hangingPunct="1" lvl="0"/>
            <a:r>
              <a:rPr altLang="en-US" sz="2400" lang="en-US">
                <a:solidFill>
                  <a:srgbClr val="000000"/>
                </a:solidFill>
              </a:rPr>
              <a:t>Efforts by governments to achieve a more equitable allocation are costly in terms of possibly generating inefficiencies within an economy</a:t>
            </a:r>
          </a:p>
          <a:p>
            <a:pPr algn="just" eaLnBrk="1" hangingPunct="1" indent="-274320" lvl="1" marL="457200">
              <a:buNone/>
            </a:pPr>
            <a:endParaRPr altLang="en-US" sz="1800" lang="en-US">
              <a:solidFill>
                <a:srgbClr val="000000"/>
              </a:solidFill>
            </a:endParaRPr>
          </a:p>
          <a:p>
            <a:pPr algn="just" eaLnBrk="1" hangingPunct="1" lvl="0"/>
            <a:r>
              <a:rPr altLang="en-US" sz="2400" lang="en-US">
                <a:solidFill>
                  <a:srgbClr val="000000"/>
                </a:solidFill>
              </a:rPr>
              <a:t>Can use concept of a social-welfare function as method for determining socially optimal allocation among points on a utility possibilities frontier</a:t>
            </a:r>
          </a:p>
          <a:p>
            <a:pPr algn="just" eaLnBrk="1" hangingPunct="1" indent="-274320" lvl="1" marL="457200"/>
            <a:endParaRPr altLang="en-US" sz="2000" lang="en-US">
              <a:solidFill>
                <a:srgbClr val="000000"/>
              </a:solidFill>
            </a:endParaRPr>
          </a:p>
          <a:p>
            <a:pPr algn="just" eaLnBrk="1" hangingPunct="1" indent="-274320" lvl="1" marL="457200"/>
            <a:r>
              <a:rPr altLang="en-US" sz="2000" lang="en-US">
                <a:solidFill>
                  <a:srgbClr val="000000"/>
                </a:solidFill>
              </a:rPr>
              <a:t>With a social-welfare function, can determine point that maximizes social welfare in terms of both equity and efficiency criteria subject to utility possibilities frontier</a:t>
            </a:r>
          </a:p>
        </p:txBody>
      </p:sp>
    </p:spTree>
  </p:cSld>
  <p:clrMapOvr>
    <a:masterClrMapping/>
  </p:clrMapOvr>
  <p:transition spd="fast" advClick="1"/>
  <p:timing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6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10" name="Slide Number Placeholder 5"/>
          <p:cNvSpPr txBox="1"/>
          <p:nvPr/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  <a:t>23</a:t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711" name="Rectangle 2"/>
          <p:cNvSpPr/>
          <p:nvPr>
            <p:ph type="title" sz="full" idx="0"/>
          </p:nvPr>
        </p:nvSpPr>
        <p:spPr>
          <a:xfrm rot="0">
            <a:off x="0" y="0"/>
            <a:ext cx="9144000" cy="13716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1"/>
                </a:solidFill>
                <a:latin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b="1" lang="en-US"/>
              <a:t>Maximizing Social</a:t>
            </a:r>
            <a:r>
              <a:rPr altLang="en-US" b="1" lang="en-US">
                <a:solidFill>
                  <a:srgbClr val="000000"/>
                </a:solidFill>
              </a:rPr>
              <a:t> </a:t>
            </a:r>
            <a:r>
              <a:rPr altLang="en-US" b="1" lang="en-US"/>
              <a:t>Welfare</a:t>
            </a:r>
            <a:r>
              <a:rPr altLang="en-US" b="1" lang="en-US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1048712" name="Rectangle 3"/>
          <p:cNvSpPr/>
          <p:nvPr>
            <p:ph type="body" sz="full" idx="1"/>
          </p:nvPr>
        </p:nvSpPr>
        <p:spPr>
          <a:xfrm rot="0">
            <a:off x="152400" y="1371600"/>
            <a:ext cx="8686800" cy="46863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 typeface="Wingdings" pitchFamily="2" charset="2"/>
              <a:buChar char="n"/>
              <a:defRPr baseline="0" b="0" sz="32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Wingdings" pitchFamily="2" charset="2"/>
              <a:buChar char="§"/>
              <a:defRPr baseline="0" b="0" sz="2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2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00000"/>
              <a:buFont typeface="Wingdings" pitchFamily="2" charset="2"/>
              <a:buChar char="§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r>
              <a:rPr altLang="en-US" sz="1800" lang="en-US">
                <a:solidFill>
                  <a:srgbClr val="000000"/>
                </a:solidFill>
              </a:rPr>
              <a:t>For example, consider following social-welfare function, U, for an economy consisting of two consumers (Robinson, R, and Friday, F)</a:t>
            </a:r>
          </a:p>
        </p:txBody>
      </p:sp>
      <p:pic>
        <p:nvPicPr>
          <p:cNvPr id="2097158" name="Picture 4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533400" y="2057400"/>
            <a:ext cx="1514475" cy="323850"/>
          </a:xfrm>
          <a:prstGeom prst="rect"/>
          <a:noFill/>
          <a:ln>
            <a:noFill/>
          </a:ln>
        </p:spPr>
      </p:pic>
      <p:sp>
        <p:nvSpPr>
          <p:cNvPr id="1048713" name="Rectangle 5"/>
          <p:cNvSpPr/>
          <p:nvPr/>
        </p:nvSpPr>
        <p:spPr>
          <a:xfrm rot="0">
            <a:off x="152400" y="2438400"/>
            <a:ext cx="8686800" cy="46863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eaLnBrk="1" hangingPunct="1" indent="-342900" lvl="0" marL="342900">
              <a:spcBef>
                <a:spcPct val="20000"/>
              </a:spcBef>
              <a:buClr>
                <a:schemeClr val="dk2"/>
              </a:buClr>
              <a:buSzPct val="75000"/>
              <a:buFont typeface="Wingdings" pitchFamily="2" charset="2"/>
              <a:buChar char="n"/>
            </a:pPr>
            <a:r>
              <a:rPr altLang="en-US" lang="en-US">
                <a:solidFill>
                  <a:srgbClr val="000000"/>
                </a:solidFill>
              </a:rPr>
              <a:t>Assuming a diminishing marginal rate of substitution between consumer utilities, we can determine convex </a:t>
            </a:r>
            <a:r>
              <a:rPr altLang="en-US" b="1" lang="en-US">
                <a:solidFill>
                  <a:srgbClr val="000000"/>
                </a:solidFill>
              </a:rPr>
              <a:t>social indifference, </a:t>
            </a:r>
            <a:r>
              <a:rPr altLang="en-US" lang="en-US">
                <a:solidFill>
                  <a:srgbClr val="000000"/>
                </a:solidFill>
              </a:rPr>
              <a:t>or </a:t>
            </a:r>
            <a:r>
              <a:rPr altLang="en-US" b="1" lang="en-US">
                <a:solidFill>
                  <a:srgbClr val="000000"/>
                </a:solidFill>
              </a:rPr>
              <a:t>isowelfare, curves</a:t>
            </a:r>
          </a:p>
          <a:p>
            <a:pPr eaLnBrk="1" hangingPunct="1" indent="-445770" lvl="1" marL="742950">
              <a:spcBef>
                <a:spcPct val="20000"/>
              </a:spcBef>
              <a:buClr>
                <a:schemeClr val="accent2"/>
              </a:buClr>
              <a:buSzPct val="120000"/>
              <a:buFont typeface="Wingdings" pitchFamily="2" charset="2"/>
              <a:buChar char="§"/>
            </a:pPr>
            <a:r>
              <a:rPr altLang="en-US" sz="1600" lang="en-US">
                <a:solidFill>
                  <a:srgbClr val="000000"/>
                </a:solidFill>
              </a:rPr>
              <a:t>Assumption implies that society has inequality aversion</a:t>
            </a:r>
          </a:p>
          <a:p>
            <a:pPr eaLnBrk="1" hangingPunct="1" indent="-457200" lvl="2" marL="1143000">
              <a:spcBef>
                <a:spcPct val="20000"/>
              </a:spcBef>
              <a:buClr>
                <a:schemeClr val="dk2"/>
              </a:buClr>
              <a:buSzPct val="120000"/>
              <a:buFontTx/>
              <a:buChar char="•"/>
            </a:pPr>
            <a:r>
              <a:rPr altLang="en-US" sz="1400" lang="en-US">
                <a:solidFill>
                  <a:srgbClr val="000000"/>
                </a:solidFill>
              </a:rPr>
              <a:t>Where (holding social welfare constant) the more satisfaction Robinson has the less society is willing to give up Friday’s utility for one more unit of Robinson’s utility</a:t>
            </a:r>
          </a:p>
          <a:p>
            <a:pPr eaLnBrk="1" hangingPunct="1" indent="-445770" lvl="1" marL="742950">
              <a:spcBef>
                <a:spcPct val="20000"/>
              </a:spcBef>
              <a:buClr>
                <a:schemeClr val="accent2"/>
              </a:buClr>
              <a:buSzPct val="120000"/>
              <a:buFont typeface="Wingdings" pitchFamily="2" charset="2"/>
              <a:buChar char="§"/>
            </a:pPr>
            <a:r>
              <a:rPr altLang="en-US" sz="1600" lang="en-US">
                <a:solidFill>
                  <a:srgbClr val="000000"/>
                </a:solidFill>
              </a:rPr>
              <a:t>The tangency between a social indifference curve and utility possibilities frontier results in maximum level of social welfare</a:t>
            </a:r>
          </a:p>
          <a:p>
            <a:pPr eaLnBrk="1" hangingPunct="1" indent="-457200" lvl="2" marL="1143000">
              <a:spcBef>
                <a:spcPct val="20000"/>
              </a:spcBef>
              <a:buClr>
                <a:schemeClr val="dk2"/>
              </a:buClr>
              <a:buSzPct val="120000"/>
              <a:buFontTx/>
              <a:buChar char="•"/>
            </a:pPr>
            <a:r>
              <a:rPr altLang="en-US" sz="1400" lang="en-US">
                <a:solidFill>
                  <a:srgbClr val="000000"/>
                </a:solidFill>
              </a:rPr>
              <a:t>Point P</a:t>
            </a:r>
            <a:r>
              <a:rPr altLang="en-US" baseline="-25000" sz="1400" lang="en-US">
                <a:solidFill>
                  <a:srgbClr val="000000"/>
                </a:solidFill>
              </a:rPr>
              <a:t>2</a:t>
            </a:r>
            <a:r>
              <a:rPr altLang="en-US" sz="1400" lang="en-US">
                <a:solidFill>
                  <a:srgbClr val="000000"/>
                </a:solidFill>
              </a:rPr>
              <a:t> is only point on utility possibilities frontier where there is no other point preferred to it </a:t>
            </a:r>
          </a:p>
          <a:p>
            <a:pPr eaLnBrk="1" hangingPunct="1" indent="-480060" lvl="3" marL="16002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</a:pPr>
            <a:r>
              <a:rPr altLang="en-US" sz="1200" lang="en-US">
                <a:solidFill>
                  <a:srgbClr val="000000"/>
                </a:solidFill>
              </a:rPr>
              <a:t>For example, point P</a:t>
            </a:r>
            <a:r>
              <a:rPr altLang="en-US" baseline="-25000" sz="1200" lang="en-US">
                <a:solidFill>
                  <a:srgbClr val="000000"/>
                </a:solidFill>
              </a:rPr>
              <a:t>3</a:t>
            </a:r>
            <a:r>
              <a:rPr altLang="en-US" sz="1200" lang="en-US">
                <a:solidFill>
                  <a:srgbClr val="000000"/>
                </a:solidFill>
              </a:rPr>
              <a:t> is Pareto efficient but there are points that are preferred to P</a:t>
            </a:r>
            <a:r>
              <a:rPr altLang="en-US" baseline="-25000" sz="1200" lang="en-US">
                <a:solidFill>
                  <a:srgbClr val="000000"/>
                </a:solidFill>
              </a:rPr>
              <a:t>3</a:t>
            </a:r>
          </a:p>
          <a:p>
            <a:pPr eaLnBrk="1" hangingPunct="1" indent="-480060" lvl="3" marL="16002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</a:pPr>
            <a:r>
              <a:rPr altLang="en-US" sz="1200" lang="en-US">
                <a:solidFill>
                  <a:srgbClr val="000000"/>
                </a:solidFill>
              </a:rPr>
              <a:t>Even though point A is Pareto inefficient, society prefers it over Pareto-efficient point P</a:t>
            </a:r>
            <a:r>
              <a:rPr altLang="en-US" baseline="-25000" sz="1200" lang="en-US">
                <a:solidFill>
                  <a:srgbClr val="000000"/>
                </a:solidFill>
              </a:rPr>
              <a:t>3</a:t>
            </a:r>
          </a:p>
          <a:p>
            <a:pPr eaLnBrk="1" hangingPunct="1" indent="-445770" lvl="1" marL="742950">
              <a:spcBef>
                <a:spcPct val="20000"/>
              </a:spcBef>
              <a:buClr>
                <a:schemeClr val="accent2"/>
              </a:buClr>
              <a:buSzPct val="120000"/>
              <a:buFont typeface="Wingdings" pitchFamily="2" charset="2"/>
              <a:buChar char="§"/>
            </a:pPr>
            <a:r>
              <a:rPr altLang="en-US" sz="1600" lang="en-US">
                <a:solidFill>
                  <a:srgbClr val="000000"/>
                </a:solidFill>
              </a:rPr>
              <a:t>Using maximum level of social welfare, point P</a:t>
            </a:r>
            <a:r>
              <a:rPr altLang="en-US" baseline="-25000" sz="1600" lang="en-US">
                <a:solidFill>
                  <a:srgbClr val="000000"/>
                </a:solidFill>
              </a:rPr>
              <a:t>2</a:t>
            </a:r>
            <a:r>
              <a:rPr altLang="en-US" sz="1600" lang="en-US">
                <a:solidFill>
                  <a:srgbClr val="000000"/>
                </a:solidFill>
              </a:rPr>
              <a:t>, we determine optimal allocation of commodities in Edgeworth box  for a pure-exchange economy</a:t>
            </a:r>
          </a:p>
          <a:p>
            <a:pPr eaLnBrk="1" hangingPunct="1" indent="-457200" lvl="2" marL="1143000">
              <a:spcBef>
                <a:spcPct val="20000"/>
              </a:spcBef>
              <a:buClr>
                <a:schemeClr val="dk2"/>
              </a:buClr>
              <a:buSzPct val="120000"/>
              <a:buFontTx/>
              <a:buChar char="•"/>
            </a:pPr>
            <a:r>
              <a:rPr altLang="en-US" sz="1400" lang="en-US">
                <a:solidFill>
                  <a:srgbClr val="000000"/>
                </a:solidFill>
              </a:rPr>
              <a:t>Or in production possibilities frontier for a production economy</a:t>
            </a:r>
          </a:p>
        </p:txBody>
      </p:sp>
    </p:spTree>
  </p:cSld>
  <p:clrMapOvr>
    <a:masterClrMapping/>
  </p:clrMapOvr>
  <p:transition spd="fast" advClick="1"/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dur="500" id="7"/>
                                        <p:tgtEl>
                                          <p:spTgt spid="209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" nodeType="clickPar">
                      <p:stCondLst>
                        <p:cond delay="indefinite"/>
                      </p:stCondLst>
                      <p:childTnLst>
                        <p:par>
                          <p:cTn fill="hold" id="9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0" nodeType="click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3">
                                            <p:txEl>
                                              <p:charRg st="0" end="1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dur="500" id="12"/>
                                        <p:tgtEl>
                                          <p:spTgt spid="1048713">
                                            <p:txEl>
                                              <p:charRg st="0" end="1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" nodeType="clickPar">
                      <p:stCondLst>
                        <p:cond delay="indefinite"/>
                      </p:stCondLst>
                      <p:childTnLst>
                        <p:par>
                          <p:cTn fill="hold" id="1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5" nodeType="click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3">
                                            <p:txEl>
                                              <p:charRg st="148" end="2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dur="500" id="17"/>
                                        <p:tgtEl>
                                          <p:spTgt spid="1048713">
                                            <p:txEl>
                                              <p:charRg st="148" end="2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8" nodeType="clickPar">
                      <p:stCondLst>
                        <p:cond delay="indefinite"/>
                      </p:stCondLst>
                      <p:childTnLst>
                        <p:par>
                          <p:cTn fill="hold" id="19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0" nodeType="click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3">
                                            <p:txEl>
                                              <p:charRg st="204" end="3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dur="500" id="22"/>
                                        <p:tgtEl>
                                          <p:spTgt spid="1048713">
                                            <p:txEl>
                                              <p:charRg st="204" end="3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3" nodeType="clickPar">
                      <p:stCondLst>
                        <p:cond delay="indefinite"/>
                      </p:stCondLst>
                      <p:childTnLst>
                        <p:par>
                          <p:cTn fill="hold" id="2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5" nodeType="click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3">
                                            <p:txEl>
                                              <p:charRg st="375" end="5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dur="500" id="27"/>
                                        <p:tgtEl>
                                          <p:spTgt spid="1048713">
                                            <p:txEl>
                                              <p:charRg st="375" end="5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8" nodeType="clickPar">
                      <p:stCondLst>
                        <p:cond delay="indefinite"/>
                      </p:stCondLst>
                      <p:childTnLst>
                        <p:par>
                          <p:cTn fill="hold" id="29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30" nodeType="click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3">
                                            <p:txEl>
                                              <p:charRg st="502" end="6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dur="500" id="32"/>
                                        <p:tgtEl>
                                          <p:spTgt spid="1048713">
                                            <p:txEl>
                                              <p:charRg st="502" end="6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33" nodeType="with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3">
                                            <p:txEl>
                                              <p:charRg st="606" end="6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dur="500" id="35"/>
                                        <p:tgtEl>
                                          <p:spTgt spid="1048713">
                                            <p:txEl>
                                              <p:charRg st="606" end="6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36" nodeType="with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3">
                                            <p:txEl>
                                              <p:charRg st="694" end="7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dur="500" id="38"/>
                                        <p:tgtEl>
                                          <p:spTgt spid="1048713">
                                            <p:txEl>
                                              <p:charRg st="694" end="7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9" nodeType="clickPar">
                      <p:stCondLst>
                        <p:cond delay="indefinite"/>
                      </p:stCondLst>
                      <p:childTnLst>
                        <p:par>
                          <p:cTn fill="hold" id="40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41" nodeType="click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3">
                                            <p:txEl>
                                              <p:charRg st="787" end="9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dur="500" id="43"/>
                                        <p:tgtEl>
                                          <p:spTgt spid="1048713">
                                            <p:txEl>
                                              <p:charRg st="787" end="9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4" nodeType="clickPar">
                      <p:stCondLst>
                        <p:cond delay="indefinite"/>
                      </p:stCondLst>
                      <p:childTnLst>
                        <p:par>
                          <p:cTn fill="hold" id="45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46" nodeType="click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3">
                                            <p:txEl>
                                              <p:charRg st="929" end="9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dur="500" id="48"/>
                                        <p:tgtEl>
                                          <p:spTgt spid="1048713">
                                            <p:txEl>
                                              <p:charRg st="929" end="9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13" grpId="0" uiExpand="0" build="p" bldLvl="3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6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14" name="Slide Number Placeholder 5"/>
          <p:cNvSpPr txBox="1"/>
          <p:nvPr/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  <a:t>24</a:t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715" name="Rectangle 2"/>
          <p:cNvSpPr/>
          <p:nvPr>
            <p:ph type="title" sz="full" idx="0"/>
          </p:nvPr>
        </p:nvSpPr>
        <p:spPr>
          <a:xfrm rot="0">
            <a:off x="0" y="0"/>
            <a:ext cx="9144000" cy="13716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1"/>
                </a:solidFill>
                <a:latin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b="1" lang="en-US"/>
              <a:t>Figure 4 Maximizing social welfare</a:t>
            </a:r>
          </a:p>
        </p:txBody>
      </p:sp>
      <p:pic>
        <p:nvPicPr>
          <p:cNvPr id="2097159" name="Picture 4"/>
          <p:cNvPicPr>
            <a:picLocks/>
          </p:cNvPicPr>
          <p:nvPr>
            <p:ph sz="full" idx="1"/>
          </p:nvPr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52400" y="1524000"/>
            <a:ext cx="6340475" cy="4686300"/>
          </a:xfrm>
          <a:prstGeom prst="rect"/>
          <a:noFill/>
          <a:ln>
            <a:noFill/>
          </a:ln>
        </p:spPr>
      </p:pic>
    </p:spTree>
  </p:cSld>
  <p:clrMapOvr>
    <a:masterClrMapping/>
  </p:clrMapOvr>
  <p:transition spd="fast" advClick="1"/>
  <p:timing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6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16" name="Title 1"/>
          <p:cNvSpPr/>
          <p:nvPr>
            <p:ph type="title" sz="full" idx="0"/>
          </p:nvPr>
        </p:nvSpPr>
        <p:spPr>
          <a:xfrm rot="0">
            <a:off x="0" y="0"/>
            <a:ext cx="9144000" cy="13716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1"/>
                </a:solidFill>
                <a:latin typeface="Arial" pitchFamily="0" charset="0"/>
                <a:sym typeface="Arial" pitchFamily="0" charset="0"/>
              </a:defRPr>
            </a:lvl1pPr>
          </a:lstStyle>
          <a:p>
            <a:r>
              <a:rPr altLang="en-US" lang="en-US"/>
              <a:t>Welfare maximization</a:t>
            </a:r>
          </a:p>
        </p:txBody>
      </p:sp>
      <p:sp>
        <p:nvSpPr>
          <p:cNvPr id="1048717" name="Content Placeholder 2"/>
          <p:cNvSpPr/>
          <p:nvPr>
            <p:ph sz="full" idx="1"/>
          </p:nvPr>
        </p:nvSpPr>
        <p:spPr>
          <a:xfrm rot="0">
            <a:off x="152400" y="1371600"/>
            <a:ext cx="8686800" cy="5257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 typeface="Wingdings" pitchFamily="2" charset="2"/>
              <a:buChar char="n"/>
              <a:defRPr baseline="0" b="0" sz="32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Wingdings" pitchFamily="2" charset="2"/>
              <a:buChar char="§"/>
              <a:defRPr baseline="0" b="0" sz="2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2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00000"/>
              <a:buFont typeface="Wingdings" pitchFamily="2" charset="2"/>
              <a:buChar char="§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lvl="0"/>
            <a:r>
              <a:rPr altLang="en-US" sz="2400" lang="en-US">
                <a:solidFill>
                  <a:srgbClr val="000000"/>
                </a:solidFill>
              </a:rPr>
              <a:t>Isowelfare curves: Shows combination of utilities which give the same social welfare to the society.</a:t>
            </a:r>
          </a:p>
          <a:p>
            <a:pPr lvl="0">
              <a:buNone/>
            </a:pPr>
            <a:endParaRPr altLang="en-US" sz="2400" lang="en-US">
              <a:solidFill>
                <a:srgbClr val="000000"/>
              </a:solidFill>
            </a:endParaRPr>
          </a:p>
          <a:p>
            <a:pPr lvl="0">
              <a:buNone/>
            </a:pPr>
            <a:r>
              <a:rPr altLang="en-US" sz="2400" lang="en-US">
                <a:solidFill>
                  <a:srgbClr val="000000"/>
                </a:solidFill>
              </a:rPr>
              <a:t>What observations do we pick from the figure?</a:t>
            </a:r>
          </a:p>
          <a:p>
            <a:pPr algn="just" lvl="0"/>
            <a:r>
              <a:rPr altLang="en-US" sz="2400" lang="en-US">
                <a:solidFill>
                  <a:srgbClr val="000000"/>
                </a:solidFill>
              </a:rPr>
              <a:t>1. A </a:t>
            </a:r>
            <a:r>
              <a:rPr altLang="en-US" sz="2400" lang="en-US">
                <a:solidFill>
                  <a:srgbClr val="000000"/>
                </a:solidFill>
              </a:rPr>
              <a:t>maximal welfare allocation must be Pareto efficient </a:t>
            </a:r>
            <a:r>
              <a:rPr altLang="en-US" sz="2400" lang="en-US">
                <a:solidFill>
                  <a:srgbClr val="000000"/>
                </a:solidFill>
              </a:rPr>
              <a:t>allocation (1</a:t>
            </a:r>
            <a:r>
              <a:rPr altLang="en-US" baseline="30000" sz="2400" lang="en-US">
                <a:solidFill>
                  <a:srgbClr val="000000"/>
                </a:solidFill>
              </a:rPr>
              <a:t>st</a:t>
            </a:r>
            <a:r>
              <a:rPr altLang="en-US" sz="2400" lang="en-US">
                <a:solidFill>
                  <a:srgbClr val="000000"/>
                </a:solidFill>
              </a:rPr>
              <a:t> theorem of welfare)</a:t>
            </a:r>
          </a:p>
          <a:p>
            <a:pPr algn="just" lvl="0"/>
            <a:r>
              <a:rPr altLang="en-US" sz="2400" lang="en-US"/>
              <a:t>2. Any Pareto efficient allocation must be a welfare maximization for some welfare function (2</a:t>
            </a:r>
            <a:r>
              <a:rPr altLang="en-US" baseline="30000" sz="2400" lang="en-US"/>
              <a:t>nd</a:t>
            </a:r>
            <a:r>
              <a:rPr altLang="en-US" sz="2400" lang="en-US"/>
              <a:t> theorem of welfare)</a:t>
            </a:r>
          </a:p>
        </p:txBody>
      </p:sp>
      <p:sp>
        <p:nvSpPr>
          <p:cNvPr id="1048718" name="Slide Number Placeholder 3"/>
          <p:cNvSpPr txBox="1"/>
          <p:nvPr/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  <a:t>25</a:t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ransition spd="fast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6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19" name="Slide Number Placeholder 5"/>
          <p:cNvSpPr txBox="1"/>
          <p:nvPr/>
        </p:nvSpPr>
        <p:spPr>
          <a:xfrm rot="0">
            <a:off x="7010400" y="6400800"/>
            <a:ext cx="21336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2400" lang="en-US">
                <a:solidFill>
                  <a:schemeClr val="folHlink"/>
                </a:solidFill>
                <a:latin typeface="Arial Black" pitchFamily="34" charset="0"/>
              </a:rPr>
              <a:pPr algn="r" eaLnBrk="1" hangingPunct="1" lvl="0"/>
              <a:t>26</a:t>
            </a:fld>
            <a:endParaRPr altLang="en-US" sz="2400" lang="en-US">
              <a:solidFill>
                <a:schemeClr val="folHlink"/>
              </a:solidFill>
              <a:latin typeface="Arial Black" pitchFamily="34" charset="0"/>
            </a:endParaRPr>
          </a:p>
        </p:txBody>
      </p:sp>
      <p:sp>
        <p:nvSpPr>
          <p:cNvPr id="1048720" name="Rectangle 2"/>
          <p:cNvSpPr/>
          <p:nvPr>
            <p:ph type="title" sz="full" idx="0"/>
          </p:nvPr>
        </p:nvSpPr>
        <p:spPr>
          <a:xfrm rot="0">
            <a:off x="0" y="0"/>
            <a:ext cx="9144000" cy="13716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1"/>
                </a:solidFill>
                <a:latin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b="1" lang="en-US"/>
              <a:t>Fair and Envy Allocation</a:t>
            </a:r>
          </a:p>
        </p:txBody>
      </p:sp>
      <p:sp>
        <p:nvSpPr>
          <p:cNvPr id="1048721" name="Rectangle 3"/>
          <p:cNvSpPr/>
          <p:nvPr>
            <p:ph type="body" sz="full" idx="1"/>
          </p:nvPr>
        </p:nvSpPr>
        <p:spPr>
          <a:xfrm rot="0">
            <a:off x="152400" y="1371600"/>
            <a:ext cx="8686800" cy="46863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 typeface="Wingdings" pitchFamily="2" charset="2"/>
              <a:buChar char="n"/>
              <a:defRPr baseline="0" b="0" sz="32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Wingdings" pitchFamily="2" charset="2"/>
              <a:buChar char="§"/>
              <a:defRPr baseline="0" b="0" sz="28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2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100000"/>
              <a:buFont typeface="Wingdings" pitchFamily="2" charset="2"/>
              <a:buChar char="§"/>
              <a:defRPr baseline="0" b="0" sz="2000" i="0" u="none">
                <a:solidFill>
                  <a:schemeClr val="dk1"/>
                </a:solidFill>
                <a:latin typeface="Arial" pitchFamily="0" charset="0"/>
                <a:sym typeface="Arial" pitchFamily="0" charset="0"/>
              </a:defRPr>
            </a:lvl5pPr>
          </a:lstStyle>
          <a:p>
            <a:pPr algn="just" eaLnBrk="1" hangingPunct="1" lvl="0"/>
            <a:r>
              <a:rPr altLang="en-US" sz="2400" lang="en-US">
                <a:solidFill>
                  <a:srgbClr val="000000"/>
                </a:solidFill>
              </a:rPr>
              <a:t>An allocation is fair if the goods available are divided equally among agents/individuals(equal division). A fair allocation is symmetrical in the sense that each agent has the same bundle of goods, no agent prefers any other agents bundle of goods to his/her own since they all have exactly the same thing. </a:t>
            </a:r>
          </a:p>
          <a:p>
            <a:pPr algn="just" eaLnBrk="1" hangingPunct="1" lvl="0"/>
            <a:endParaRPr altLang="en-US" sz="2400" lang="en-US">
              <a:solidFill>
                <a:srgbClr val="000000"/>
              </a:solidFill>
            </a:endParaRPr>
          </a:p>
          <a:p>
            <a:pPr algn="just" eaLnBrk="1" hangingPunct="1" lvl="0"/>
            <a:r>
              <a:rPr altLang="en-US" sz="2400" lang="en-US">
                <a:solidFill>
                  <a:srgbClr val="000000"/>
                </a:solidFill>
              </a:rPr>
              <a:t>On the other hand if some agents say i prefers some other agents j’s bundle of goods, we say that i envies j. That is i and j have different bundle of goods.</a:t>
            </a:r>
          </a:p>
        </p:txBody>
      </p:sp>
    </p:spTree>
  </p:cSld>
  <p:clrMapOvr>
    <a:masterClrMapping/>
  </p:clrMapOvr>
  <p:transition spd="fast" advClick="1"/>
  <p:timing/>
</p:sld>
</file>

<file path=ppt/theme/theme1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00007D"/>
      </a:dk2>
      <a:lt2>
        <a:srgbClr val="000000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989B7"/>
      </a:accent6>
      <a:hlink>
        <a:srgbClr val="666699"/>
      </a:hlink>
      <a:folHlink>
        <a:srgbClr val="CCCCE6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Default Color Scheme 1">
        <a:dk1>
          <a:srgbClr val="FFFFFF"/>
        </a:dk1>
        <a:lt1>
          <a:srgbClr val="000066"/>
        </a:lt1>
        <a:dk2>
          <a:srgbClr val="0066FF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9"/>
        </a:accent3>
        <a:accent4>
          <a:srgbClr val="DCDCDC"/>
        </a:accent4>
        <a:accent5>
          <a:srgbClr val="B9CAFF"/>
        </a:accent5>
        <a:accent6>
          <a:srgbClr val="2D2DE5"/>
        </a:accent6>
        <a:hlink>
          <a:srgbClr val="FFCC00"/>
        </a:hlink>
        <a:folHlink>
          <a:srgbClr val="0000CC"/>
        </a:folHlink>
      </a:clrScheme>
    </a:extraClrScheme>
    <a:extraClrScheme>
      <a:clrScheme name="Default Color Scheme 2">
        <a:dk1>
          <a:srgbClr val="FFFFFF"/>
        </a:dk1>
        <a:lt1>
          <a:srgbClr val="334B49"/>
        </a:lt1>
        <a:dk2>
          <a:srgbClr val="00999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2B1"/>
        </a:accent3>
        <a:accent4>
          <a:srgbClr val="DCDCDC"/>
        </a:accent4>
        <a:accent5>
          <a:srgbClr val="ADE2E2"/>
        </a:accent5>
        <a:accent6>
          <a:srgbClr val="007272"/>
        </a:accent6>
        <a:hlink>
          <a:srgbClr val="FFCC00"/>
        </a:hlink>
        <a:folHlink>
          <a:srgbClr val="006666"/>
        </a:folHlink>
      </a:clrScheme>
    </a:extraClrScheme>
    <a:extraClrScheme>
      <a:clrScheme name="Default Color Scheme 3">
        <a:dk1>
          <a:srgbClr val="FFFFFF"/>
        </a:dk1>
        <a:lt1>
          <a:srgbClr val="333399"/>
        </a:lt1>
        <a:dk2>
          <a:srgbClr val="0066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CDCDC"/>
        </a:accent4>
        <a:accent5>
          <a:srgbClr val="AACAE2"/>
        </a:accent5>
        <a:accent6>
          <a:srgbClr val="02789D"/>
        </a:accent6>
        <a:hlink>
          <a:srgbClr val="FFCC00"/>
        </a:hlink>
        <a:folHlink>
          <a:srgbClr val="6699FF"/>
        </a:folHlink>
      </a:clrScheme>
    </a:extraClrScheme>
    <a:extraClrScheme>
      <a:clrScheme name="Default Color Scheme 4">
        <a:dk1>
          <a:srgbClr val="FFFFFF"/>
        </a:dk1>
        <a:lt1>
          <a:srgbClr val="2F978D"/>
        </a:lt1>
        <a:dk2>
          <a:srgbClr val="008080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CDCDC"/>
        </a:accent4>
        <a:accent5>
          <a:srgbClr val="AACAFF"/>
        </a:accent5>
        <a:accent6>
          <a:srgbClr val="008989"/>
        </a:accent6>
        <a:hlink>
          <a:srgbClr val="FFFFCC"/>
        </a:hlink>
        <a:folHlink>
          <a:srgbClr val="70CAC6"/>
        </a:folHlink>
      </a:clrScheme>
    </a:extraClrScheme>
    <a:extraClrScheme>
      <a:clrScheme name="Default Color Scheme 5">
        <a:dk1>
          <a:srgbClr val="FFFFFF"/>
        </a:dk1>
        <a:lt1>
          <a:srgbClr val="330000"/>
        </a:lt1>
        <a:dk2>
          <a:srgbClr val="822504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CDCDC"/>
        </a:accent4>
        <a:accent5>
          <a:srgbClr val="FFCAAA"/>
        </a:accent5>
        <a:accent6>
          <a:srgbClr val="8D2504"/>
        </a:accent6>
        <a:hlink>
          <a:srgbClr val="FF3300"/>
        </a:hlink>
        <a:folHlink>
          <a:srgbClr val="7C0704"/>
        </a:folHlink>
      </a:clrScheme>
    </a:extraClrScheme>
    <a:extraClrScheme>
      <a:clrScheme name="Default Color Scheme 6">
        <a:dk1>
          <a:srgbClr val="FFFFFF"/>
        </a:dk1>
        <a:lt1>
          <a:srgbClr val="4A7911"/>
        </a:lt1>
        <a:dk2>
          <a:srgbClr val="336600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2BEAA"/>
        </a:accent3>
        <a:accent4>
          <a:srgbClr val="DCDCDC"/>
        </a:accent4>
        <a:accent5>
          <a:srgbClr val="B9B9AD"/>
        </a:accent5>
        <a:accent6>
          <a:srgbClr val="5B8900"/>
        </a:accent6>
        <a:hlink>
          <a:srgbClr val="FFCC00"/>
        </a:hlink>
        <a:folHlink>
          <a:srgbClr val="99CC00"/>
        </a:folHlink>
      </a:clrScheme>
    </a:extraClrScheme>
    <a:extraClrScheme>
      <a:clrScheme name="Default Color Scheme 7">
        <a:dk1>
          <a:srgbClr val="000000"/>
        </a:dk1>
        <a:lt1>
          <a:srgbClr val="FFFFFF"/>
        </a:lt1>
        <a:dk2>
          <a:srgbClr val="CC3300"/>
        </a:dk2>
        <a:lt2>
          <a:srgbClr val="0000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75B00"/>
        </a:accent6>
        <a:hlink>
          <a:srgbClr val="663300"/>
        </a:hlink>
        <a:folHlink>
          <a:srgbClr val="CC9900"/>
        </a:folHlink>
      </a:clrScheme>
    </a:extraClrScheme>
    <a:extraClrScheme>
      <a:clrScheme name="Default Color Scheme 8">
        <a:dk1>
          <a:srgbClr val="003300"/>
        </a:dk1>
        <a:lt1>
          <a:srgbClr val="FFFFFF"/>
        </a:lt1>
        <a:dk2>
          <a:srgbClr val="336600"/>
        </a:dk2>
        <a:lt2>
          <a:srgbClr val="0000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B8900"/>
        </a:accent6>
        <a:hlink>
          <a:srgbClr val="333300"/>
        </a:hlink>
        <a:folHlink>
          <a:srgbClr val="99CC00"/>
        </a:folHlink>
      </a:clrScheme>
    </a:extraClrScheme>
    <a:extraClrScheme>
      <a:clrScheme name="Default Color Scheme 9">
        <a:dk1>
          <a:srgbClr val="000000"/>
        </a:dk1>
        <a:lt1>
          <a:srgbClr val="FFFFFF"/>
        </a:lt1>
        <a:dk2>
          <a:srgbClr val="440044"/>
        </a:dk2>
        <a:lt2>
          <a:srgbClr val="000000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C0465"/>
        </a:accent6>
        <a:hlink>
          <a:srgbClr val="993366"/>
        </a:hlink>
        <a:folHlink>
          <a:srgbClr val="9F839F"/>
        </a:folHlink>
      </a:clrScheme>
    </a:extraClrScheme>
    <a:extraClrScheme>
      <a:clrScheme name="Default Color Scheme 10">
        <a:dk1>
          <a:srgbClr val="000000"/>
        </a:dk1>
        <a:lt1>
          <a:srgbClr val="FFFFFF"/>
        </a:lt1>
        <a:dk2>
          <a:srgbClr val="FF9900"/>
        </a:dk2>
        <a:lt2>
          <a:srgbClr val="0000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19210"/>
        </a:accent6>
        <a:hlink>
          <a:srgbClr val="CC3300"/>
        </a:hlink>
        <a:folHlink>
          <a:srgbClr val="FCC66E"/>
        </a:folHlink>
      </a:clrScheme>
    </a:extraClrScheme>
    <a:extraClrScheme>
      <a:clrScheme name="Default Color Scheme 11">
        <a:dk1>
          <a:srgbClr val="000000"/>
        </a:dk1>
        <a:lt1>
          <a:srgbClr val="FFFFFF"/>
        </a:lt1>
        <a:dk2>
          <a:srgbClr val="779F92"/>
        </a:dk2>
        <a:lt2>
          <a:srgbClr val="000000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CAEC1"/>
        </a:accent6>
        <a:hlink>
          <a:srgbClr val="006666"/>
        </a:hlink>
        <a:folHlink>
          <a:srgbClr val="CCCCFF"/>
        </a:folHlink>
      </a:clrScheme>
    </a:extraClrScheme>
    <a:extraClrScheme>
      <a:clrScheme name="Default Color Scheme 12">
        <a:dk1>
          <a:srgbClr val="000000"/>
        </a:dk1>
        <a:lt1>
          <a:srgbClr val="FFFFFF"/>
        </a:lt1>
        <a:dk2>
          <a:srgbClr val="00007D"/>
        </a:dk2>
        <a:lt2>
          <a:srgbClr val="000000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989B7"/>
        </a:accent6>
        <a:hlink>
          <a:srgbClr val="666699"/>
        </a:hlink>
        <a:folHlink>
          <a:srgbClr val="CCCCE6"/>
        </a:folHlink>
      </a:clrScheme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ScaleCrop>0</ScaleCrop>
  <LinksUpToDate>0</LinksUpToD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Welfare Economics</dc:title>
  <dc:creator>Pamela Hall</dc:creator>
  <cp:lastModifiedBy>Mary</cp:lastModifiedBy>
  <dcterms:created xsi:type="dcterms:W3CDTF">2004-03-07T21:30:30Z</dcterms:created>
  <dcterms:modified xsi:type="dcterms:W3CDTF">2024-05-24T11:52:06Z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e3192c4c1f484d7b83a99b43830a9da8</vt:lpwstr>
  </property>
</Properties>
</file>