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708" r:id="rId1"/>
  </p:sldMasterIdLst>
  <p:notesMasterIdLst>
    <p:notesMasterId r:id="rId2"/>
  </p:notesMasterIdLst>
  <p:sldIdLst>
    <p:sldId id="352" r:id="rId3"/>
    <p:sldId id="353" r:id="rId4"/>
    <p:sldId id="354" r:id="rId5"/>
    <p:sldId id="355" r:id="rId6"/>
    <p:sldId id="356" r:id="rId7"/>
    <p:sldId id="357" r:id="rId8"/>
    <p:sldId id="358" r:id="rId9"/>
    <p:sldId id="359" r:id="rId10"/>
    <p:sldId id="360" r:id="rId11"/>
    <p:sldId id="361" r:id="rId12"/>
    <p:sldId id="362" r:id="rId13"/>
    <p:sldId id="363" r:id="rId14"/>
    <p:sldId id="364" r:id="rId15"/>
    <p:sldId id="365" r:id="rId16"/>
    <p:sldId id="366" r:id="rId17"/>
    <p:sldId id="367" r:id="rId18"/>
    <p:sldId id="368" r:id="rId19"/>
    <p:sldId id="369" r:id="rId20"/>
    <p:sldId id="370" r:id="rId21"/>
    <p:sldId id="371" r:id="rId22"/>
    <p:sldId id="372" r:id="rId23"/>
    <p:sldId id="373" r:id="rId24"/>
    <p:sldId id="374" r:id="rId25"/>
    <p:sldId id="375" r:id="rId26"/>
    <p:sldId id="376" r:id="rId27"/>
    <p:sldId id="377" r:id="rId28"/>
    <p:sldId id="378" r:id="rId29"/>
    <p:sldId id="379" r:id="rId30"/>
    <p:sldId id="380" r:id="rId31"/>
    <p:sldId id="381" r:id="rId32"/>
    <p:sldId id="382" r:id="rId33"/>
    <p:sldId id="383" r:id="rId34"/>
    <p:sldId id="384" r:id="rId35"/>
    <p:sldId id="385" r:id="rId36"/>
  </p:sldIdLst>
  <p:sldSz type="screen4x3" cy="6858000" cx="9144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clrMru>
    <a:srgbClr val="0000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p="http://schemas.openxmlformats.org/presentationml/2006/main" xmlns:r="http://schemas.openxmlformats.org/officeDocument/2006/relationships" xmlns:a="http://schemas.openxmlformats.org/drawingml/2006/main">
  <p:normalViewPr>
    <p:restoredLeft sz="15620"/>
    <p:restoredTop sz="94660"/>
  </p:normalViewPr>
  <p:slideViewPr>
    <p:cSldViewPr>
      <p:cViewPr varScale="1">
        <p:scale>
          <a:sx n="81" d="100"/>
          <a:sy n="81" d="100"/>
        </p:scale>
        <p:origin x="1498"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tableStyles" Target="tableStyles.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93" name=""/>
        <p:cNvGrpSpPr/>
        <p:nvPr/>
      </p:nvGrpSpPr>
      <p:grpSpPr>
        <a:xfrm>
          <a:off x="0" y="0"/>
          <a:ext cx="0" cy="0"/>
          <a:chOff x="0" y="0"/>
          <a:chExt cx="0" cy="0"/>
        </a:xfrm>
      </p:grpSpPr>
      <p:sp>
        <p:nvSpPr>
          <p:cNvPr id="1048701"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702"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703"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704"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705"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706"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23" name=""/>
        <p:cNvGrpSpPr/>
        <p:nvPr/>
      </p:nvGrpSpPr>
      <p:grpSpPr>
        <a:xfrm>
          <a:off x="0" y="0"/>
          <a:ext cx="0" cy="0"/>
          <a:chOff x="0" y="0"/>
          <a:chExt cx="0" cy="0"/>
        </a:xfrm>
      </p:grpSpPr>
      <p:sp>
        <p:nvSpPr>
          <p:cNvPr id="1048581" name="Title 1"/>
          <p:cNvSpPr>
            <a:spLocks noGrp="1"/>
          </p:cNvSpPr>
          <p:nvPr>
            <p:ph type="ctrTitle"/>
          </p:nvPr>
        </p:nvSpPr>
        <p:spPr>
          <a:xfrm>
            <a:off x="685800" y="2130425"/>
            <a:ext cx="7772400" cy="1470025"/>
          </a:xfrm>
        </p:spPr>
        <p:txBody>
          <a:bodyPr/>
          <a:p>
            <a:r>
              <a:rPr lang="en-US"/>
              <a:t>Click to edit Master title style</a:t>
            </a:r>
          </a:p>
        </p:txBody>
      </p:sp>
      <p:sp>
        <p:nvSpPr>
          <p:cNvPr id="1048582" name="Subtitle 2"/>
          <p:cNvSpPr>
            <a:spLocks noGrp="1"/>
          </p:cNvSpPr>
          <p:nvPr>
            <p:ph type="subTitle" idx="1"/>
          </p:nvPr>
        </p:nvSpPr>
        <p:spPr>
          <a:xfrm>
            <a:off x="1371600" y="3886200"/>
            <a:ext cx="6400800" cy="1752600"/>
          </a:xfrm>
        </p:spPr>
        <p:txBody>
          <a:bodyPr/>
          <a:lstStyle>
            <a:lvl1pPr algn="ctr" indent="0" marL="0">
              <a:buNone/>
              <a:defRPr>
                <a:solidFill>
                  <a:schemeClr val="tx1">
                    <a:tint val="75000"/>
                  </a:schemeClr>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a:t>Click to edit Master subtitle style</a:t>
            </a:r>
          </a:p>
        </p:txBody>
      </p:sp>
      <p:sp>
        <p:nvSpPr>
          <p:cNvPr id="1048583" name="Date Placeholder 3"/>
          <p:cNvSpPr>
            <a:spLocks noGrp="1"/>
          </p:cNvSpPr>
          <p:nvPr>
            <p:ph type="dt" sz="half" idx="10"/>
          </p:nvPr>
        </p:nvSpPr>
        <p:spPr/>
        <p:txBody>
          <a:bodyPr/>
          <a:p>
            <a:fld id="{1D8BD707-D9CF-40AE-B4C6-C98DA3205C09}" type="datetimeFigureOut">
              <a:rPr lang="en-US" smtClean="0"/>
              <a:t>4/16/2024</a:t>
            </a:fld>
            <a:endParaRPr lang="en-US"/>
          </a:p>
        </p:txBody>
      </p:sp>
      <p:sp>
        <p:nvSpPr>
          <p:cNvPr id="1048584" name="Footer Placeholder 4"/>
          <p:cNvSpPr>
            <a:spLocks noGrp="1"/>
          </p:cNvSpPr>
          <p:nvPr>
            <p:ph type="ftr" sz="quarter" idx="11"/>
          </p:nvPr>
        </p:nvSpPr>
        <p:spPr/>
        <p:txBody>
          <a:bodyPr/>
          <a:p>
            <a:endParaRPr lang="en-US"/>
          </a:p>
        </p:txBody>
      </p:sp>
      <p:sp>
        <p:nvSpPr>
          <p:cNvPr id="1048585"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49" name=""/>
        <p:cNvGrpSpPr/>
        <p:nvPr/>
      </p:nvGrpSpPr>
      <p:grpSpPr>
        <a:xfrm>
          <a:off x="0" y="0"/>
          <a:ext cx="0" cy="0"/>
          <a:chOff x="0" y="0"/>
          <a:chExt cx="0" cy="0"/>
        </a:xfrm>
      </p:grpSpPr>
      <p:sp>
        <p:nvSpPr>
          <p:cNvPr id="1048587" name="Title 1"/>
          <p:cNvSpPr>
            <a:spLocks noGrp="1"/>
          </p:cNvSpPr>
          <p:nvPr>
            <p:ph type="title"/>
          </p:nvPr>
        </p:nvSpPr>
        <p:spPr/>
        <p:txBody>
          <a:bodyPr/>
          <a:p>
            <a:r>
              <a:rPr lang="en-US"/>
              <a:t>Click to edit Master title style</a:t>
            </a:r>
          </a:p>
        </p:txBody>
      </p:sp>
      <p:sp>
        <p:nvSpPr>
          <p:cNvPr id="1048588" name="Content Placeholder 2"/>
          <p:cNvSpPr>
            <a:spLocks noGrp="1"/>
          </p:cNvSpPr>
          <p:nvPr>
            <p:ph idx="1"/>
          </p:nvPr>
        </p:nvSpPr>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89" name="Date Placeholder 3"/>
          <p:cNvSpPr>
            <a:spLocks noGrp="1"/>
          </p:cNvSpPr>
          <p:nvPr>
            <p:ph type="dt" sz="half" idx="10"/>
          </p:nvPr>
        </p:nvSpPr>
        <p:spPr/>
        <p:txBody>
          <a:bodyPr/>
          <a:p>
            <a:fld id="{1D8BD707-D9CF-40AE-B4C6-C98DA3205C09}" type="datetimeFigureOut">
              <a:rPr lang="en-US" smtClean="0"/>
              <a:t>4/16/2024</a:t>
            </a:fld>
            <a:endParaRPr lang="en-US"/>
          </a:p>
        </p:txBody>
      </p:sp>
      <p:sp>
        <p:nvSpPr>
          <p:cNvPr id="1048590" name="Footer Placeholder 4"/>
          <p:cNvSpPr>
            <a:spLocks noGrp="1"/>
          </p:cNvSpPr>
          <p:nvPr>
            <p:ph type="ftr" sz="quarter" idx="11"/>
          </p:nvPr>
        </p:nvSpPr>
        <p:spPr/>
        <p:txBody>
          <a:bodyPr/>
          <a:p>
            <a:endParaRPr lang="en-US"/>
          </a:p>
        </p:txBody>
      </p:sp>
      <p:sp>
        <p:nvSpPr>
          <p:cNvPr id="1048591"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87" name=""/>
        <p:cNvGrpSpPr/>
        <p:nvPr/>
      </p:nvGrpSpPr>
      <p:grpSpPr>
        <a:xfrm>
          <a:off x="0" y="0"/>
          <a:ext cx="0" cy="0"/>
          <a:chOff x="0" y="0"/>
          <a:chExt cx="0" cy="0"/>
        </a:xfrm>
      </p:grpSpPr>
      <p:sp>
        <p:nvSpPr>
          <p:cNvPr id="1048673" name="Title 1"/>
          <p:cNvSpPr>
            <a:spLocks noGrp="1"/>
          </p:cNvSpPr>
          <p:nvPr>
            <p:ph type="title"/>
          </p:nvPr>
        </p:nvSpPr>
        <p:spPr>
          <a:xfrm>
            <a:off x="722313" y="4406900"/>
            <a:ext cx="7772400" cy="1362075"/>
          </a:xfrm>
        </p:spPr>
        <p:txBody>
          <a:bodyPr anchor="t"/>
          <a:lstStyle>
            <a:lvl1pPr algn="l">
              <a:defRPr b="1" cap="all" sz="4000"/>
            </a:lvl1pPr>
          </a:lstStyle>
          <a:p>
            <a:r>
              <a:rPr lang="en-US"/>
              <a:t>Click to edit Master title style</a:t>
            </a:r>
          </a:p>
        </p:txBody>
      </p:sp>
      <p:sp>
        <p:nvSpPr>
          <p:cNvPr id="1048674" name="Text Placeholder 2"/>
          <p:cNvSpPr>
            <a:spLocks noGrp="1"/>
          </p:cNvSpPr>
          <p:nvPr>
            <p:ph type="body" idx="1"/>
          </p:nvPr>
        </p:nvSpPr>
        <p:spPr>
          <a:xfrm>
            <a:off x="722313" y="2906713"/>
            <a:ext cx="7772400" cy="1500187"/>
          </a:xfrm>
        </p:spPr>
        <p:txBody>
          <a:bodyPr anchor="b"/>
          <a:lstStyle>
            <a:lvl1pPr indent="0" marL="0">
              <a:buNone/>
              <a:defRPr sz="2000">
                <a:solidFill>
                  <a:schemeClr val="tx1">
                    <a:tint val="7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a:t>Click to edit Master text styles</a:t>
            </a:r>
          </a:p>
        </p:txBody>
      </p:sp>
      <p:sp>
        <p:nvSpPr>
          <p:cNvPr id="1048675" name="Date Placeholder 3"/>
          <p:cNvSpPr>
            <a:spLocks noGrp="1"/>
          </p:cNvSpPr>
          <p:nvPr>
            <p:ph type="dt" sz="half" idx="10"/>
          </p:nvPr>
        </p:nvSpPr>
        <p:spPr/>
        <p:txBody>
          <a:bodyPr/>
          <a:p>
            <a:fld id="{1D8BD707-D9CF-40AE-B4C6-C98DA3205C09}" type="datetimeFigureOut">
              <a:rPr lang="en-US" smtClean="0"/>
              <a:t>4/16/2024</a:t>
            </a:fld>
            <a:endParaRPr lang="en-US"/>
          </a:p>
        </p:txBody>
      </p:sp>
      <p:sp>
        <p:nvSpPr>
          <p:cNvPr id="1048676" name="Footer Placeholder 4"/>
          <p:cNvSpPr>
            <a:spLocks noGrp="1"/>
          </p:cNvSpPr>
          <p:nvPr>
            <p:ph type="ftr" sz="quarter" idx="11"/>
          </p:nvPr>
        </p:nvSpPr>
        <p:spPr/>
        <p:txBody>
          <a:bodyPr/>
          <a:p>
            <a:endParaRPr lang="en-US"/>
          </a:p>
        </p:txBody>
      </p:sp>
      <p:sp>
        <p:nvSpPr>
          <p:cNvPr id="1048677"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88" name=""/>
        <p:cNvGrpSpPr/>
        <p:nvPr/>
      </p:nvGrpSpPr>
      <p:grpSpPr>
        <a:xfrm>
          <a:off x="0" y="0"/>
          <a:ext cx="0" cy="0"/>
          <a:chOff x="0" y="0"/>
          <a:chExt cx="0" cy="0"/>
        </a:xfrm>
      </p:grpSpPr>
      <p:sp>
        <p:nvSpPr>
          <p:cNvPr id="1048678" name="Title 1"/>
          <p:cNvSpPr>
            <a:spLocks noGrp="1"/>
          </p:cNvSpPr>
          <p:nvPr>
            <p:ph type="title"/>
          </p:nvPr>
        </p:nvSpPr>
        <p:spPr/>
        <p:txBody>
          <a:bodyPr/>
          <a:p>
            <a:r>
              <a:rPr lang="en-US"/>
              <a:t>Click to edit Master title style</a:t>
            </a:r>
          </a:p>
        </p:txBody>
      </p:sp>
      <p:sp>
        <p:nvSpPr>
          <p:cNvPr id="1048679"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0"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1" name="Date Placeholder 4"/>
          <p:cNvSpPr>
            <a:spLocks noGrp="1"/>
          </p:cNvSpPr>
          <p:nvPr>
            <p:ph type="dt" sz="half" idx="10"/>
          </p:nvPr>
        </p:nvSpPr>
        <p:spPr/>
        <p:txBody>
          <a:bodyPr/>
          <a:p>
            <a:fld id="{1D8BD707-D9CF-40AE-B4C6-C98DA3205C09}" type="datetimeFigureOut">
              <a:rPr lang="en-US" smtClean="0"/>
              <a:t>4/16/2024</a:t>
            </a:fld>
            <a:endParaRPr lang="en-US"/>
          </a:p>
        </p:txBody>
      </p:sp>
      <p:sp>
        <p:nvSpPr>
          <p:cNvPr id="1048682" name="Footer Placeholder 5"/>
          <p:cNvSpPr>
            <a:spLocks noGrp="1"/>
          </p:cNvSpPr>
          <p:nvPr>
            <p:ph type="ftr" sz="quarter" idx="11"/>
          </p:nvPr>
        </p:nvSpPr>
        <p:spPr/>
        <p:txBody>
          <a:bodyPr/>
          <a:p>
            <a:endParaRPr lang="en-US"/>
          </a:p>
        </p:txBody>
      </p:sp>
      <p:sp>
        <p:nvSpPr>
          <p:cNvPr id="1048683" name="Slide Number Placeholder 6"/>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89" name=""/>
        <p:cNvGrpSpPr/>
        <p:nvPr/>
      </p:nvGrpSpPr>
      <p:grpSpPr>
        <a:xfrm>
          <a:off x="0" y="0"/>
          <a:ext cx="0" cy="0"/>
          <a:chOff x="0" y="0"/>
          <a:chExt cx="0" cy="0"/>
        </a:xfrm>
      </p:grpSpPr>
      <p:sp>
        <p:nvSpPr>
          <p:cNvPr id="1048684" name="Title 1"/>
          <p:cNvSpPr>
            <a:spLocks noGrp="1"/>
          </p:cNvSpPr>
          <p:nvPr>
            <p:ph type="title"/>
          </p:nvPr>
        </p:nvSpPr>
        <p:spPr/>
        <p:txBody>
          <a:bodyPr/>
          <a:p>
            <a:r>
              <a:rPr lang="en-US"/>
              <a:t>Click to edit Master title style</a:t>
            </a:r>
          </a:p>
        </p:txBody>
      </p:sp>
      <p:sp>
        <p:nvSpPr>
          <p:cNvPr id="1048685" name="Text Placeholder 2"/>
          <p:cNvSpPr>
            <a:spLocks noGrp="1"/>
          </p:cNvSpPr>
          <p:nvPr>
            <p:ph type="body" idx="1"/>
          </p:nvPr>
        </p:nvSpPr>
        <p:spPr>
          <a:xfrm>
            <a:off x="457200" y="1535113"/>
            <a:ext cx="4040188"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86"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7" name="Text Placeholder 4"/>
          <p:cNvSpPr>
            <a:spLocks noGrp="1"/>
          </p:cNvSpPr>
          <p:nvPr>
            <p:ph type="body" sz="quarter" idx="3"/>
          </p:nvPr>
        </p:nvSpPr>
        <p:spPr>
          <a:xfrm>
            <a:off x="4645025" y="1535113"/>
            <a:ext cx="4041775"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88"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9" name="Date Placeholder 6"/>
          <p:cNvSpPr>
            <a:spLocks noGrp="1"/>
          </p:cNvSpPr>
          <p:nvPr>
            <p:ph type="dt" sz="half" idx="10"/>
          </p:nvPr>
        </p:nvSpPr>
        <p:spPr/>
        <p:txBody>
          <a:bodyPr/>
          <a:p>
            <a:fld id="{1D8BD707-D9CF-40AE-B4C6-C98DA3205C09}" type="datetimeFigureOut">
              <a:rPr lang="en-US" smtClean="0"/>
              <a:t>4/16/2024</a:t>
            </a:fld>
            <a:endParaRPr lang="en-US"/>
          </a:p>
        </p:txBody>
      </p:sp>
      <p:sp>
        <p:nvSpPr>
          <p:cNvPr id="1048690" name="Footer Placeholder 7"/>
          <p:cNvSpPr>
            <a:spLocks noGrp="1"/>
          </p:cNvSpPr>
          <p:nvPr>
            <p:ph type="ftr" sz="quarter" idx="11"/>
          </p:nvPr>
        </p:nvSpPr>
        <p:spPr/>
        <p:txBody>
          <a:bodyPr/>
          <a:p>
            <a:endParaRPr lang="en-US"/>
          </a:p>
        </p:txBody>
      </p:sp>
      <p:sp>
        <p:nvSpPr>
          <p:cNvPr id="1048691" name="Slide Number Placeholder 8"/>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83" name=""/>
        <p:cNvGrpSpPr/>
        <p:nvPr/>
      </p:nvGrpSpPr>
      <p:grpSpPr>
        <a:xfrm>
          <a:off x="0" y="0"/>
          <a:ext cx="0" cy="0"/>
          <a:chOff x="0" y="0"/>
          <a:chExt cx="0" cy="0"/>
        </a:xfrm>
      </p:grpSpPr>
      <p:sp>
        <p:nvSpPr>
          <p:cNvPr id="1048653" name="Title 1"/>
          <p:cNvSpPr>
            <a:spLocks noGrp="1"/>
          </p:cNvSpPr>
          <p:nvPr>
            <p:ph type="title"/>
          </p:nvPr>
        </p:nvSpPr>
        <p:spPr/>
        <p:txBody>
          <a:bodyPr/>
          <a:p>
            <a:r>
              <a:rPr lang="en-US"/>
              <a:t>Click to edit Master title style</a:t>
            </a:r>
          </a:p>
        </p:txBody>
      </p:sp>
      <p:sp>
        <p:nvSpPr>
          <p:cNvPr id="1048654" name="Date Placeholder 2"/>
          <p:cNvSpPr>
            <a:spLocks noGrp="1"/>
          </p:cNvSpPr>
          <p:nvPr>
            <p:ph type="dt" sz="half" idx="10"/>
          </p:nvPr>
        </p:nvSpPr>
        <p:spPr/>
        <p:txBody>
          <a:bodyPr/>
          <a:p>
            <a:fld id="{1D8BD707-D9CF-40AE-B4C6-C98DA3205C09}" type="datetimeFigureOut">
              <a:rPr lang="en-US" smtClean="0"/>
              <a:t>4/16/2024</a:t>
            </a:fld>
            <a:endParaRPr lang="en-US"/>
          </a:p>
        </p:txBody>
      </p:sp>
      <p:sp>
        <p:nvSpPr>
          <p:cNvPr id="1048655" name="Footer Placeholder 3"/>
          <p:cNvSpPr>
            <a:spLocks noGrp="1"/>
          </p:cNvSpPr>
          <p:nvPr>
            <p:ph type="ftr" sz="quarter" idx="11"/>
          </p:nvPr>
        </p:nvSpPr>
        <p:spPr/>
        <p:txBody>
          <a:bodyPr/>
          <a:p>
            <a:endParaRPr lang="en-US"/>
          </a:p>
        </p:txBody>
      </p:sp>
      <p:sp>
        <p:nvSpPr>
          <p:cNvPr id="1048656" name="Slide Number Placeholder 4"/>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90" name=""/>
        <p:cNvGrpSpPr/>
        <p:nvPr/>
      </p:nvGrpSpPr>
      <p:grpSpPr>
        <a:xfrm>
          <a:off x="0" y="0"/>
          <a:ext cx="0" cy="0"/>
          <a:chOff x="0" y="0"/>
          <a:chExt cx="0" cy="0"/>
        </a:xfrm>
      </p:grpSpPr>
      <p:sp>
        <p:nvSpPr>
          <p:cNvPr id="1048692" name="Date Placeholder 1"/>
          <p:cNvSpPr>
            <a:spLocks noGrp="1"/>
          </p:cNvSpPr>
          <p:nvPr>
            <p:ph type="dt" sz="half" idx="10"/>
          </p:nvPr>
        </p:nvSpPr>
        <p:spPr/>
        <p:txBody>
          <a:bodyPr/>
          <a:p>
            <a:fld id="{1D8BD707-D9CF-40AE-B4C6-C98DA3205C09}" type="datetimeFigureOut">
              <a:rPr lang="en-US" smtClean="0"/>
              <a:t>4/16/2024</a:t>
            </a:fld>
            <a:endParaRPr lang="en-US"/>
          </a:p>
        </p:txBody>
      </p:sp>
      <p:sp>
        <p:nvSpPr>
          <p:cNvPr id="1048693" name="Footer Placeholder 2"/>
          <p:cNvSpPr>
            <a:spLocks noGrp="1"/>
          </p:cNvSpPr>
          <p:nvPr>
            <p:ph type="ftr" sz="quarter" idx="11"/>
          </p:nvPr>
        </p:nvSpPr>
        <p:spPr/>
        <p:txBody>
          <a:bodyPr/>
          <a:p>
            <a:endParaRPr lang="en-US"/>
          </a:p>
        </p:txBody>
      </p:sp>
      <p:sp>
        <p:nvSpPr>
          <p:cNvPr id="1048694" name="Slide Number Placeholder 3"/>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91" name=""/>
        <p:cNvGrpSpPr/>
        <p:nvPr/>
      </p:nvGrpSpPr>
      <p:grpSpPr>
        <a:xfrm>
          <a:off x="0" y="0"/>
          <a:ext cx="0" cy="0"/>
          <a:chOff x="0" y="0"/>
          <a:chExt cx="0" cy="0"/>
        </a:xfrm>
      </p:grpSpPr>
      <p:sp>
        <p:nvSpPr>
          <p:cNvPr id="1048695" name="Title 1"/>
          <p:cNvSpPr>
            <a:spLocks noGrp="1"/>
          </p:cNvSpPr>
          <p:nvPr>
            <p:ph type="title"/>
          </p:nvPr>
        </p:nvSpPr>
        <p:spPr>
          <a:xfrm>
            <a:off x="457200" y="273050"/>
            <a:ext cx="3008313" cy="1162050"/>
          </a:xfrm>
        </p:spPr>
        <p:txBody>
          <a:bodyPr anchor="b"/>
          <a:lstStyle>
            <a:lvl1pPr algn="l">
              <a:defRPr b="1" sz="2000"/>
            </a:lvl1pPr>
          </a:lstStyle>
          <a:p>
            <a:r>
              <a:rPr lang="en-US"/>
              <a:t>Click to edit Master title style</a:t>
            </a:r>
          </a:p>
        </p:txBody>
      </p:sp>
      <p:sp>
        <p:nvSpPr>
          <p:cNvPr id="1048696"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97" name="Text Placeholder 3"/>
          <p:cNvSpPr>
            <a:spLocks noGrp="1"/>
          </p:cNvSpPr>
          <p:nvPr>
            <p:ph type="body" sz="half" idx="2"/>
          </p:nvPr>
        </p:nvSpPr>
        <p:spPr>
          <a:xfrm>
            <a:off x="457200" y="1435100"/>
            <a:ext cx="3008313"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698" name="Date Placeholder 4"/>
          <p:cNvSpPr>
            <a:spLocks noGrp="1"/>
          </p:cNvSpPr>
          <p:nvPr>
            <p:ph type="dt" sz="half" idx="10"/>
          </p:nvPr>
        </p:nvSpPr>
        <p:spPr/>
        <p:txBody>
          <a:bodyPr/>
          <a:p>
            <a:fld id="{1D8BD707-D9CF-40AE-B4C6-C98DA3205C09}" type="datetimeFigureOut">
              <a:rPr lang="en-US" smtClean="0"/>
              <a:t>4/16/2024</a:t>
            </a:fld>
            <a:endParaRPr lang="en-US"/>
          </a:p>
        </p:txBody>
      </p:sp>
      <p:sp>
        <p:nvSpPr>
          <p:cNvPr id="1048699" name="Footer Placeholder 5"/>
          <p:cNvSpPr>
            <a:spLocks noGrp="1"/>
          </p:cNvSpPr>
          <p:nvPr>
            <p:ph type="ftr" sz="quarter" idx="11"/>
          </p:nvPr>
        </p:nvSpPr>
        <p:spPr/>
        <p:txBody>
          <a:bodyPr/>
          <a:p>
            <a:endParaRPr lang="en-US"/>
          </a:p>
        </p:txBody>
      </p:sp>
      <p:sp>
        <p:nvSpPr>
          <p:cNvPr id="1048700" name="Slide Number Placeholder 6"/>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85" name=""/>
        <p:cNvGrpSpPr/>
        <p:nvPr/>
      </p:nvGrpSpPr>
      <p:grpSpPr>
        <a:xfrm>
          <a:off x="0" y="0"/>
          <a:ext cx="0" cy="0"/>
          <a:chOff x="0" y="0"/>
          <a:chExt cx="0" cy="0"/>
        </a:xfrm>
      </p:grpSpPr>
      <p:sp>
        <p:nvSpPr>
          <p:cNvPr id="1048662" name="Title 1"/>
          <p:cNvSpPr>
            <a:spLocks noGrp="1"/>
          </p:cNvSpPr>
          <p:nvPr>
            <p:ph type="title"/>
          </p:nvPr>
        </p:nvSpPr>
        <p:spPr>
          <a:xfrm>
            <a:off x="1792288" y="4800600"/>
            <a:ext cx="5486400" cy="566738"/>
          </a:xfrm>
        </p:spPr>
        <p:txBody>
          <a:bodyPr anchor="b"/>
          <a:lstStyle>
            <a:lvl1pPr algn="l">
              <a:defRPr b="1" sz="2000"/>
            </a:lvl1pPr>
          </a:lstStyle>
          <a:p>
            <a:r>
              <a:rPr lang="en-US"/>
              <a:t>Click to edit Master title style</a:t>
            </a:r>
          </a:p>
        </p:txBody>
      </p:sp>
      <p:sp>
        <p:nvSpPr>
          <p:cNvPr id="1048663" name="Picture Placeholder 2"/>
          <p:cNvSpPr>
            <a:spLocks noGrp="1"/>
          </p:cNvSpPr>
          <p:nvPr>
            <p:ph type="pic" idx="1"/>
          </p:nvPr>
        </p:nvSpPr>
        <p:spPr>
          <a:xfrm>
            <a:off x="1792288" y="612775"/>
            <a:ext cx="5486400" cy="4114800"/>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8664" name="Text Placeholder 3"/>
          <p:cNvSpPr>
            <a:spLocks noGrp="1"/>
          </p:cNvSpPr>
          <p:nvPr>
            <p:ph type="body" sz="half" idx="2"/>
          </p:nvPr>
        </p:nvSpPr>
        <p:spPr>
          <a:xfrm>
            <a:off x="1792288" y="5367338"/>
            <a:ext cx="54864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665" name="Date Placeholder 4"/>
          <p:cNvSpPr>
            <a:spLocks noGrp="1"/>
          </p:cNvSpPr>
          <p:nvPr>
            <p:ph type="dt" sz="half" idx="10"/>
          </p:nvPr>
        </p:nvSpPr>
        <p:spPr/>
        <p:txBody>
          <a:bodyPr/>
          <a:p>
            <a:fld id="{1D8BD707-D9CF-40AE-B4C6-C98DA3205C09}" type="datetimeFigureOut">
              <a:rPr lang="en-US" smtClean="0"/>
              <a:t>4/16/2024</a:t>
            </a:fld>
            <a:endParaRPr lang="en-US"/>
          </a:p>
        </p:txBody>
      </p:sp>
      <p:sp>
        <p:nvSpPr>
          <p:cNvPr id="1048666" name="Footer Placeholder 5"/>
          <p:cNvSpPr>
            <a:spLocks noGrp="1"/>
          </p:cNvSpPr>
          <p:nvPr>
            <p:ph type="ftr" sz="quarter" idx="11"/>
          </p:nvPr>
        </p:nvSpPr>
        <p:spPr/>
        <p:txBody>
          <a:bodyPr/>
          <a:p>
            <a:endParaRPr lang="en-US"/>
          </a:p>
        </p:txBody>
      </p:sp>
      <p:sp>
        <p:nvSpPr>
          <p:cNvPr id="1048667" name="Slide Number Placeholder 6"/>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86" name=""/>
        <p:cNvGrpSpPr/>
        <p:nvPr/>
      </p:nvGrpSpPr>
      <p:grpSpPr>
        <a:xfrm>
          <a:off x="0" y="0"/>
          <a:ext cx="0" cy="0"/>
          <a:chOff x="0" y="0"/>
          <a:chExt cx="0" cy="0"/>
        </a:xfrm>
      </p:grpSpPr>
      <p:sp>
        <p:nvSpPr>
          <p:cNvPr id="1048668" name="Title 1"/>
          <p:cNvSpPr>
            <a:spLocks noGrp="1"/>
          </p:cNvSpPr>
          <p:nvPr>
            <p:ph type="title"/>
          </p:nvPr>
        </p:nvSpPr>
        <p:spPr/>
        <p:txBody>
          <a:bodyPr/>
          <a:p>
            <a:r>
              <a:rPr lang="en-US"/>
              <a:t>Click to edit Master title style</a:t>
            </a:r>
          </a:p>
        </p:txBody>
      </p:sp>
      <p:sp>
        <p:nvSpPr>
          <p:cNvPr id="1048669" name="Vertical Text Placeholder 2"/>
          <p:cNvSpPr>
            <a:spLocks noGrp="1"/>
          </p:cNvSpPr>
          <p:nvPr>
            <p:ph type="body" orient="vert" idx="1"/>
          </p:nvPr>
        </p:nvSpPr>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70" name="Date Placeholder 3"/>
          <p:cNvSpPr>
            <a:spLocks noGrp="1"/>
          </p:cNvSpPr>
          <p:nvPr>
            <p:ph type="dt" sz="half" idx="10"/>
          </p:nvPr>
        </p:nvSpPr>
        <p:spPr/>
        <p:txBody>
          <a:bodyPr/>
          <a:p>
            <a:fld id="{1D8BD707-D9CF-40AE-B4C6-C98DA3205C09}" type="datetimeFigureOut">
              <a:rPr lang="en-US" smtClean="0"/>
              <a:t>4/16/2024</a:t>
            </a:fld>
            <a:endParaRPr lang="en-US"/>
          </a:p>
        </p:txBody>
      </p:sp>
      <p:sp>
        <p:nvSpPr>
          <p:cNvPr id="1048671" name="Footer Placeholder 4"/>
          <p:cNvSpPr>
            <a:spLocks noGrp="1"/>
          </p:cNvSpPr>
          <p:nvPr>
            <p:ph type="ftr" sz="quarter" idx="11"/>
          </p:nvPr>
        </p:nvSpPr>
        <p:spPr/>
        <p:txBody>
          <a:bodyPr/>
          <a:p>
            <a:endParaRPr lang="en-US"/>
          </a:p>
        </p:txBody>
      </p:sp>
      <p:sp>
        <p:nvSpPr>
          <p:cNvPr id="1048672"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84" name=""/>
        <p:cNvGrpSpPr/>
        <p:nvPr/>
      </p:nvGrpSpPr>
      <p:grpSpPr>
        <a:xfrm>
          <a:off x="0" y="0"/>
          <a:ext cx="0" cy="0"/>
          <a:chOff x="0" y="0"/>
          <a:chExt cx="0" cy="0"/>
        </a:xfrm>
      </p:grpSpPr>
      <p:sp>
        <p:nvSpPr>
          <p:cNvPr id="1048657" name="Vertical Title 1"/>
          <p:cNvSpPr>
            <a:spLocks noGrp="1"/>
          </p:cNvSpPr>
          <p:nvPr>
            <p:ph type="title" orient="vert"/>
          </p:nvPr>
        </p:nvSpPr>
        <p:spPr>
          <a:xfrm>
            <a:off x="6629400" y="274638"/>
            <a:ext cx="2057400" cy="5851525"/>
          </a:xfrm>
        </p:spPr>
        <p:txBody>
          <a:bodyPr vert="eaVert"/>
          <a:p>
            <a:r>
              <a:rPr lang="en-US"/>
              <a:t>Click to edit Master title style</a:t>
            </a:r>
          </a:p>
        </p:txBody>
      </p:sp>
      <p:sp>
        <p:nvSpPr>
          <p:cNvPr id="1048658" name="Vertical Text Placeholder 2"/>
          <p:cNvSpPr>
            <a:spLocks noGrp="1"/>
          </p:cNvSpPr>
          <p:nvPr>
            <p:ph type="body" orient="vert" idx="1"/>
          </p:nvPr>
        </p:nvSpPr>
        <p:spPr>
          <a:xfrm>
            <a:off x="457200" y="274638"/>
            <a:ext cx="6019800" cy="5851525"/>
          </a:xfrm>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9" name="Date Placeholder 3"/>
          <p:cNvSpPr>
            <a:spLocks noGrp="1"/>
          </p:cNvSpPr>
          <p:nvPr>
            <p:ph type="dt" sz="half" idx="10"/>
          </p:nvPr>
        </p:nvSpPr>
        <p:spPr/>
        <p:txBody>
          <a:bodyPr/>
          <a:p>
            <a:fld id="{1D8BD707-D9CF-40AE-B4C6-C98DA3205C09}" type="datetimeFigureOut">
              <a:rPr lang="en-US" smtClean="0"/>
              <a:t>4/16/2024</a:t>
            </a:fld>
            <a:endParaRPr lang="en-US"/>
          </a:p>
        </p:txBody>
      </p:sp>
      <p:sp>
        <p:nvSpPr>
          <p:cNvPr id="1048660" name="Footer Placeholder 4"/>
          <p:cNvSpPr>
            <a:spLocks noGrp="1"/>
          </p:cNvSpPr>
          <p:nvPr>
            <p:ph type="ftr" sz="quarter" idx="11"/>
          </p:nvPr>
        </p:nvSpPr>
        <p:spPr/>
        <p:txBody>
          <a:bodyPr/>
          <a:p>
            <a:endParaRPr lang="en-US"/>
          </a:p>
        </p:txBody>
      </p:sp>
      <p:sp>
        <p:nvSpPr>
          <p:cNvPr id="1048661"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1"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p:spPr>
        <p:txBody>
          <a:bodyPr anchor="ctr" bIns="45720" lIns="91440" rIns="91440" rtlCol="0" tIns="45720" vert="horz">
            <a:normAutofit/>
          </a:bodyPr>
          <a:p>
            <a:r>
              <a:rPr lang="en-US"/>
              <a:t>Click to edit Master title style</a:t>
            </a:r>
          </a:p>
        </p:txBody>
      </p:sp>
      <p:sp>
        <p:nvSpPr>
          <p:cNvPr id="1048577" name="Text Placeholder 2"/>
          <p:cNvSpPr>
            <a:spLocks noGrp="1"/>
          </p:cNvSpPr>
          <p:nvPr>
            <p:ph type="body" idx="1"/>
          </p:nvPr>
        </p:nvSpPr>
        <p:spPr>
          <a:xfrm>
            <a:off x="457200" y="1600200"/>
            <a:ext cx="8229600" cy="4525963"/>
          </a:xfrm>
          <a:prstGeom prst="rect"/>
        </p:spPr>
        <p:txBody>
          <a:bodyPr bIns="45720" lIns="91440" rIns="91440" rtlCol="0" tIns="45720" vert="horz">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457200" y="6356350"/>
            <a:ext cx="2133600" cy="365125"/>
          </a:xfrm>
          <a:prstGeom prst="rect"/>
        </p:spPr>
        <p:txBody>
          <a:bodyPr anchor="ctr" bIns="45720" lIns="91440" rIns="91440" rtlCol="0" tIns="45720" vert="horz"/>
          <a:lstStyle>
            <a:lvl1pPr algn="l">
              <a:defRPr sz="1200">
                <a:solidFill>
                  <a:schemeClr val="tx1">
                    <a:tint val="75000"/>
                  </a:schemeClr>
                </a:solidFill>
              </a:defRPr>
            </a:lvl1pPr>
          </a:lstStyle>
          <a:p>
            <a:fld id="{1D8BD707-D9CF-40AE-B4C6-C98DA3205C09}" type="datetimeFigureOut">
              <a:rPr lang="en-US" smtClean="0"/>
              <a:t>4/16/2024</a:t>
            </a:fld>
            <a:endParaRPr lang="en-US"/>
          </a:p>
        </p:txBody>
      </p:sp>
      <p:sp>
        <p:nvSpPr>
          <p:cNvPr id="1048579" name="Footer Placeholder 4"/>
          <p:cNvSpPr>
            <a:spLocks noGrp="1"/>
          </p:cNvSpPr>
          <p:nvPr>
            <p:ph type="ftr" sz="quarter" idx="3"/>
          </p:nvPr>
        </p:nvSpPr>
        <p:spPr>
          <a:xfrm>
            <a:off x="3124200" y="6356350"/>
            <a:ext cx="28956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6553200" y="6356350"/>
            <a:ext cx="2133600" cy="365125"/>
          </a:xfrm>
          <a:prstGeom prst="rect"/>
        </p:spPr>
        <p:txBody>
          <a:bodyPr anchor="ctr" bIns="45720" lIns="91440" rIns="91440" rtlCol="0" tIns="45720" vert="horz"/>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accent1="accent1" accent2="accent2" accent3="accent3" accent4="accent4" accent5="accent5" accent6="accent6" bg1="lt1" bg2="lt2" tx1="dk1" tx2="dk2"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hyperlink" Target="https://www.questionpro.com/blog/simple-random-sampling/" TargetMode="External"/><Relationship Id="rId2" Type="http://schemas.openxmlformats.org/officeDocument/2006/relationships/image" Target="../media/image7.png"/><Relationship Id="rId3"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hyperlink" Target="https://www.questionpro.com/blog/stratified-random-sampling/" TargetMode="External"/><Relationship Id="rId2" Type="http://schemas.openxmlformats.org/officeDocument/2006/relationships/image" Target="../media/image8.png"/><Relationship Id="rId3"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hyperlink" Target="https://www.questionpro.com/blog/cluster-sampling/" TargetMode="External"/><Relationship Id="rId2" Type="http://schemas.openxmlformats.org/officeDocument/2006/relationships/image" Target="../media/image10.png"/><Relationship Id="rId3"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hyperlink" Target="https://www.questionpro.com/blog/systematic-sampling/" TargetMode="External"/><Relationship Id="rId2" Type="http://schemas.openxmlformats.org/officeDocument/2006/relationships/image" Target="../media/image14.png"/><Relationship Id="rId3"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hyperlink" Target="https://www.questionpro.com/blog/quota-sampling/" TargetMode="External"/><Relationship Id="rId2" Type="http://schemas.openxmlformats.org/officeDocument/2006/relationships/image" Target="../media/image20.png"/><Relationship Id="rId3"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hyperlink" Target="http://en.wikipedia.org/wiki/Mutually_exclusive" TargetMode="External"/><Relationship Id="rId2" Type="http://schemas.openxmlformats.org/officeDocument/2006/relationships/hyperlink" Target="http://en.wikipedia.org/wiki/Stratified_sampling" TargetMode="External"/><Relationship Id="rId3" Type="http://schemas.openxmlformats.org/officeDocument/2006/relationships/hyperlink" Target="http://en.wikipedia.org/wiki/Random" TargetMode="External"/><Relationship Id="rId4" Type="http://schemas.openxmlformats.org/officeDocument/2006/relationships/hyperlink" Target="http://en.wikipedia.org/wiki/Biased_samples" TargetMode="External"/><Relationship Id="rId5"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1048586" name="Title 1"/>
          <p:cNvSpPr>
            <a:spLocks noGrp="1"/>
          </p:cNvSpPr>
          <p:nvPr>
            <p:ph type="ctrTitle"/>
          </p:nvPr>
        </p:nvSpPr>
        <p:spPr>
          <a:xfrm>
            <a:off x="533400" y="2895600"/>
            <a:ext cx="8229600" cy="1470025"/>
          </a:xfrm>
        </p:spPr>
        <p:txBody>
          <a:bodyPr>
            <a:normAutofit fontScale="90000"/>
          </a:bodyPr>
          <a:p>
            <a:r>
              <a:rPr dirty="0" lang="tr-TR">
                <a:latin typeface="Arial" charset="0"/>
              </a:rPr>
              <a:t>Chapter 8</a:t>
            </a:r>
            <a:br>
              <a:rPr dirty="0" lang="tr-TR">
                <a:latin typeface="Arial" charset="0"/>
              </a:rPr>
            </a:br>
            <a:br>
              <a:rPr dirty="0" lang="tr-TR">
                <a:latin typeface="Arial" charset="0"/>
              </a:rPr>
            </a:br>
            <a:r>
              <a:rPr b="1" dirty="0" sz="5300" lang="tr-TR"/>
              <a:t>SAMPLING </a:t>
            </a:r>
            <a:br>
              <a:rPr b="1" dirty="0" sz="5300" lang="tr-TR"/>
            </a:br>
            <a:r>
              <a:rPr b="1" dirty="0" sz="5300" lang="tr-TR"/>
              <a:t>and </a:t>
            </a:r>
            <a:br>
              <a:rPr b="1" dirty="0" sz="5300" lang="tr-TR"/>
            </a:br>
            <a:r>
              <a:rPr b="1" dirty="0" sz="5300" lang="tr-TR"/>
              <a:t>SAMPLING METHODS</a:t>
            </a:r>
            <a:br>
              <a:rPr dirty="0" lang="tr-TR"/>
            </a:br>
            <a:endParaRPr dirty="0" lang="tr-T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sp>
        <p:nvSpPr>
          <p:cNvPr id="1048592" name="Title 1"/>
          <p:cNvSpPr>
            <a:spLocks noGrp="1"/>
          </p:cNvSpPr>
          <p:nvPr>
            <p:ph type="title"/>
          </p:nvPr>
        </p:nvSpPr>
        <p:spPr/>
        <p:txBody>
          <a:bodyPr/>
          <a:p>
            <a:r>
              <a:rPr b="1" dirty="0" lang="tr-TR"/>
              <a:t>SAMPLING</a:t>
            </a:r>
          </a:p>
        </p:txBody>
      </p:sp>
      <p:sp>
        <p:nvSpPr>
          <p:cNvPr id="1048593" name="Content Placeholder 2"/>
          <p:cNvSpPr>
            <a:spLocks noGrp="1"/>
          </p:cNvSpPr>
          <p:nvPr>
            <p:ph idx="1"/>
          </p:nvPr>
        </p:nvSpPr>
        <p:spPr/>
        <p:txBody>
          <a:bodyPr>
            <a:normAutofit/>
          </a:bodyPr>
          <a:p>
            <a:pPr algn="just"/>
            <a:r>
              <a:rPr dirty="0" sz="2800" lang="en-US"/>
              <a:t>If the data you collect</a:t>
            </a:r>
            <a:r>
              <a:rPr dirty="0" sz="2800" lang="tr-TR"/>
              <a:t> </a:t>
            </a:r>
            <a:r>
              <a:rPr dirty="0" sz="2800" lang="en-US"/>
              <a:t>really are the same as you would get from the rest, then you can</a:t>
            </a:r>
            <a:r>
              <a:rPr dirty="0" sz="2800" lang="tr-TR"/>
              <a:t> </a:t>
            </a:r>
            <a:r>
              <a:rPr dirty="0" sz="2800" lang="en-US"/>
              <a:t>draw conclusions from those answers which you can relate to the</a:t>
            </a:r>
            <a:r>
              <a:rPr dirty="0" sz="2800" lang="tr-TR"/>
              <a:t> </a:t>
            </a:r>
            <a:r>
              <a:rPr dirty="0" sz="2800" lang="en-US"/>
              <a:t>whole group. </a:t>
            </a:r>
            <a:endParaRPr dirty="0" sz="2800" lang="tr-TR"/>
          </a:p>
          <a:p>
            <a:pPr algn="just"/>
            <a:endParaRPr dirty="0" sz="2800" lang="tr-TR"/>
          </a:p>
          <a:p>
            <a:pPr algn="just"/>
            <a:r>
              <a:rPr dirty="0" sz="2800" lang="en-US"/>
              <a:t>This process of selecting just a small group of cases</a:t>
            </a:r>
            <a:r>
              <a:rPr dirty="0" sz="2800" lang="tr-TR"/>
              <a:t> </a:t>
            </a:r>
            <a:r>
              <a:rPr dirty="0" sz="2800" lang="en-US"/>
              <a:t>from out of a large group is called</a:t>
            </a:r>
            <a:r>
              <a:rPr dirty="0" sz="2800" lang="tr-TR"/>
              <a:t> </a:t>
            </a:r>
            <a:r>
              <a:rPr b="1" dirty="0" sz="2800" lang="en-US"/>
              <a:t>sampling</a:t>
            </a:r>
            <a:r>
              <a:rPr dirty="0" sz="2800" lang="en-US"/>
              <a:t>.</a:t>
            </a:r>
            <a:endParaRPr dirty="0" sz="2800" lang="tr-T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51" name=""/>
        <p:cNvGrpSpPr/>
        <p:nvPr/>
      </p:nvGrpSpPr>
      <p:grpSpPr>
        <a:xfrm>
          <a:off x="0" y="0"/>
          <a:ext cx="0" cy="0"/>
          <a:chOff x="0" y="0"/>
          <a:chExt cx="0" cy="0"/>
        </a:xfrm>
      </p:grpSpPr>
      <p:sp>
        <p:nvSpPr>
          <p:cNvPr id="1048594" name="Title 1"/>
          <p:cNvSpPr>
            <a:spLocks noGrp="1"/>
          </p:cNvSpPr>
          <p:nvPr>
            <p:ph type="title"/>
          </p:nvPr>
        </p:nvSpPr>
        <p:spPr/>
        <p:txBody>
          <a:bodyPr/>
          <a:p>
            <a:r>
              <a:rPr dirty="0" lang="en-US"/>
              <a:t>Sampling------</a:t>
            </a:r>
          </a:p>
        </p:txBody>
      </p:sp>
      <p:sp>
        <p:nvSpPr>
          <p:cNvPr id="1048595" name="Content Placeholder 2"/>
          <p:cNvSpPr>
            <a:spLocks noGrp="1"/>
          </p:cNvSpPr>
          <p:nvPr>
            <p:ph idx="1"/>
          </p:nvPr>
        </p:nvSpPr>
        <p:spPr/>
        <p:txBody>
          <a:bodyPr/>
          <a:p>
            <a:pPr fontAlgn="base" lvl="2">
              <a:spcAft>
                <a:spcPct val="0"/>
              </a:spcAft>
            </a:pPr>
            <a:r>
              <a:rPr altLang="en-US" dirty="0" sz="2800" lang="en-US">
                <a:solidFill>
                  <a:srgbClr val="C0504D"/>
                </a:solidFill>
                <a:latin typeface="Arial" panose="020B0604020202020204" pitchFamily="34" charset="0"/>
                <a:cs typeface="Arial" panose="020B0604020202020204" pitchFamily="34" charset="0"/>
              </a:rPr>
              <a:t>To whom do you want to generalize your results?</a:t>
            </a:r>
          </a:p>
          <a:p>
            <a:pPr fontAlgn="base" lvl="3">
              <a:spcAft>
                <a:spcPct val="0"/>
              </a:spcAft>
            </a:pPr>
            <a:r>
              <a:rPr altLang="en-US" dirty="0" sz="2800" lang="en-US">
                <a:solidFill>
                  <a:srgbClr val="C0504D"/>
                </a:solidFill>
                <a:latin typeface="Arial" panose="020B0604020202020204" pitchFamily="34" charset="0"/>
                <a:cs typeface="Arial" panose="020B0604020202020204" pitchFamily="34" charset="0"/>
              </a:rPr>
              <a:t>All doctors</a:t>
            </a:r>
          </a:p>
          <a:p>
            <a:pPr fontAlgn="base" lvl="3">
              <a:spcAft>
                <a:spcPct val="0"/>
              </a:spcAft>
            </a:pPr>
            <a:r>
              <a:rPr altLang="en-US" dirty="0" sz="2800" lang="en-US">
                <a:solidFill>
                  <a:srgbClr val="C0504D"/>
                </a:solidFill>
                <a:latin typeface="Arial" panose="020B0604020202020204" pitchFamily="34" charset="0"/>
                <a:cs typeface="Arial" panose="020B0604020202020204" pitchFamily="34" charset="0"/>
              </a:rPr>
              <a:t>School children</a:t>
            </a:r>
          </a:p>
          <a:p>
            <a:pPr fontAlgn="base" lvl="3">
              <a:spcAft>
                <a:spcPct val="0"/>
              </a:spcAft>
            </a:pPr>
            <a:r>
              <a:rPr altLang="en-US" dirty="0" sz="2800" lang="en-US">
                <a:solidFill>
                  <a:srgbClr val="C0504D"/>
                </a:solidFill>
                <a:latin typeface="Arial" panose="020B0604020202020204" pitchFamily="34" charset="0"/>
                <a:cs typeface="Arial" panose="020B0604020202020204" pitchFamily="34" charset="0"/>
              </a:rPr>
              <a:t>Indians</a:t>
            </a:r>
          </a:p>
          <a:p>
            <a:pPr fontAlgn="base" lvl="3">
              <a:spcAft>
                <a:spcPct val="0"/>
              </a:spcAft>
            </a:pPr>
            <a:r>
              <a:rPr altLang="en-US" dirty="0" sz="2800" lang="en-US">
                <a:solidFill>
                  <a:srgbClr val="C0504D"/>
                </a:solidFill>
                <a:latin typeface="Arial" panose="020B0604020202020204" pitchFamily="34" charset="0"/>
                <a:cs typeface="Arial" panose="020B0604020202020204" pitchFamily="34" charset="0"/>
              </a:rPr>
              <a:t>Women aged 15-45 years</a:t>
            </a:r>
          </a:p>
          <a:p>
            <a:pPr fontAlgn="base" lvl="3">
              <a:spcAft>
                <a:spcPct val="0"/>
              </a:spcAft>
            </a:pPr>
            <a:r>
              <a:rPr altLang="en-US" dirty="0" sz="2800" lang="en-US">
                <a:solidFill>
                  <a:srgbClr val="C0504D"/>
                </a:solidFill>
                <a:latin typeface="Arial" panose="020B0604020202020204" pitchFamily="34" charset="0"/>
                <a:cs typeface="Arial" panose="020B0604020202020204" pitchFamily="34" charset="0"/>
              </a:rPr>
              <a:t>Other</a:t>
            </a:r>
          </a:p>
          <a:p>
            <a:r>
              <a:rPr altLang="en-US" dirty="0" sz="2800" lang="en-US">
                <a:solidFill>
                  <a:schemeClr val="accent2"/>
                </a:solidFill>
                <a:latin typeface="Arial" panose="020B0604020202020204" pitchFamily="34" charset="0"/>
                <a:cs typeface="Arial" panose="020B0604020202020204" pitchFamily="34" charset="0"/>
              </a:rPr>
              <a:t>Can you sample the entire population?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sp>
        <p:nvSpPr>
          <p:cNvPr id="1048596" name="Title 1"/>
          <p:cNvSpPr>
            <a:spLocks noGrp="1"/>
          </p:cNvSpPr>
          <p:nvPr>
            <p:ph type="title"/>
          </p:nvPr>
        </p:nvSpPr>
        <p:spPr/>
        <p:txBody>
          <a:bodyPr/>
          <a:p>
            <a:endParaRPr lang="tr-TR"/>
          </a:p>
        </p:txBody>
      </p:sp>
      <p:sp>
        <p:nvSpPr>
          <p:cNvPr id="1048597" name="Content Placeholder 2"/>
          <p:cNvSpPr>
            <a:spLocks noGrp="1"/>
          </p:cNvSpPr>
          <p:nvPr>
            <p:ph idx="1"/>
          </p:nvPr>
        </p:nvSpPr>
        <p:spPr/>
        <p:txBody>
          <a:bodyPr/>
          <a:p>
            <a:endParaRPr lang="tr-TR"/>
          </a:p>
        </p:txBody>
      </p:sp>
      <p:pic>
        <p:nvPicPr>
          <p:cNvPr id="2097152" name="Picture 3" descr="M07NF001"/>
          <p:cNvPicPr>
            <a:picLocks noChangeAspect="1" noChangeArrowheads="1"/>
          </p:cNvPicPr>
          <p:nvPr/>
        </p:nvPicPr>
        <p:blipFill>
          <a:blip xmlns:r="http://schemas.openxmlformats.org/officeDocument/2006/relationships" r:embed="rId1"/>
          <a:srcRect/>
          <a:stretch>
            <a:fillRect/>
          </a:stretch>
        </p:blipFill>
        <p:spPr bwMode="auto">
          <a:xfrm>
            <a:off x="561109" y="762000"/>
            <a:ext cx="8037677" cy="5215847"/>
          </a:xfrm>
          <a:prstGeom prst="rect"/>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53" name=""/>
        <p:cNvGrpSpPr/>
        <p:nvPr/>
      </p:nvGrpSpPr>
      <p:grpSpPr>
        <a:xfrm>
          <a:off x="0" y="0"/>
          <a:ext cx="0" cy="0"/>
          <a:chOff x="0" y="0"/>
          <a:chExt cx="0" cy="0"/>
        </a:xfrm>
      </p:grpSpPr>
      <p:sp>
        <p:nvSpPr>
          <p:cNvPr id="1048598" name="Title 1"/>
          <p:cNvSpPr>
            <a:spLocks noGrp="1"/>
          </p:cNvSpPr>
          <p:nvPr>
            <p:ph type="title"/>
          </p:nvPr>
        </p:nvSpPr>
        <p:spPr/>
        <p:txBody>
          <a:bodyPr/>
          <a:p>
            <a:r>
              <a:rPr dirty="0" lang="en-US"/>
              <a:t>Sampling </a:t>
            </a:r>
          </a:p>
        </p:txBody>
      </p:sp>
      <p:pic>
        <p:nvPicPr>
          <p:cNvPr id="2097153" name="Content Placeholder 3"/>
          <p:cNvPicPr>
            <a:picLocks noChangeAspect="1" noGrp="1"/>
          </p:cNvPicPr>
          <p:nvPr>
            <p:ph idx="1"/>
          </p:nvPr>
        </p:nvPicPr>
        <p:blipFill>
          <a:blip xmlns:r="http://schemas.openxmlformats.org/officeDocument/2006/relationships" r:embed="rId1"/>
          <a:stretch>
            <a:fillRect/>
          </a:stretch>
        </p:blipFill>
        <p:spPr>
          <a:xfrm>
            <a:off x="228600" y="1295400"/>
            <a:ext cx="8153400" cy="5287962"/>
          </a:xfrm>
          <a:prstGeom prst="rec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sp>
        <p:nvSpPr>
          <p:cNvPr id="1048599" name="Title 1"/>
          <p:cNvSpPr>
            <a:spLocks noGrp="1"/>
          </p:cNvSpPr>
          <p:nvPr>
            <p:ph type="title"/>
          </p:nvPr>
        </p:nvSpPr>
        <p:spPr/>
        <p:txBody>
          <a:bodyPr/>
          <a:p>
            <a:r>
              <a:rPr altLang="en-US" dirty="0" lang="en-GB">
                <a:latin typeface="Arial" charset="0"/>
              </a:rPr>
              <a:t>The need to sample</a:t>
            </a:r>
            <a:endParaRPr dirty="0" lang="tr-TR"/>
          </a:p>
        </p:txBody>
      </p:sp>
      <p:sp>
        <p:nvSpPr>
          <p:cNvPr id="1048600" name="Content Placeholder 2"/>
          <p:cNvSpPr>
            <a:spLocks noGrp="1"/>
          </p:cNvSpPr>
          <p:nvPr>
            <p:ph idx="1"/>
          </p:nvPr>
        </p:nvSpPr>
        <p:spPr/>
        <p:txBody>
          <a:bodyPr>
            <a:normAutofit/>
          </a:bodyPr>
          <a:p>
            <a:pPr algn="ctr">
              <a:buNone/>
            </a:pPr>
            <a:r>
              <a:rPr altLang="en-US" b="1" dirty="0" lang="en-GB">
                <a:latin typeface="Arial" charset="0"/>
              </a:rPr>
              <a:t>Sampling- a valid alternative to a census when</a:t>
            </a:r>
            <a:r>
              <a:rPr altLang="en-US" b="1" dirty="0" lang="tr-TR">
                <a:latin typeface="Arial" charset="0"/>
              </a:rPr>
              <a:t>;</a:t>
            </a:r>
            <a:endParaRPr altLang="en-US" b="1" dirty="0" lang="en-GB">
              <a:latin typeface="Arial" charset="0"/>
            </a:endParaRPr>
          </a:p>
          <a:p>
            <a:endParaRPr altLang="en-US" dirty="0" lang="en-GB">
              <a:latin typeface="Arial" charset="0"/>
            </a:endParaRPr>
          </a:p>
          <a:p>
            <a:r>
              <a:rPr altLang="en-US" dirty="0" lang="en-GB">
                <a:latin typeface="Arial" charset="0"/>
              </a:rPr>
              <a:t>A survey of the entire population is </a:t>
            </a:r>
            <a:r>
              <a:rPr altLang="en-US" dirty="0" lang="en-GB" u="sng">
                <a:latin typeface="Arial" charset="0"/>
              </a:rPr>
              <a:t>impracticable</a:t>
            </a:r>
          </a:p>
          <a:p>
            <a:pPr>
              <a:buNone/>
            </a:pPr>
            <a:endParaRPr altLang="en-US" dirty="0" lang="en-GB">
              <a:latin typeface="Arial" charset="0"/>
            </a:endParaRPr>
          </a:p>
          <a:p>
            <a:r>
              <a:rPr altLang="en-US" dirty="0" lang="en-GB" u="sng">
                <a:latin typeface="Arial" charset="0"/>
              </a:rPr>
              <a:t>Budget</a:t>
            </a:r>
            <a:r>
              <a:rPr altLang="en-US" dirty="0" lang="en-GB">
                <a:latin typeface="Arial" charset="0"/>
              </a:rPr>
              <a:t> constraints restrict data collection</a:t>
            </a:r>
          </a:p>
          <a:p>
            <a:pPr>
              <a:buNone/>
            </a:pPr>
            <a:endParaRPr altLang="en-US" dirty="0" lang="en-GB">
              <a:latin typeface="Arial" charset="0"/>
            </a:endParaRPr>
          </a:p>
          <a:p>
            <a:r>
              <a:rPr altLang="en-US" dirty="0" lang="en-GB" u="sng">
                <a:latin typeface="Arial" charset="0"/>
              </a:rPr>
              <a:t>Time</a:t>
            </a:r>
            <a:r>
              <a:rPr altLang="en-US" dirty="0" lang="en-GB">
                <a:latin typeface="Arial" charset="0"/>
              </a:rPr>
              <a:t> constraints restrict data collection</a:t>
            </a:r>
          </a:p>
          <a:p>
            <a:pPr>
              <a:buNone/>
            </a:pPr>
            <a:endParaRPr altLang="en-US" dirty="0" lang="en-GB">
              <a:latin typeface="Arial" charset="0"/>
            </a:endParaRPr>
          </a:p>
          <a:p>
            <a:r>
              <a:rPr altLang="en-US" dirty="0" lang="en-GB">
                <a:latin typeface="Arial" charset="0"/>
              </a:rPr>
              <a:t>Results from data collection are </a:t>
            </a:r>
            <a:r>
              <a:rPr altLang="en-US" dirty="0" lang="en-GB" u="sng">
                <a:latin typeface="Arial" charset="0"/>
              </a:rPr>
              <a:t>needed quickly</a:t>
            </a:r>
          </a:p>
          <a:p>
            <a:endParaRPr dirty="0" lang="tr-T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601" name="Content Placeholder 2"/>
          <p:cNvSpPr>
            <a:spLocks noGrp="1"/>
          </p:cNvSpPr>
          <p:nvPr>
            <p:ph idx="1"/>
          </p:nvPr>
        </p:nvSpPr>
        <p:spPr>
          <a:xfrm>
            <a:off x="228600" y="1066800"/>
            <a:ext cx="8458200" cy="5059363"/>
          </a:xfrm>
        </p:spPr>
        <p:txBody>
          <a:bodyPr>
            <a:normAutofit/>
          </a:bodyPr>
          <a:p>
            <a:pPr algn="just" indent="0" marL="0">
              <a:buNone/>
            </a:pPr>
            <a:r>
              <a:rPr b="1" dirty="0" sz="3000" lang="en-US"/>
              <a:t>When doing a survey</a:t>
            </a:r>
            <a:r>
              <a:rPr dirty="0" sz="3000" lang="en-US"/>
              <a:t>, the question inevitably arises: </a:t>
            </a:r>
            <a:endParaRPr dirty="0" sz="3000" lang="tr-TR"/>
          </a:p>
          <a:p>
            <a:pPr algn="just"/>
            <a:endParaRPr dirty="0" sz="3000" lang="tr-TR"/>
          </a:p>
          <a:p>
            <a:pPr algn="just"/>
            <a:r>
              <a:rPr dirty="0" sz="3000" lang="en-US"/>
              <a:t>how representative</a:t>
            </a:r>
            <a:r>
              <a:rPr dirty="0" sz="3000" lang="tr-TR"/>
              <a:t> </a:t>
            </a:r>
            <a:r>
              <a:rPr dirty="0" sz="3000" lang="en-US"/>
              <a:t>is the sample of the whole population, in other words</a:t>
            </a:r>
            <a:r>
              <a:rPr dirty="0" sz="3000" lang="tr-TR"/>
              <a:t>;</a:t>
            </a:r>
            <a:r>
              <a:rPr dirty="0" sz="3000" lang="en-US"/>
              <a:t> </a:t>
            </a:r>
            <a:endParaRPr dirty="0" sz="3000" lang="tr-TR"/>
          </a:p>
          <a:p>
            <a:pPr algn="just"/>
            <a:r>
              <a:rPr dirty="0" sz="3000" lang="en-US"/>
              <a:t>how</a:t>
            </a:r>
            <a:r>
              <a:rPr dirty="0" sz="3000" lang="tr-TR"/>
              <a:t> </a:t>
            </a:r>
            <a:r>
              <a:rPr dirty="0" sz="3000" lang="en-US"/>
              <a:t>similar are characteristics of the small group of cases that are chosen</a:t>
            </a:r>
            <a:r>
              <a:rPr dirty="0" sz="3000" lang="tr-TR"/>
              <a:t> </a:t>
            </a:r>
            <a:r>
              <a:rPr dirty="0" sz="3000" lang="en-US"/>
              <a:t>for the survey to those of all of the cases in the whole group?</a:t>
            </a:r>
            <a:endParaRPr dirty="0" sz="3000" lang="tr-T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56" name=""/>
        <p:cNvGrpSpPr/>
        <p:nvPr/>
      </p:nvGrpSpPr>
      <p:grpSpPr>
        <a:xfrm>
          <a:off x="0" y="0"/>
          <a:ext cx="0" cy="0"/>
          <a:chOff x="0" y="0"/>
          <a:chExt cx="0" cy="0"/>
        </a:xfrm>
      </p:grpSpPr>
      <p:sp>
        <p:nvSpPr>
          <p:cNvPr id="1048602" name="Title 1"/>
          <p:cNvSpPr>
            <a:spLocks noGrp="1"/>
          </p:cNvSpPr>
          <p:nvPr>
            <p:ph type="title"/>
          </p:nvPr>
        </p:nvSpPr>
        <p:spPr/>
        <p:txBody>
          <a:bodyPr/>
          <a:p>
            <a:r>
              <a:rPr dirty="0" lang="en-US"/>
              <a:t>Sampling………… </a:t>
            </a:r>
          </a:p>
        </p:txBody>
      </p:sp>
      <p:sp>
        <p:nvSpPr>
          <p:cNvPr id="1048603" name="Rectangle 3"/>
          <p:cNvSpPr>
            <a:spLocks noGrp="1" noChangeArrowheads="1"/>
          </p:cNvSpPr>
          <p:nvPr>
            <p:ph idx="1"/>
          </p:nvPr>
        </p:nvSpPr>
        <p:spPr>
          <a:xfrm>
            <a:off x="457200" y="1600200"/>
            <a:ext cx="8229600" cy="4525963"/>
          </a:xfrm>
        </p:spPr>
        <p:txBody>
          <a:bodyPr/>
          <a:p>
            <a:pPr eaLnBrk="1" hangingPunct="1">
              <a:lnSpc>
                <a:spcPct val="80000"/>
              </a:lnSpc>
            </a:pPr>
            <a:r>
              <a:rPr altLang="en-US" dirty="0" sz="2800" lang="en-US">
                <a:latin typeface="Arial" panose="020B0604020202020204" pitchFamily="34" charset="0"/>
                <a:cs typeface="Arial" panose="020B0604020202020204" pitchFamily="34" charset="0"/>
              </a:rPr>
              <a:t>3 factors that influence sample representative-ness</a:t>
            </a:r>
          </a:p>
          <a:p>
            <a:pPr eaLnBrk="1" hangingPunct="1" lvl="2">
              <a:lnSpc>
                <a:spcPct val="80000"/>
              </a:lnSpc>
            </a:pPr>
            <a:r>
              <a:rPr altLang="en-US" dirty="0" lang="en-US">
                <a:latin typeface="Arial" panose="020B0604020202020204" pitchFamily="34" charset="0"/>
                <a:cs typeface="Arial" panose="020B0604020202020204" pitchFamily="34" charset="0"/>
              </a:rPr>
              <a:t>Sampling procedure</a:t>
            </a:r>
          </a:p>
          <a:p>
            <a:pPr eaLnBrk="1" hangingPunct="1" lvl="2">
              <a:lnSpc>
                <a:spcPct val="80000"/>
              </a:lnSpc>
            </a:pPr>
            <a:r>
              <a:rPr altLang="en-US" dirty="0" lang="en-US">
                <a:latin typeface="Arial" panose="020B0604020202020204" pitchFamily="34" charset="0"/>
                <a:cs typeface="Arial" panose="020B0604020202020204" pitchFamily="34" charset="0"/>
              </a:rPr>
              <a:t>Sample size</a:t>
            </a:r>
          </a:p>
          <a:p>
            <a:pPr eaLnBrk="1" hangingPunct="1" lvl="2">
              <a:lnSpc>
                <a:spcPct val="80000"/>
              </a:lnSpc>
            </a:pPr>
            <a:r>
              <a:rPr altLang="en-US" dirty="0" lang="en-US">
                <a:latin typeface="Arial" panose="020B0604020202020204" pitchFamily="34" charset="0"/>
                <a:cs typeface="Arial" panose="020B0604020202020204" pitchFamily="34" charset="0"/>
              </a:rPr>
              <a:t>Participation (response)</a:t>
            </a:r>
          </a:p>
          <a:p>
            <a:pPr eaLnBrk="1" hangingPunct="1">
              <a:lnSpc>
                <a:spcPct val="80000"/>
              </a:lnSpc>
            </a:pPr>
            <a:endParaRPr altLang="en-US" dirty="0" sz="2800" lang="en-US">
              <a:latin typeface="Arial" panose="020B0604020202020204" pitchFamily="34" charset="0"/>
              <a:cs typeface="Arial" panose="020B0604020202020204" pitchFamily="34" charset="0"/>
            </a:endParaRPr>
          </a:p>
          <a:p>
            <a:pPr eaLnBrk="1" hangingPunct="1">
              <a:lnSpc>
                <a:spcPct val="80000"/>
              </a:lnSpc>
            </a:pPr>
            <a:r>
              <a:rPr altLang="en-US" dirty="0" sz="2800" lang="en-US">
                <a:latin typeface="Arial" panose="020B0604020202020204" pitchFamily="34" charset="0"/>
                <a:cs typeface="Arial" panose="020B0604020202020204" pitchFamily="34" charset="0"/>
              </a:rPr>
              <a:t>When might you sample the entire population?</a:t>
            </a:r>
          </a:p>
          <a:p>
            <a:pPr eaLnBrk="1" hangingPunct="1" lvl="2">
              <a:lnSpc>
                <a:spcPct val="80000"/>
              </a:lnSpc>
            </a:pPr>
            <a:r>
              <a:rPr altLang="en-US" dirty="0" lang="en-US">
                <a:latin typeface="Arial" panose="020B0604020202020204" pitchFamily="34" charset="0"/>
                <a:cs typeface="Arial" panose="020B0604020202020204" pitchFamily="34" charset="0"/>
              </a:rPr>
              <a:t>When your population is very small</a:t>
            </a:r>
          </a:p>
          <a:p>
            <a:pPr eaLnBrk="1" hangingPunct="1" lvl="2">
              <a:lnSpc>
                <a:spcPct val="80000"/>
              </a:lnSpc>
            </a:pPr>
            <a:r>
              <a:rPr altLang="en-US" dirty="0" lang="en-US">
                <a:latin typeface="Arial" panose="020B0604020202020204" pitchFamily="34" charset="0"/>
                <a:cs typeface="Arial" panose="020B0604020202020204" pitchFamily="34" charset="0"/>
              </a:rPr>
              <a:t>When you have extensive resources</a:t>
            </a:r>
          </a:p>
          <a:p>
            <a:pPr eaLnBrk="1" hangingPunct="1" lvl="2">
              <a:lnSpc>
                <a:spcPct val="80000"/>
              </a:lnSpc>
            </a:pPr>
            <a:r>
              <a:rPr altLang="en-US" dirty="0" lang="en-US">
                <a:latin typeface="Arial" panose="020B0604020202020204" pitchFamily="34" charset="0"/>
                <a:cs typeface="Arial" panose="020B0604020202020204" pitchFamily="34" charset="0"/>
              </a:rPr>
              <a:t>When you don’t expect a very high response</a:t>
            </a:r>
          </a:p>
          <a:p>
            <a:pPr eaLnBrk="1" hangingPunct="1">
              <a:lnSpc>
                <a:spcPct val="80000"/>
              </a:lnSpc>
            </a:pPr>
            <a:endParaRPr altLang="en-US" dirty="0" lang="en-US">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57" name=""/>
        <p:cNvGrpSpPr/>
        <p:nvPr/>
      </p:nvGrpSpPr>
      <p:grpSpPr>
        <a:xfrm>
          <a:off x="0" y="0"/>
          <a:ext cx="0" cy="0"/>
          <a:chOff x="0" y="0"/>
          <a:chExt cx="0" cy="0"/>
        </a:xfrm>
      </p:grpSpPr>
      <p:sp>
        <p:nvSpPr>
          <p:cNvPr id="1048604" name="Title 1"/>
          <p:cNvSpPr>
            <a:spLocks noGrp="1"/>
          </p:cNvSpPr>
          <p:nvPr>
            <p:ph type="title"/>
          </p:nvPr>
        </p:nvSpPr>
        <p:spPr/>
        <p:txBody>
          <a:bodyPr/>
          <a:p>
            <a:r>
              <a:rPr b="1" dirty="0" lang="tr-TR"/>
              <a:t>Population </a:t>
            </a:r>
            <a:r>
              <a:rPr dirty="0" lang="tr-TR"/>
              <a:t>in Research</a:t>
            </a:r>
          </a:p>
        </p:txBody>
      </p:sp>
      <p:sp>
        <p:nvSpPr>
          <p:cNvPr id="1048605" name="Content Placeholder 2"/>
          <p:cNvSpPr>
            <a:spLocks noGrp="1"/>
          </p:cNvSpPr>
          <p:nvPr>
            <p:ph idx="1"/>
          </p:nvPr>
        </p:nvSpPr>
        <p:spPr/>
        <p:txBody>
          <a:bodyPr>
            <a:normAutofit/>
          </a:bodyPr>
          <a:p>
            <a:pPr algn="just"/>
            <a:r>
              <a:rPr dirty="0" sz="3000" lang="tr-TR"/>
              <a:t>It does not necessarily mean a number of people, it is a collective term used to describe the total quantity of things (or cases) of the type which are the subject of your study. </a:t>
            </a:r>
          </a:p>
          <a:p>
            <a:pPr algn="just"/>
            <a:endParaRPr dirty="0" sz="3000" lang="tr-TR"/>
          </a:p>
          <a:p>
            <a:pPr algn="just"/>
            <a:r>
              <a:rPr dirty="0" sz="3000" lang="tr-TR"/>
              <a:t>So a </a:t>
            </a:r>
            <a:r>
              <a:rPr b="1" dirty="0" sz="3000" i="1" lang="tr-TR"/>
              <a:t>population</a:t>
            </a:r>
            <a:r>
              <a:rPr dirty="0" sz="3000" lang="tr-TR"/>
              <a:t> can consist of certain types of objects, organizations, people or even events.</a:t>
            </a:r>
          </a:p>
          <a:p>
            <a:pPr algn="just"/>
            <a:endParaRPr dirty="0" sz="3000" lang="tr-T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1048606" name="Title 1"/>
          <p:cNvSpPr>
            <a:spLocks noGrp="1"/>
          </p:cNvSpPr>
          <p:nvPr>
            <p:ph type="title"/>
          </p:nvPr>
        </p:nvSpPr>
        <p:spPr>
          <a:xfrm>
            <a:off x="457200" y="27709"/>
            <a:ext cx="8229600" cy="1143000"/>
          </a:xfrm>
        </p:spPr>
        <p:txBody>
          <a:bodyPr/>
          <a:p>
            <a:r>
              <a:rPr b="1" dirty="0" lang="en-US"/>
              <a:t>Sampling Frame</a:t>
            </a:r>
            <a:endParaRPr b="1" dirty="0" lang="tr-TR"/>
          </a:p>
        </p:txBody>
      </p:sp>
      <p:sp>
        <p:nvSpPr>
          <p:cNvPr id="1048607" name="Content Placeholder 2"/>
          <p:cNvSpPr>
            <a:spLocks noGrp="1"/>
          </p:cNvSpPr>
          <p:nvPr>
            <p:ph idx="1"/>
          </p:nvPr>
        </p:nvSpPr>
        <p:spPr>
          <a:xfrm>
            <a:off x="457200" y="1066800"/>
            <a:ext cx="8229600" cy="4525963"/>
          </a:xfrm>
        </p:spPr>
        <p:txBody>
          <a:bodyPr/>
          <a:p>
            <a:pPr algn="just"/>
            <a:r>
              <a:rPr dirty="0" sz="2800" lang="en-US"/>
              <a:t>Within this population, there will probably be only certain groups that will be of interest to your study, </a:t>
            </a:r>
            <a:r>
              <a:rPr dirty="0" sz="2800" lang="tr-TR"/>
              <a:t>t</a:t>
            </a:r>
            <a:r>
              <a:rPr dirty="0" sz="2800" lang="en-US"/>
              <a:t>his </a:t>
            </a:r>
            <a:r>
              <a:rPr b="1" dirty="0" sz="2800" i="1" lang="en-US"/>
              <a:t>selected category </a:t>
            </a:r>
            <a:r>
              <a:rPr dirty="0" sz="2800" lang="en-US"/>
              <a:t>is your sampling frame.</a:t>
            </a:r>
            <a:endParaRPr dirty="0" sz="2800" lang="tr-TR"/>
          </a:p>
          <a:p>
            <a:endParaRPr dirty="0" lang="tr-TR"/>
          </a:p>
        </p:txBody>
      </p:sp>
      <p:pic>
        <p:nvPicPr>
          <p:cNvPr id="2097154" name="Picture 3"/>
          <p:cNvPicPr>
            <a:picLocks noChangeAspect="1" noChangeArrowheads="1"/>
          </p:cNvPicPr>
          <p:nvPr/>
        </p:nvPicPr>
        <p:blipFill>
          <a:blip xmlns:r="http://schemas.openxmlformats.org/officeDocument/2006/relationships" r:embed="rId1"/>
          <a:srcRect/>
          <a:stretch>
            <a:fillRect/>
          </a:stretch>
        </p:blipFill>
        <p:spPr bwMode="auto">
          <a:xfrm>
            <a:off x="609600" y="2362200"/>
            <a:ext cx="4114800" cy="4114800"/>
          </a:xfrm>
          <a:prstGeom prst="rect"/>
          <a:noFill/>
          <a:ln>
            <a:noFill/>
          </a:ln>
        </p:spPr>
      </p:pic>
      <p:pic>
        <p:nvPicPr>
          <p:cNvPr id="2097155" name="Picture 4"/>
          <p:cNvPicPr>
            <a:picLocks noChangeAspect="1"/>
          </p:cNvPicPr>
          <p:nvPr/>
        </p:nvPicPr>
        <p:blipFill>
          <a:blip xmlns:r="http://schemas.openxmlformats.org/officeDocument/2006/relationships" r:embed="rId2"/>
          <a:stretch>
            <a:fillRect/>
          </a:stretch>
        </p:blipFill>
        <p:spPr>
          <a:xfrm>
            <a:off x="5257800" y="2514600"/>
            <a:ext cx="3429000" cy="3809999"/>
          </a:xfrm>
          <a:prstGeom prst="rec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59" name=""/>
        <p:cNvGrpSpPr/>
        <p:nvPr/>
      </p:nvGrpSpPr>
      <p:grpSpPr>
        <a:xfrm>
          <a:off x="0" y="0"/>
          <a:ext cx="0" cy="0"/>
          <a:chOff x="0" y="0"/>
          <a:chExt cx="0" cy="0"/>
        </a:xfrm>
      </p:grpSpPr>
      <p:sp>
        <p:nvSpPr>
          <p:cNvPr id="1048608" name="Title 1"/>
          <p:cNvSpPr>
            <a:spLocks noGrp="1"/>
          </p:cNvSpPr>
          <p:nvPr>
            <p:ph type="title"/>
          </p:nvPr>
        </p:nvSpPr>
        <p:spPr>
          <a:xfrm>
            <a:off x="457200" y="381000"/>
            <a:ext cx="8229600" cy="1143000"/>
          </a:xfrm>
        </p:spPr>
        <p:txBody>
          <a:bodyPr>
            <a:normAutofit/>
          </a:bodyPr>
          <a:p>
            <a:r>
              <a:rPr b="1" dirty="0" sz="3600" lang="en-US"/>
              <a:t>Populations can have the following</a:t>
            </a:r>
            <a:r>
              <a:rPr b="1" dirty="0" sz="3600" lang="tr-TR"/>
              <a:t> characteristics:</a:t>
            </a:r>
            <a:br>
              <a:rPr b="1" dirty="0" lang="tr-TR"/>
            </a:br>
            <a:endParaRPr b="1" dirty="0" lang="tr-TR"/>
          </a:p>
        </p:txBody>
      </p:sp>
      <p:sp>
        <p:nvSpPr>
          <p:cNvPr id="1048609" name="Content Placeholder 2"/>
          <p:cNvSpPr>
            <a:spLocks noGrp="1"/>
          </p:cNvSpPr>
          <p:nvPr>
            <p:ph idx="1"/>
          </p:nvPr>
        </p:nvSpPr>
        <p:spPr>
          <a:xfrm>
            <a:off x="228600" y="1447800"/>
            <a:ext cx="8686800" cy="4678363"/>
          </a:xfrm>
        </p:spPr>
        <p:txBody>
          <a:bodyPr>
            <a:normAutofit/>
          </a:bodyPr>
          <a:p>
            <a:pPr algn="just"/>
            <a:endParaRPr dirty="0" lang="tr-TR"/>
          </a:p>
        </p:txBody>
      </p:sp>
      <p:graphicFrame>
        <p:nvGraphicFramePr>
          <p:cNvPr id="4194304" name="Table 3"/>
          <p:cNvGraphicFramePr>
            <a:graphicFrameLocks noGrp="1"/>
          </p:cNvGraphicFramePr>
          <p:nvPr/>
        </p:nvGraphicFramePr>
        <p:xfrm>
          <a:off x="228600" y="1447800"/>
          <a:ext cx="8686800" cy="4953000"/>
        </p:xfrm>
        <a:graphic>
          <a:graphicData uri="http://schemas.openxmlformats.org/drawingml/2006/table">
            <a:tbl>
              <a:tblPr firstRow="1" bandRow="1">
                <a:tableStyleId>{5C22544A-7EE6-4342-B048-85BDC9FD1C3A}</a:tableStyleId>
              </a:tblPr>
              <a:tblGrid>
                <a:gridCol w="1828800"/>
                <a:gridCol w="2362200"/>
                <a:gridCol w="4495800"/>
              </a:tblGrid>
              <a:tr h="365351">
                <a:tc>
                  <a:txBody>
                    <a:bodyPr/>
                    <a:p>
                      <a:r>
                        <a:rPr b="1" dirty="0" sz="1800" lang="tr-TR"/>
                        <a:t>Characteristics</a:t>
                      </a:r>
                      <a:endParaRPr dirty="0" lang="tr-TR"/>
                    </a:p>
                  </a:txBody>
                </a:tc>
                <a:tc>
                  <a:txBody>
                    <a:bodyPr/>
                    <a:p>
                      <a:r>
                        <a:rPr dirty="0" lang="tr-TR"/>
                        <a:t>Explains</a:t>
                      </a:r>
                    </a:p>
                  </a:txBody>
                </a:tc>
                <a:tc>
                  <a:txBody>
                    <a:bodyPr/>
                    <a:p>
                      <a:r>
                        <a:rPr dirty="0" lang="tr-TR"/>
                        <a:t>Examples</a:t>
                      </a:r>
                    </a:p>
                  </a:txBody>
                </a:tc>
              </a:tr>
              <a:tr h="630607">
                <a:tc>
                  <a:txBody>
                    <a:bodyPr/>
                    <a:p>
                      <a:r>
                        <a:rPr b="1" dirty="0" lang="en-US"/>
                        <a:t>homogeneous</a:t>
                      </a:r>
                      <a:endParaRPr dirty="0" lang="tr-TR"/>
                    </a:p>
                  </a:txBody>
                </a:tc>
                <a:tc>
                  <a:txBody>
                    <a:bodyPr/>
                    <a:p>
                      <a:r>
                        <a:rPr dirty="0" lang="en-US"/>
                        <a:t>all cases are </a:t>
                      </a:r>
                      <a:r>
                        <a:rPr dirty="0" lang="en-US" u="none"/>
                        <a:t>similar</a:t>
                      </a:r>
                      <a:r>
                        <a:rPr dirty="0" lang="tr-TR" u="none"/>
                        <a:t> </a:t>
                      </a:r>
                    </a:p>
                  </a:txBody>
                </a:tc>
                <a:tc>
                  <a:txBody>
                    <a:bodyPr/>
                    <a:p>
                      <a:r>
                        <a:rPr dirty="0" lang="en-US"/>
                        <a:t>bottles of beer on a</a:t>
                      </a:r>
                      <a:r>
                        <a:rPr dirty="0" lang="tr-TR"/>
                        <a:t> production line</a:t>
                      </a:r>
                    </a:p>
                  </a:txBody>
                </a:tc>
              </a:tr>
              <a:tr h="900866">
                <a:tc>
                  <a:txBody>
                    <a:bodyPr/>
                    <a:p>
                      <a:r>
                        <a:rPr b="1" dirty="0" lang="en-US"/>
                        <a:t>stratified</a:t>
                      </a:r>
                      <a:endParaRPr dirty="0" lang="tr-TR"/>
                    </a:p>
                  </a:txBody>
                </a:tc>
                <a:tc>
                  <a:txBody>
                    <a:bodyPr/>
                    <a:p>
                      <a:r>
                        <a:rPr dirty="0" lang="en-US"/>
                        <a:t>contain strata or layers </a:t>
                      </a:r>
                      <a:endParaRPr dirty="0" lang="tr-TR"/>
                    </a:p>
                  </a:txBody>
                </a:tc>
                <a:tc>
                  <a:txBody>
                    <a:bodyPr/>
                    <a:p>
                      <a:r>
                        <a:rPr dirty="0" lang="en-US"/>
                        <a:t>people with different</a:t>
                      </a:r>
                      <a:r>
                        <a:rPr dirty="0" lang="tr-TR"/>
                        <a:t> </a:t>
                      </a:r>
                      <a:r>
                        <a:rPr dirty="0" lang="en-US"/>
                        <a:t>levels of income: low, medium, high</a:t>
                      </a:r>
                      <a:endParaRPr dirty="0" lang="tr-TR"/>
                    </a:p>
                  </a:txBody>
                </a:tc>
              </a:tr>
              <a:tr h="1171126">
                <a:tc>
                  <a:txBody>
                    <a:bodyPr/>
                    <a:p>
                      <a:r>
                        <a:rPr b="1" dirty="0" lang="en-US"/>
                        <a:t>proportional stratified </a:t>
                      </a:r>
                      <a:endParaRPr dirty="0" lang="tr-TR"/>
                    </a:p>
                  </a:txBody>
                </a:tc>
                <a:tc>
                  <a:txBody>
                    <a:bodyPr/>
                    <a:p>
                      <a:r>
                        <a:rPr dirty="0" lang="en-US"/>
                        <a:t>contains strata of known proportions </a:t>
                      </a:r>
                      <a:endParaRPr dirty="0" lang="tr-TR"/>
                    </a:p>
                  </a:txBody>
                </a:tc>
                <a:tc>
                  <a:txBody>
                    <a:bodyPr/>
                    <a:p>
                      <a:r>
                        <a:rPr dirty="0" lang="en-US"/>
                        <a:t>percentages of different nationalities of students in a university</a:t>
                      </a:r>
                      <a:endParaRPr dirty="0" lang="tr-TR"/>
                    </a:p>
                  </a:txBody>
                </a:tc>
              </a:tr>
              <a:tr h="900866">
                <a:tc>
                  <a:txBody>
                    <a:bodyPr/>
                    <a:p>
                      <a:r>
                        <a:rPr b="1" dirty="0" lang="en-US"/>
                        <a:t>grouped by type </a:t>
                      </a:r>
                      <a:endParaRPr dirty="0" lang="tr-TR"/>
                    </a:p>
                  </a:txBody>
                </a:tc>
                <a:tc>
                  <a:txBody>
                    <a:bodyPr/>
                    <a:p>
                      <a:r>
                        <a:rPr dirty="0" lang="en-US"/>
                        <a:t>contains distinctive groups</a:t>
                      </a:r>
                      <a:endParaRPr dirty="0" lang="tr-TR"/>
                    </a:p>
                  </a:txBody>
                </a:tc>
                <a:tc>
                  <a:txBody>
                    <a:bodyPr/>
                    <a:p>
                      <a:r>
                        <a:rPr dirty="0" lang="en-US"/>
                        <a:t>of apartment</a:t>
                      </a:r>
                      <a:r>
                        <a:rPr dirty="0" lang="tr-TR"/>
                        <a:t> </a:t>
                      </a:r>
                      <a:r>
                        <a:rPr dirty="0" lang="en-US"/>
                        <a:t>buildings – towers, slabs, villas, tenement blocks</a:t>
                      </a:r>
                      <a:endParaRPr dirty="0" lang="tr-TR"/>
                    </a:p>
                  </a:txBody>
                </a:tc>
              </a:tr>
              <a:tr h="983775">
                <a:tc>
                  <a:txBody>
                    <a:bodyPr/>
                    <a:p>
                      <a:r>
                        <a:rPr b="1" dirty="0" lang="en-US"/>
                        <a:t>grouped by location </a:t>
                      </a:r>
                      <a:endParaRPr dirty="0" lang="tr-TR"/>
                    </a:p>
                  </a:txBody>
                </a:tc>
                <a:tc>
                  <a:txBody>
                    <a:bodyPr/>
                    <a:p>
                      <a:r>
                        <a:rPr dirty="0" lang="en-US"/>
                        <a:t>different groups according to where they</a:t>
                      </a:r>
                      <a:r>
                        <a:rPr dirty="0" lang="tr-TR"/>
                        <a:t> are </a:t>
                      </a:r>
                    </a:p>
                  </a:txBody>
                </a:tc>
                <a:tc>
                  <a:txBody>
                    <a:bodyPr/>
                    <a:p>
                      <a:pPr algn="l" defTabSz="914400" eaLnBrk="1" fontAlgn="auto" hangingPunct="1" indent="0" latinLnBrk="0" marL="0" marR="0" rtl="0">
                        <a:lnSpc>
                          <a:spcPct val="100000"/>
                        </a:lnSpc>
                        <a:spcBef>
                          <a:spcPts val="0"/>
                        </a:spcBef>
                        <a:spcAft>
                          <a:spcPts val="0"/>
                        </a:spcAft>
                        <a:buClrTx/>
                        <a:buSzTx/>
                        <a:buFontTx/>
                        <a:buNone/>
                      </a:pPr>
                      <a:r>
                        <a:rPr dirty="0" lang="tr-TR"/>
                        <a:t>animals in different habitats – desert, equatorial forest, savannah, tundra</a:t>
                      </a:r>
                    </a:p>
                  </a:txBody>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60" name=""/>
        <p:cNvGrpSpPr/>
        <p:nvPr/>
      </p:nvGrpSpPr>
      <p:grpSpPr>
        <a:xfrm>
          <a:off x="0" y="0"/>
          <a:ext cx="0" cy="0"/>
          <a:chOff x="0" y="0"/>
          <a:chExt cx="0" cy="0"/>
        </a:xfrm>
      </p:grpSpPr>
      <p:sp>
        <p:nvSpPr>
          <p:cNvPr id="1048610" name="Title 1"/>
          <p:cNvSpPr>
            <a:spLocks noGrp="1"/>
          </p:cNvSpPr>
          <p:nvPr>
            <p:ph type="title"/>
          </p:nvPr>
        </p:nvSpPr>
        <p:spPr>
          <a:xfrm>
            <a:off x="381000" y="2819400"/>
            <a:ext cx="8229600" cy="1143000"/>
          </a:xfrm>
        </p:spPr>
        <p:txBody>
          <a:bodyPr>
            <a:normAutofit/>
          </a:bodyPr>
          <a:p>
            <a:r>
              <a:rPr b="1" dirty="0" sz="5400" lang="tr-TR"/>
              <a:t>SAMPLING METHODS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1048611" name="Title 1"/>
          <p:cNvSpPr>
            <a:spLocks noGrp="1"/>
          </p:cNvSpPr>
          <p:nvPr>
            <p:ph type="title"/>
          </p:nvPr>
        </p:nvSpPr>
        <p:spPr/>
        <p:txBody>
          <a:bodyPr>
            <a:normAutofit/>
          </a:bodyPr>
          <a:p>
            <a:r>
              <a:rPr altLang="en-US" b="1" dirty="0" lang="en-GB">
                <a:latin typeface="Arial" charset="0"/>
              </a:rPr>
              <a:t>Sampling techniques</a:t>
            </a:r>
            <a:br>
              <a:rPr altLang="en-US" dirty="0" lang="en-GB">
                <a:latin typeface="Arial" charset="0"/>
              </a:rPr>
            </a:br>
            <a:endParaRPr dirty="0" lang="tr-TR"/>
          </a:p>
        </p:txBody>
      </p:sp>
      <p:sp>
        <p:nvSpPr>
          <p:cNvPr id="1048612" name="Content Placeholder 4"/>
          <p:cNvSpPr>
            <a:spLocks noGrp="1"/>
          </p:cNvSpPr>
          <p:nvPr>
            <p:ph idx="1"/>
          </p:nvPr>
        </p:nvSpPr>
        <p:spPr/>
        <p:txBody>
          <a:bodyPr/>
          <a:p>
            <a:endParaRPr lang="tr-TR"/>
          </a:p>
        </p:txBody>
      </p:sp>
      <p:pic>
        <p:nvPicPr>
          <p:cNvPr id="2097156" name="Picture 2" descr="Sampling Methods"/>
          <p:cNvPicPr>
            <a:picLocks noChangeAspect="1" noChangeArrowheads="1"/>
          </p:cNvPicPr>
          <p:nvPr/>
        </p:nvPicPr>
        <p:blipFill>
          <a:blip xmlns:r="http://schemas.openxmlformats.org/officeDocument/2006/relationships" r:embed="rId1"/>
          <a:srcRect/>
          <a:stretch>
            <a:fillRect/>
          </a:stretch>
        </p:blipFill>
        <p:spPr bwMode="auto">
          <a:xfrm>
            <a:off x="-533400" y="-228600"/>
            <a:ext cx="9973733" cy="7239000"/>
          </a:xfrm>
          <a:prstGeom prst="rect"/>
          <a:noFill/>
        </p:spPr>
      </p:pic>
      <p:sp>
        <p:nvSpPr>
          <p:cNvPr id="1048613" name="Rectangle 5"/>
          <p:cNvSpPr/>
          <p:nvPr/>
        </p:nvSpPr>
        <p:spPr>
          <a:xfrm>
            <a:off x="-228600" y="152400"/>
            <a:ext cx="2362200" cy="762000"/>
          </a:xfrm>
          <a:prstGeom prst="rect"/>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tr-T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62" name=""/>
        <p:cNvGrpSpPr/>
        <p:nvPr/>
      </p:nvGrpSpPr>
      <p:grpSpPr>
        <a:xfrm>
          <a:off x="0" y="0"/>
          <a:ext cx="0" cy="0"/>
          <a:chOff x="0" y="0"/>
          <a:chExt cx="0" cy="0"/>
        </a:xfrm>
      </p:grpSpPr>
      <p:sp>
        <p:nvSpPr>
          <p:cNvPr id="1048614" name="Content Placeholder 2"/>
          <p:cNvSpPr>
            <a:spLocks noGrp="1"/>
          </p:cNvSpPr>
          <p:nvPr>
            <p:ph idx="1"/>
          </p:nvPr>
        </p:nvSpPr>
        <p:spPr>
          <a:xfrm>
            <a:off x="304800" y="685800"/>
            <a:ext cx="8534400" cy="4525963"/>
          </a:xfrm>
        </p:spPr>
        <p:txBody>
          <a:bodyPr>
            <a:normAutofit/>
          </a:bodyPr>
          <a:p>
            <a:pPr algn="just">
              <a:buFont typeface="Wingdings" panose="05000000000000000000" pitchFamily="2" charset="2"/>
              <a:buChar char="ü"/>
            </a:pPr>
            <a:r>
              <a:rPr b="1" dirty="0" sz="2800" lang="en-US"/>
              <a:t>Probability sampling </a:t>
            </a:r>
            <a:r>
              <a:rPr dirty="0" sz="2800" lang="en-US"/>
              <a:t>techniques give the most reliable representation</a:t>
            </a:r>
            <a:r>
              <a:rPr dirty="0" sz="2800" lang="tr-TR"/>
              <a:t> </a:t>
            </a:r>
            <a:r>
              <a:rPr dirty="0" sz="2800" lang="en-US"/>
              <a:t>of the whole population</a:t>
            </a:r>
            <a:r>
              <a:rPr dirty="0" sz="2800" lang="tr-TR"/>
              <a:t>.</a:t>
            </a:r>
          </a:p>
          <a:p>
            <a:pPr algn="just">
              <a:buFont typeface="Wingdings" panose="05000000000000000000" pitchFamily="2" charset="2"/>
              <a:buChar char="ü"/>
            </a:pPr>
            <a:endParaRPr dirty="0" sz="2800" lang="tr-TR"/>
          </a:p>
          <a:p>
            <a:pPr algn="just">
              <a:buFont typeface="Wingdings" panose="05000000000000000000" pitchFamily="2" charset="2"/>
              <a:buChar char="ü"/>
            </a:pPr>
            <a:r>
              <a:rPr b="1" dirty="0" sz="2800" lang="tr-TR"/>
              <a:t>N</a:t>
            </a:r>
            <a:r>
              <a:rPr b="1" dirty="0" sz="2800" lang="en-US"/>
              <a:t>on-probability techniques</a:t>
            </a:r>
            <a:r>
              <a:rPr dirty="0" sz="2800" lang="en-US"/>
              <a:t>, relying</a:t>
            </a:r>
            <a:r>
              <a:rPr dirty="0" sz="2800" lang="tr-TR"/>
              <a:t> </a:t>
            </a:r>
            <a:r>
              <a:rPr dirty="0" sz="2800" lang="en-US"/>
              <a:t>on the judgment of the researcher or on accident, cannot generally</a:t>
            </a:r>
            <a:r>
              <a:rPr dirty="0" sz="2800" lang="tr-TR"/>
              <a:t> </a:t>
            </a:r>
            <a:r>
              <a:rPr dirty="0" sz="2800" lang="en-US"/>
              <a:t>be used to make generalizations about the whole population.</a:t>
            </a:r>
            <a:endParaRPr dirty="0" sz="2800" lang="tr-TR"/>
          </a:p>
        </p:txBody>
      </p:sp>
      <p:pic>
        <p:nvPicPr>
          <p:cNvPr id="2097157" name="Picture 2" descr="sampling icon ile ilgili gÃ¶rsel sonucu"/>
          <p:cNvPicPr>
            <a:picLocks noChangeAspect="1" noChangeArrowheads="1"/>
          </p:cNvPicPr>
          <p:nvPr/>
        </p:nvPicPr>
        <p:blipFill>
          <a:blip xmlns:r="http://schemas.openxmlformats.org/officeDocument/2006/relationships" r:embed="rId1"/>
          <a:srcRect/>
          <a:stretch>
            <a:fillRect/>
          </a:stretch>
        </p:blipFill>
        <p:spPr bwMode="auto">
          <a:xfrm>
            <a:off x="3733800" y="3970304"/>
            <a:ext cx="5410200" cy="2887695"/>
          </a:xfrm>
          <a:prstGeom prst="rect"/>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63" name=""/>
        <p:cNvGrpSpPr/>
        <p:nvPr/>
      </p:nvGrpSpPr>
      <p:grpSpPr>
        <a:xfrm>
          <a:off x="0" y="0"/>
          <a:ext cx="0" cy="0"/>
          <a:chOff x="0" y="0"/>
          <a:chExt cx="0" cy="0"/>
        </a:xfrm>
      </p:grpSpPr>
      <p:sp>
        <p:nvSpPr>
          <p:cNvPr id="1048615" name="Title 1"/>
          <p:cNvSpPr>
            <a:spLocks noGrp="1"/>
          </p:cNvSpPr>
          <p:nvPr>
            <p:ph type="title"/>
          </p:nvPr>
        </p:nvSpPr>
        <p:spPr>
          <a:xfrm>
            <a:off x="533400" y="76200"/>
            <a:ext cx="8229600" cy="1143000"/>
          </a:xfrm>
        </p:spPr>
        <p:txBody>
          <a:bodyPr/>
          <a:p>
            <a:r>
              <a:rPr b="1" dirty="0" lang="en-US"/>
              <a:t>Probability Sampling </a:t>
            </a:r>
            <a:endParaRPr b="1" dirty="0" lang="tr-TR"/>
          </a:p>
        </p:txBody>
      </p:sp>
      <p:sp>
        <p:nvSpPr>
          <p:cNvPr id="1048616" name="Content Placeholder 2"/>
          <p:cNvSpPr>
            <a:spLocks noGrp="1"/>
          </p:cNvSpPr>
          <p:nvPr>
            <p:ph idx="1"/>
          </p:nvPr>
        </p:nvSpPr>
        <p:spPr>
          <a:xfrm>
            <a:off x="228600" y="1066800"/>
            <a:ext cx="8534400" cy="5791200"/>
          </a:xfrm>
        </p:spPr>
        <p:txBody>
          <a:bodyPr>
            <a:normAutofit/>
          </a:bodyPr>
          <a:p>
            <a:pPr algn="just"/>
            <a:r>
              <a:rPr dirty="0" sz="2500" lang="tr-TR"/>
              <a:t>It </a:t>
            </a:r>
            <a:r>
              <a:rPr dirty="0" sz="2500" lang="en-US"/>
              <a:t>is a sampling technique in which sample from a larger population are chosen using a method based on the theory of probability. </a:t>
            </a:r>
            <a:endParaRPr dirty="0" sz="2500" lang="tr-TR"/>
          </a:p>
          <a:p>
            <a:pPr algn="just"/>
            <a:r>
              <a:rPr dirty="0" sz="2500" lang="en-US"/>
              <a:t>For a participant to be considered as a probability sample, he/she must be selected using a </a:t>
            </a:r>
            <a:r>
              <a:rPr dirty="0" sz="2500" lang="en-US" u="sng"/>
              <a:t>random</a:t>
            </a:r>
            <a:r>
              <a:rPr dirty="0" sz="2500" lang="en-US"/>
              <a:t> selection. </a:t>
            </a:r>
            <a:endParaRPr dirty="0" sz="2500" lang="tr-TR"/>
          </a:p>
          <a:p>
            <a:pPr algn="just"/>
            <a:r>
              <a:rPr dirty="0" sz="2500" lang="tr-TR"/>
              <a:t>T</a:t>
            </a:r>
            <a:r>
              <a:rPr dirty="0" sz="2500" lang="en-US"/>
              <a:t>he most important requirement of probability sampling is that everyone in your population has a known and an </a:t>
            </a:r>
            <a:r>
              <a:rPr dirty="0" sz="2500" lang="en-US" u="sng"/>
              <a:t>equal chance </a:t>
            </a:r>
            <a:r>
              <a:rPr dirty="0" sz="2500" lang="en-US"/>
              <a:t>of getting selected</a:t>
            </a:r>
            <a:r>
              <a:rPr dirty="0" sz="2500" lang="tr-TR"/>
              <a:t>.</a:t>
            </a:r>
          </a:p>
          <a:p>
            <a:pPr algn="just"/>
            <a:r>
              <a:rPr dirty="0" sz="2500" lang="en-US"/>
              <a:t>Probability sampling uses </a:t>
            </a:r>
            <a:r>
              <a:rPr dirty="0" sz="2500" lang="en-US" u="sng"/>
              <a:t>statistical theory </a:t>
            </a:r>
            <a:r>
              <a:rPr dirty="0" sz="2500" lang="en-US"/>
              <a:t>to select randomly, a small group of people  (sample) from an existing large population and then </a:t>
            </a:r>
            <a:r>
              <a:rPr dirty="0" sz="2500" lang="en-US" u="sng"/>
              <a:t>predict</a:t>
            </a:r>
            <a:r>
              <a:rPr dirty="0" sz="2500" lang="en-US"/>
              <a:t> that all their responses together will </a:t>
            </a:r>
            <a:r>
              <a:rPr dirty="0" sz="2500" lang="en-US" u="sng"/>
              <a:t>match the overall population</a:t>
            </a:r>
            <a:r>
              <a:rPr dirty="0" sz="2500" lang="tr-TR" u="sng"/>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64" name=""/>
        <p:cNvGrpSpPr/>
        <p:nvPr/>
      </p:nvGrpSpPr>
      <p:grpSpPr>
        <a:xfrm>
          <a:off x="0" y="0"/>
          <a:ext cx="0" cy="0"/>
          <a:chOff x="0" y="0"/>
          <a:chExt cx="0" cy="0"/>
        </a:xfrm>
      </p:grpSpPr>
      <p:sp>
        <p:nvSpPr>
          <p:cNvPr id="1048617" name="Title 1"/>
          <p:cNvSpPr>
            <a:spLocks noGrp="1"/>
          </p:cNvSpPr>
          <p:nvPr>
            <p:ph type="title"/>
          </p:nvPr>
        </p:nvSpPr>
        <p:spPr>
          <a:xfrm>
            <a:off x="533400" y="457200"/>
            <a:ext cx="8229600" cy="792162"/>
          </a:xfrm>
        </p:spPr>
        <p:txBody>
          <a:bodyPr>
            <a:normAutofit/>
          </a:bodyPr>
          <a:p>
            <a:r>
              <a:rPr b="1" dirty="0" lang="tr-TR"/>
              <a:t>Types of Probability Sampling</a:t>
            </a:r>
            <a:br>
              <a:rPr dirty="0" lang="tr-TR"/>
            </a:br>
            <a:endParaRPr dirty="0" lang="tr-TR"/>
          </a:p>
        </p:txBody>
      </p:sp>
      <p:sp>
        <p:nvSpPr>
          <p:cNvPr id="1048618" name="Content Placeholder 2"/>
          <p:cNvSpPr>
            <a:spLocks noGrp="1"/>
          </p:cNvSpPr>
          <p:nvPr>
            <p:ph idx="1"/>
          </p:nvPr>
        </p:nvSpPr>
        <p:spPr>
          <a:xfrm>
            <a:off x="457200" y="1295400"/>
            <a:ext cx="8458200" cy="5135563"/>
          </a:xfrm>
        </p:spPr>
        <p:txBody>
          <a:bodyPr>
            <a:normAutofit/>
          </a:bodyPr>
          <a:p>
            <a:pPr>
              <a:lnSpc>
                <a:spcPct val="90000"/>
              </a:lnSpc>
              <a:buNone/>
            </a:pPr>
            <a:r>
              <a:rPr altLang="en-US" dirty="0" sz="2800" lang="en-GB" u="sng">
                <a:latin typeface="Arial" charset="0"/>
              </a:rPr>
              <a:t>F</a:t>
            </a:r>
            <a:r>
              <a:rPr altLang="en-US" dirty="0" sz="2800" lang="tr-TR" u="sng">
                <a:latin typeface="Arial" charset="0"/>
              </a:rPr>
              <a:t>our</a:t>
            </a:r>
            <a:r>
              <a:rPr altLang="en-US" dirty="0" sz="2800" lang="en-GB" u="sng">
                <a:latin typeface="Arial" charset="0"/>
              </a:rPr>
              <a:t> main techniques used for a probability</a:t>
            </a:r>
            <a:r>
              <a:rPr altLang="en-US" dirty="0" sz="2800" lang="tr-TR" u="sng">
                <a:latin typeface="Arial" charset="0"/>
              </a:rPr>
              <a:t> </a:t>
            </a:r>
            <a:r>
              <a:rPr altLang="en-US" dirty="0" sz="2800" lang="en-GB" u="sng">
                <a:latin typeface="Arial" charset="0"/>
              </a:rPr>
              <a:t>sample</a:t>
            </a:r>
            <a:r>
              <a:rPr altLang="en-US" dirty="0" sz="2800" lang="tr-TR" u="sng">
                <a:latin typeface="Arial" charset="0"/>
              </a:rPr>
              <a:t>:</a:t>
            </a:r>
            <a:endParaRPr altLang="en-US" dirty="0" sz="2800" lang="en-GB" u="sng">
              <a:latin typeface="Arial" charset="0"/>
            </a:endParaRPr>
          </a:p>
          <a:p>
            <a:pPr>
              <a:lnSpc>
                <a:spcPct val="90000"/>
              </a:lnSpc>
              <a:buNone/>
            </a:pPr>
            <a:endParaRPr altLang="en-US" dirty="0" sz="3600" lang="en-GB">
              <a:latin typeface="Arial" charset="0"/>
            </a:endParaRPr>
          </a:p>
          <a:p>
            <a:pPr>
              <a:lnSpc>
                <a:spcPct val="90000"/>
              </a:lnSpc>
              <a:buFont typeface="Wingdings" panose="05000000000000000000" pitchFamily="2" charset="2"/>
              <a:buChar char="Ø"/>
            </a:pPr>
            <a:r>
              <a:rPr altLang="en-US" dirty="0" sz="2800" lang="en-GB">
                <a:latin typeface="Arial" charset="0"/>
              </a:rPr>
              <a:t>Simple random</a:t>
            </a:r>
          </a:p>
          <a:p>
            <a:pPr>
              <a:lnSpc>
                <a:spcPct val="90000"/>
              </a:lnSpc>
              <a:buFont typeface="Wingdings" panose="05000000000000000000" pitchFamily="2" charset="2"/>
              <a:buChar char="Ø"/>
            </a:pPr>
            <a:endParaRPr altLang="en-US" dirty="0" sz="2800" lang="en-GB">
              <a:latin typeface="Arial" charset="0"/>
            </a:endParaRPr>
          </a:p>
          <a:p>
            <a:pPr>
              <a:lnSpc>
                <a:spcPct val="90000"/>
              </a:lnSpc>
              <a:buFont typeface="Wingdings" panose="05000000000000000000" pitchFamily="2" charset="2"/>
              <a:buChar char="Ø"/>
            </a:pPr>
            <a:r>
              <a:rPr altLang="en-US" dirty="0" sz="2800" lang="en-GB">
                <a:latin typeface="Arial" charset="0"/>
              </a:rPr>
              <a:t>Stratified random</a:t>
            </a:r>
            <a:endParaRPr altLang="en-US" dirty="0" sz="2800" lang="tr-TR">
              <a:latin typeface="Arial" charset="0"/>
            </a:endParaRPr>
          </a:p>
          <a:p>
            <a:pPr>
              <a:lnSpc>
                <a:spcPct val="90000"/>
              </a:lnSpc>
              <a:buFont typeface="Wingdings" panose="05000000000000000000" pitchFamily="2" charset="2"/>
              <a:buChar char="Ø"/>
            </a:pPr>
            <a:endParaRPr altLang="en-US" dirty="0" sz="2800" lang="tr-TR">
              <a:latin typeface="Arial" charset="0"/>
            </a:endParaRPr>
          </a:p>
          <a:p>
            <a:pPr>
              <a:lnSpc>
                <a:spcPct val="90000"/>
              </a:lnSpc>
              <a:buFont typeface="Wingdings" panose="05000000000000000000" pitchFamily="2" charset="2"/>
              <a:buChar char="Ø"/>
            </a:pPr>
            <a:r>
              <a:rPr altLang="en-US" dirty="0" sz="2800" lang="en-GB">
                <a:latin typeface="Arial" charset="0"/>
              </a:rPr>
              <a:t>Cluster</a:t>
            </a:r>
          </a:p>
          <a:p>
            <a:pPr>
              <a:lnSpc>
                <a:spcPct val="90000"/>
              </a:lnSpc>
              <a:buFont typeface="Wingdings" panose="05000000000000000000" pitchFamily="2" charset="2"/>
              <a:buChar char="Ø"/>
            </a:pPr>
            <a:endParaRPr altLang="en-US" dirty="0" sz="2800" lang="en-GB">
              <a:latin typeface="Arial" charset="0"/>
            </a:endParaRPr>
          </a:p>
          <a:p>
            <a:pPr>
              <a:lnSpc>
                <a:spcPct val="90000"/>
              </a:lnSpc>
              <a:buFont typeface="Wingdings" panose="05000000000000000000" pitchFamily="2" charset="2"/>
              <a:buChar char="Ø"/>
            </a:pPr>
            <a:r>
              <a:rPr altLang="en-US" dirty="0" sz="2800" lang="en-GB">
                <a:latin typeface="Arial" charset="0"/>
              </a:rPr>
              <a:t>Systematic</a:t>
            </a:r>
          </a:p>
          <a:p>
            <a:pPr>
              <a:lnSpc>
                <a:spcPct val="90000"/>
              </a:lnSpc>
              <a:buNone/>
            </a:pPr>
            <a:endParaRPr altLang="en-US" dirty="0" lang="en-GB">
              <a:latin typeface="Arial" charset="0"/>
            </a:endParaRPr>
          </a:p>
          <a:p>
            <a:endParaRPr dirty="0" lang="tr-T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65" name=""/>
        <p:cNvGrpSpPr/>
        <p:nvPr/>
      </p:nvGrpSpPr>
      <p:grpSpPr>
        <a:xfrm>
          <a:off x="0" y="0"/>
          <a:ext cx="0" cy="0"/>
          <a:chOff x="0" y="0"/>
          <a:chExt cx="0" cy="0"/>
        </a:xfrm>
      </p:grpSpPr>
      <p:sp>
        <p:nvSpPr>
          <p:cNvPr id="1048619" name="Title 1"/>
          <p:cNvSpPr>
            <a:spLocks noGrp="1"/>
          </p:cNvSpPr>
          <p:nvPr>
            <p:ph type="title"/>
          </p:nvPr>
        </p:nvSpPr>
        <p:spPr>
          <a:xfrm>
            <a:off x="533400" y="0"/>
            <a:ext cx="8229600" cy="1143000"/>
          </a:xfrm>
        </p:spPr>
        <p:txBody>
          <a:bodyPr/>
          <a:p>
            <a:r>
              <a:rPr b="1" dirty="0" lang="en-US">
                <a:hlinkClick r:id="rId1"/>
              </a:rPr>
              <a:t>Simple random sampling</a:t>
            </a:r>
            <a:endParaRPr dirty="0" lang="tr-TR"/>
          </a:p>
        </p:txBody>
      </p:sp>
      <p:sp>
        <p:nvSpPr>
          <p:cNvPr id="1048620" name="Content Placeholder 2"/>
          <p:cNvSpPr>
            <a:spLocks noGrp="1"/>
          </p:cNvSpPr>
          <p:nvPr>
            <p:ph idx="1"/>
          </p:nvPr>
        </p:nvSpPr>
        <p:spPr>
          <a:xfrm>
            <a:off x="228600" y="1030142"/>
            <a:ext cx="8534400" cy="5751658"/>
          </a:xfrm>
        </p:spPr>
        <p:txBody>
          <a:bodyPr/>
          <a:p>
            <a:pPr algn="just"/>
            <a:r>
              <a:rPr dirty="0" sz="2400" lang="tr-TR"/>
              <a:t>A</a:t>
            </a:r>
            <a:r>
              <a:rPr dirty="0" sz="2400" lang="en-US"/>
              <a:t>s the name suggests is a completely random method of selecting the sample. This sampling method is </a:t>
            </a:r>
            <a:r>
              <a:rPr b="1" dirty="0" sz="2400" i="1" lang="en-US"/>
              <a:t>as easy as assigning numbers to the individuals (sample) </a:t>
            </a:r>
            <a:r>
              <a:rPr dirty="0" sz="2400" lang="en-US"/>
              <a:t>and then randomly choosing from those numbers through an automated process. </a:t>
            </a:r>
          </a:p>
          <a:p>
            <a:pPr algn="just"/>
            <a:r>
              <a:rPr b="1" dirty="0" sz="2400" lang="en-US"/>
              <a:t>A probability sampling scheme </a:t>
            </a:r>
            <a:r>
              <a:rPr dirty="0" sz="2400" lang="en-US"/>
              <a:t>is one in which every unit in the population has a chance (greater than zero) of being selected in the sample, and this probability can be accurately determined</a:t>
            </a:r>
            <a:r>
              <a:rPr dirty="0" lang="en-US"/>
              <a:t>. </a:t>
            </a:r>
            <a:endParaRPr dirty="0" lang="tr-TR"/>
          </a:p>
        </p:txBody>
      </p:sp>
      <p:pic>
        <p:nvPicPr>
          <p:cNvPr id="2097158" name="Picture 2"/>
          <p:cNvPicPr>
            <a:picLocks noChangeAspect="1" noChangeArrowheads="1"/>
          </p:cNvPicPr>
          <p:nvPr/>
        </p:nvPicPr>
        <p:blipFill>
          <a:blip xmlns:r="http://schemas.openxmlformats.org/officeDocument/2006/relationships" r:embed="rId2"/>
          <a:srcRect/>
          <a:stretch>
            <a:fillRect/>
          </a:stretch>
        </p:blipFill>
        <p:spPr bwMode="auto">
          <a:xfrm>
            <a:off x="685800" y="4191000"/>
            <a:ext cx="7848600" cy="2590800"/>
          </a:xfrm>
          <a:prstGeom prst="rect"/>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66" name=""/>
        <p:cNvGrpSpPr/>
        <p:nvPr/>
      </p:nvGrpSpPr>
      <p:grpSpPr>
        <a:xfrm>
          <a:off x="0" y="0"/>
          <a:ext cx="0" cy="0"/>
          <a:chOff x="0" y="0"/>
          <a:chExt cx="0" cy="0"/>
        </a:xfrm>
      </p:grpSpPr>
      <p:sp>
        <p:nvSpPr>
          <p:cNvPr id="1048621" name="Title 1"/>
          <p:cNvSpPr>
            <a:spLocks noGrp="1"/>
          </p:cNvSpPr>
          <p:nvPr>
            <p:ph type="title"/>
          </p:nvPr>
        </p:nvSpPr>
        <p:spPr/>
        <p:txBody>
          <a:bodyPr/>
          <a:p>
            <a:r>
              <a:rPr dirty="0" lang="en-US"/>
              <a:t>WOR Vs WR</a:t>
            </a:r>
          </a:p>
        </p:txBody>
      </p:sp>
      <p:sp>
        <p:nvSpPr>
          <p:cNvPr id="1048622" name="Content Placeholder 2"/>
          <p:cNvSpPr>
            <a:spLocks noGrp="1"/>
          </p:cNvSpPr>
          <p:nvPr>
            <p:ph idx="1"/>
          </p:nvPr>
        </p:nvSpPr>
        <p:spPr/>
        <p:txBody>
          <a:bodyPr>
            <a:normAutofit/>
          </a:bodyPr>
          <a:p>
            <a:r>
              <a:rPr dirty="0" lang="en-US"/>
              <a:t>Sampling schemes may be without replacement ('WOR' - no element can be selected more than once in the same sample) or with replacement ('WR' - an element may appear multiple times in the one sample). </a:t>
            </a:r>
          </a:p>
          <a:p>
            <a:r>
              <a:rPr dirty="0" lang="en-US"/>
              <a:t>For example, if we catch fish, measure them, and immediately return them to the water before continuing with the sample, this is a WR design, because we might end up catching and measuring the same fish more than once. However, if we do not return the fish to the water (e.g. if we eat the fish), this becomes a WOR design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67" name=""/>
        <p:cNvGrpSpPr/>
        <p:nvPr/>
      </p:nvGrpSpPr>
      <p:grpSpPr>
        <a:xfrm>
          <a:off x="0" y="0"/>
          <a:ext cx="0" cy="0"/>
          <a:chOff x="0" y="0"/>
          <a:chExt cx="0" cy="0"/>
        </a:xfrm>
      </p:grpSpPr>
      <p:sp>
        <p:nvSpPr>
          <p:cNvPr id="1048623" name="Title 1"/>
          <p:cNvSpPr>
            <a:spLocks noGrp="1"/>
          </p:cNvSpPr>
          <p:nvPr>
            <p:ph type="title"/>
          </p:nvPr>
        </p:nvSpPr>
        <p:spPr>
          <a:xfrm>
            <a:off x="457200" y="274638"/>
            <a:ext cx="8229600" cy="715962"/>
          </a:xfrm>
        </p:spPr>
        <p:txBody>
          <a:bodyPr>
            <a:normAutofit/>
          </a:bodyPr>
          <a:p>
            <a:r>
              <a:rPr b="1" dirty="0" lang="en-US">
                <a:hlinkClick r:id="rId1"/>
              </a:rPr>
              <a:t>Stratified Random sampling</a:t>
            </a:r>
            <a:r>
              <a:rPr dirty="0" lang="en-US"/>
              <a:t> </a:t>
            </a:r>
            <a:endParaRPr dirty="0" lang="tr-TR"/>
          </a:p>
        </p:txBody>
      </p:sp>
      <p:sp>
        <p:nvSpPr>
          <p:cNvPr id="1048624" name="Content Placeholder 2"/>
          <p:cNvSpPr>
            <a:spLocks noGrp="1"/>
          </p:cNvSpPr>
          <p:nvPr>
            <p:ph idx="1"/>
          </p:nvPr>
        </p:nvSpPr>
        <p:spPr>
          <a:xfrm>
            <a:off x="381000" y="1066800"/>
            <a:ext cx="8382000" cy="4525963"/>
          </a:xfrm>
        </p:spPr>
        <p:txBody>
          <a:bodyPr>
            <a:normAutofit/>
          </a:bodyPr>
          <a:p>
            <a:pPr algn="just"/>
            <a:r>
              <a:rPr dirty="0" sz="2500" lang="tr-TR"/>
              <a:t>I</a:t>
            </a:r>
            <a:r>
              <a:rPr dirty="0" sz="2500" lang="en-US"/>
              <a:t>involves a method </a:t>
            </a:r>
            <a:r>
              <a:rPr b="1" dirty="0" sz="2500" i="1" lang="en-US"/>
              <a:t>where a larger population can be divided into smaller groups</a:t>
            </a:r>
            <a:r>
              <a:rPr dirty="0" sz="2500" lang="en-US"/>
              <a:t>, that usually don’t overlap but represent the entire population together. While sampling these groups can be organized and then draw a sample from each group separately.</a:t>
            </a:r>
            <a:r>
              <a:rPr dirty="0" sz="2500" lang="tr-TR"/>
              <a:t> </a:t>
            </a:r>
            <a:r>
              <a:rPr dirty="0" sz="2500" lang="en-US"/>
              <a:t>A common method is to arrange or classify by sex, age, ethnicity and similar ways. </a:t>
            </a:r>
            <a:endParaRPr dirty="0" sz="2500" lang="tr-TR"/>
          </a:p>
        </p:txBody>
      </p:sp>
      <p:pic>
        <p:nvPicPr>
          <p:cNvPr id="2097159" name="Picture 2"/>
          <p:cNvPicPr>
            <a:picLocks noChangeAspect="1" noChangeArrowheads="1"/>
          </p:cNvPicPr>
          <p:nvPr/>
        </p:nvPicPr>
        <p:blipFill>
          <a:blip xmlns:r="http://schemas.openxmlformats.org/officeDocument/2006/relationships" r:embed="rId2"/>
          <a:srcRect/>
          <a:stretch>
            <a:fillRect/>
          </a:stretch>
        </p:blipFill>
        <p:spPr bwMode="auto">
          <a:xfrm>
            <a:off x="1828800" y="3535268"/>
            <a:ext cx="5791200" cy="3336587"/>
          </a:xfrm>
          <a:prstGeom prst="rect"/>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68" name=""/>
        <p:cNvGrpSpPr/>
        <p:nvPr/>
      </p:nvGrpSpPr>
      <p:grpSpPr>
        <a:xfrm>
          <a:off x="0" y="0"/>
          <a:ext cx="0" cy="0"/>
          <a:chOff x="0" y="0"/>
          <a:chExt cx="0" cy="0"/>
        </a:xfrm>
      </p:grpSpPr>
      <p:sp>
        <p:nvSpPr>
          <p:cNvPr id="1048625" name="İçerik Yer Tutucusu 2"/>
          <p:cNvSpPr>
            <a:spLocks noGrp="1"/>
          </p:cNvSpPr>
          <p:nvPr>
            <p:ph idx="1"/>
          </p:nvPr>
        </p:nvSpPr>
        <p:spPr/>
        <p:txBody>
          <a:bodyPr/>
          <a:p>
            <a:pPr eaLnBrk="1" hangingPunct="1"/>
            <a:endParaRPr altLang="en-US" lang="en-US"/>
          </a:p>
        </p:txBody>
      </p:sp>
      <p:sp>
        <p:nvSpPr>
          <p:cNvPr id="1048626" name="Başlık 1"/>
          <p:cNvSpPr>
            <a:spLocks noGrp="1"/>
          </p:cNvSpPr>
          <p:nvPr>
            <p:ph type="title"/>
          </p:nvPr>
        </p:nvSpPr>
        <p:spPr/>
        <p:txBody>
          <a:bodyPr/>
          <a:p>
            <a:pPr eaLnBrk="1" hangingPunct="1"/>
            <a:endParaRPr altLang="en-US" lang="en-US"/>
          </a:p>
        </p:txBody>
      </p:sp>
      <p:pic>
        <p:nvPicPr>
          <p:cNvPr id="2097160" name="Picture 2"/>
          <p:cNvPicPr>
            <a:picLocks noChangeAspect="1" noChangeArrowheads="1"/>
          </p:cNvPicPr>
          <p:nvPr/>
        </p:nvPicPr>
        <p:blipFill>
          <a:blip xmlns:r="http://schemas.openxmlformats.org/officeDocument/2006/relationships" r:embed="rId1"/>
          <a:srcRect/>
          <a:stretch>
            <a:fillRect/>
          </a:stretch>
        </p:blipFill>
        <p:spPr bwMode="auto">
          <a:xfrm>
            <a:off x="0" y="0"/>
            <a:ext cx="9144000" cy="6858000"/>
          </a:xfrm>
          <a:prstGeom prst="rect"/>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69" name=""/>
        <p:cNvGrpSpPr/>
        <p:nvPr/>
      </p:nvGrpSpPr>
      <p:grpSpPr>
        <a:xfrm>
          <a:off x="0" y="0"/>
          <a:ext cx="0" cy="0"/>
          <a:chOff x="0" y="0"/>
          <a:chExt cx="0" cy="0"/>
        </a:xfrm>
      </p:grpSpPr>
      <p:sp>
        <p:nvSpPr>
          <p:cNvPr id="1048627" name="Title 1"/>
          <p:cNvSpPr>
            <a:spLocks noGrp="1"/>
          </p:cNvSpPr>
          <p:nvPr>
            <p:ph type="title"/>
          </p:nvPr>
        </p:nvSpPr>
        <p:spPr>
          <a:xfrm>
            <a:off x="457200" y="152400"/>
            <a:ext cx="8229600" cy="868362"/>
          </a:xfrm>
        </p:spPr>
        <p:txBody>
          <a:bodyPr/>
          <a:p>
            <a:r>
              <a:rPr b="1" dirty="0" lang="en-US">
                <a:hlinkClick r:id="rId1"/>
              </a:rPr>
              <a:t>Cluster random sampling</a:t>
            </a:r>
            <a:r>
              <a:rPr b="1" dirty="0" lang="en-US"/>
              <a:t> </a:t>
            </a:r>
            <a:endParaRPr dirty="0" lang="tr-TR"/>
          </a:p>
        </p:txBody>
      </p:sp>
      <p:sp>
        <p:nvSpPr>
          <p:cNvPr id="1048628" name="Content Placeholder 2"/>
          <p:cNvSpPr>
            <a:spLocks noGrp="1"/>
          </p:cNvSpPr>
          <p:nvPr>
            <p:ph idx="1"/>
          </p:nvPr>
        </p:nvSpPr>
        <p:spPr>
          <a:xfrm>
            <a:off x="228600" y="1143000"/>
            <a:ext cx="8382000" cy="4525963"/>
          </a:xfrm>
        </p:spPr>
        <p:txBody>
          <a:bodyPr>
            <a:normAutofit/>
          </a:bodyPr>
          <a:p>
            <a:pPr algn="just"/>
            <a:r>
              <a:rPr dirty="0" sz="2500" lang="tr-TR"/>
              <a:t>It i</a:t>
            </a:r>
            <a:r>
              <a:rPr dirty="0" sz="2500" lang="en-US"/>
              <a:t>s a way to randomly select participants when they are geographically spread out. Cluster sampling usually analyzes a particular population in which the sample consists of more than a few elements, for example, city, family, university etc. The clusters are then selected by dividing the greater population into various smaller sections</a:t>
            </a:r>
            <a:r>
              <a:rPr dirty="0" sz="2500" lang="tr-TR"/>
              <a:t>.</a:t>
            </a:r>
          </a:p>
        </p:txBody>
      </p:sp>
      <p:pic>
        <p:nvPicPr>
          <p:cNvPr id="2097161" name="Picture 2"/>
          <p:cNvPicPr>
            <a:picLocks noChangeAspect="1" noChangeArrowheads="1"/>
          </p:cNvPicPr>
          <p:nvPr/>
        </p:nvPicPr>
        <p:blipFill>
          <a:blip xmlns:r="http://schemas.openxmlformats.org/officeDocument/2006/relationships" r:embed="rId2"/>
          <a:srcRect/>
          <a:stretch>
            <a:fillRect/>
          </a:stretch>
        </p:blipFill>
        <p:spPr bwMode="auto">
          <a:xfrm>
            <a:off x="1676400" y="3539729"/>
            <a:ext cx="5562601" cy="3325199"/>
          </a:xfrm>
          <a:prstGeom prst="rect"/>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70" name=""/>
        <p:cNvGrpSpPr/>
        <p:nvPr/>
      </p:nvGrpSpPr>
      <p:grpSpPr>
        <a:xfrm>
          <a:off x="0" y="0"/>
          <a:ext cx="0" cy="0"/>
          <a:chOff x="0" y="0"/>
          <a:chExt cx="0" cy="0"/>
        </a:xfrm>
      </p:grpSpPr>
      <p:sp>
        <p:nvSpPr>
          <p:cNvPr id="1048629" name="Title 1"/>
          <p:cNvSpPr>
            <a:spLocks noGrp="1"/>
          </p:cNvSpPr>
          <p:nvPr>
            <p:ph type="title"/>
          </p:nvPr>
        </p:nvSpPr>
        <p:spPr/>
        <p:txBody>
          <a:bodyPr/>
          <a:p>
            <a:endParaRPr lang="en-US"/>
          </a:p>
        </p:txBody>
      </p:sp>
      <p:pic>
        <p:nvPicPr>
          <p:cNvPr id="2097162" name="Content Placeholder 3"/>
          <p:cNvPicPr>
            <a:picLocks noChangeAspect="1" noGrp="1"/>
          </p:cNvPicPr>
          <p:nvPr>
            <p:ph idx="1"/>
          </p:nvPr>
        </p:nvPicPr>
        <p:blipFill>
          <a:blip xmlns:r="http://schemas.openxmlformats.org/officeDocument/2006/relationships" r:embed="rId1"/>
          <a:stretch>
            <a:fillRect/>
          </a:stretch>
        </p:blipFill>
        <p:spPr>
          <a:xfrm>
            <a:off x="872604" y="1600200"/>
            <a:ext cx="7398791" cy="4525963"/>
          </a:xfrm>
          <a:prstGeom prst="rec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71" name=""/>
        <p:cNvGrpSpPr/>
        <p:nvPr/>
      </p:nvGrpSpPr>
      <p:grpSpPr>
        <a:xfrm>
          <a:off x="0" y="0"/>
          <a:ext cx="0" cy="0"/>
          <a:chOff x="0" y="0"/>
          <a:chExt cx="0" cy="0"/>
        </a:xfrm>
      </p:grpSpPr>
      <p:sp>
        <p:nvSpPr>
          <p:cNvPr id="1048630" name="Title 1"/>
          <p:cNvSpPr>
            <a:spLocks noGrp="1"/>
          </p:cNvSpPr>
          <p:nvPr>
            <p:ph type="title"/>
          </p:nvPr>
        </p:nvSpPr>
        <p:spPr/>
        <p:txBody>
          <a:bodyPr/>
          <a:p>
            <a:r>
              <a:rPr dirty="0" lang="en-US"/>
              <a:t>Types of Cluster Sampling Methods </a:t>
            </a:r>
          </a:p>
        </p:txBody>
      </p:sp>
      <p:pic>
        <p:nvPicPr>
          <p:cNvPr id="2097163" name="Content Placeholder 3"/>
          <p:cNvPicPr>
            <a:picLocks noChangeAspect="1" noGrp="1"/>
          </p:cNvPicPr>
          <p:nvPr>
            <p:ph idx="1"/>
          </p:nvPr>
        </p:nvPicPr>
        <p:blipFill>
          <a:blip xmlns:r="http://schemas.openxmlformats.org/officeDocument/2006/relationships" r:embed="rId1"/>
          <a:stretch>
            <a:fillRect/>
          </a:stretch>
        </p:blipFill>
        <p:spPr>
          <a:xfrm>
            <a:off x="457200" y="1603782"/>
            <a:ext cx="8229600" cy="4518798"/>
          </a:xfrm>
          <a:prstGeom prst="rec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72" name=""/>
        <p:cNvGrpSpPr/>
        <p:nvPr/>
      </p:nvGrpSpPr>
      <p:grpSpPr>
        <a:xfrm>
          <a:off x="0" y="0"/>
          <a:ext cx="0" cy="0"/>
          <a:chOff x="0" y="0"/>
          <a:chExt cx="0" cy="0"/>
        </a:xfrm>
      </p:grpSpPr>
      <p:sp>
        <p:nvSpPr>
          <p:cNvPr id="1048631" name="İçerik Yer Tutucusu 2"/>
          <p:cNvSpPr>
            <a:spLocks noGrp="1"/>
          </p:cNvSpPr>
          <p:nvPr>
            <p:ph idx="1"/>
          </p:nvPr>
        </p:nvSpPr>
        <p:spPr/>
        <p:txBody>
          <a:bodyPr/>
          <a:p>
            <a:pPr eaLnBrk="1" hangingPunct="1"/>
            <a:endParaRPr altLang="en-US" lang="en-US"/>
          </a:p>
        </p:txBody>
      </p:sp>
      <p:sp>
        <p:nvSpPr>
          <p:cNvPr id="1048632" name="Başlık 1"/>
          <p:cNvSpPr>
            <a:spLocks noGrp="1"/>
          </p:cNvSpPr>
          <p:nvPr>
            <p:ph type="title"/>
          </p:nvPr>
        </p:nvSpPr>
        <p:spPr/>
        <p:txBody>
          <a:bodyPr/>
          <a:p>
            <a:pPr eaLnBrk="1" hangingPunct="1"/>
            <a:endParaRPr altLang="en-US" lang="en-US"/>
          </a:p>
        </p:txBody>
      </p:sp>
      <p:pic>
        <p:nvPicPr>
          <p:cNvPr id="2097164" name="Picture 2"/>
          <p:cNvPicPr>
            <a:picLocks noChangeAspect="1" noChangeArrowheads="1"/>
          </p:cNvPicPr>
          <p:nvPr/>
        </p:nvPicPr>
        <p:blipFill>
          <a:blip xmlns:r="http://schemas.openxmlformats.org/officeDocument/2006/relationships" r:embed="rId1"/>
          <a:srcRect/>
          <a:stretch>
            <a:fillRect/>
          </a:stretch>
        </p:blipFill>
        <p:spPr bwMode="auto">
          <a:xfrm>
            <a:off x="-228600" y="152400"/>
            <a:ext cx="9753600" cy="5943599"/>
          </a:xfrm>
          <a:prstGeom prst="rect"/>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73" name=""/>
        <p:cNvGrpSpPr/>
        <p:nvPr/>
      </p:nvGrpSpPr>
      <p:grpSpPr>
        <a:xfrm>
          <a:off x="0" y="0"/>
          <a:ext cx="0" cy="0"/>
          <a:chOff x="0" y="0"/>
          <a:chExt cx="0" cy="0"/>
        </a:xfrm>
      </p:grpSpPr>
      <p:sp>
        <p:nvSpPr>
          <p:cNvPr id="1048633" name="Title 1"/>
          <p:cNvSpPr>
            <a:spLocks noGrp="1"/>
          </p:cNvSpPr>
          <p:nvPr>
            <p:ph type="title"/>
          </p:nvPr>
        </p:nvSpPr>
        <p:spPr>
          <a:xfrm>
            <a:off x="457200" y="13855"/>
            <a:ext cx="8229600" cy="868362"/>
          </a:xfrm>
        </p:spPr>
        <p:txBody>
          <a:bodyPr/>
          <a:p>
            <a:r>
              <a:rPr b="1" dirty="0" lang="en-US">
                <a:hlinkClick r:id="rId1"/>
              </a:rPr>
              <a:t>Systematic Sampling</a:t>
            </a:r>
            <a:r>
              <a:rPr dirty="0" lang="en-US"/>
              <a:t> </a:t>
            </a:r>
            <a:endParaRPr dirty="0" lang="tr-TR"/>
          </a:p>
        </p:txBody>
      </p:sp>
      <p:sp>
        <p:nvSpPr>
          <p:cNvPr id="1048634" name="Content Placeholder 2"/>
          <p:cNvSpPr>
            <a:spLocks noGrp="1"/>
          </p:cNvSpPr>
          <p:nvPr>
            <p:ph idx="1"/>
          </p:nvPr>
        </p:nvSpPr>
        <p:spPr>
          <a:xfrm>
            <a:off x="152400" y="990600"/>
            <a:ext cx="8686800" cy="4525963"/>
          </a:xfrm>
        </p:spPr>
        <p:txBody>
          <a:bodyPr>
            <a:normAutofit/>
          </a:bodyPr>
          <a:p>
            <a:pPr algn="just"/>
            <a:r>
              <a:rPr dirty="0" sz="2500" lang="tr-TR"/>
              <a:t>It i</a:t>
            </a:r>
            <a:r>
              <a:rPr dirty="0" sz="2500" lang="en-US"/>
              <a:t>s when you choose every “</a:t>
            </a:r>
            <a:r>
              <a:rPr b="1" dirty="0" sz="2500" lang="en-US"/>
              <a:t>nth” individual to be a part of the sample</a:t>
            </a:r>
            <a:r>
              <a:rPr dirty="0" sz="2500" lang="en-US"/>
              <a:t>. For example, you can choose every 5th person to be in the sample. Systematic sampling is an extended implementation of the same old probability technique in which each member of the group is selected at regular periods to form a </a:t>
            </a:r>
            <a:r>
              <a:rPr dirty="0" sz="2500" lang="tr-TR"/>
              <a:t>sample. </a:t>
            </a:r>
            <a:r>
              <a:rPr dirty="0" sz="2500" lang="en-US"/>
              <a:t>There’s an equal opportunity for every member of a population to be selected using this sampling technique.</a:t>
            </a:r>
            <a:endParaRPr dirty="0" sz="2500" lang="tr-TR"/>
          </a:p>
        </p:txBody>
      </p:sp>
      <p:pic>
        <p:nvPicPr>
          <p:cNvPr id="2097165" name="Picture 2"/>
          <p:cNvPicPr>
            <a:picLocks noChangeAspect="1" noChangeArrowheads="1"/>
          </p:cNvPicPr>
          <p:nvPr/>
        </p:nvPicPr>
        <p:blipFill>
          <a:blip xmlns:r="http://schemas.openxmlformats.org/officeDocument/2006/relationships" r:embed="rId2"/>
          <a:srcRect/>
          <a:stretch>
            <a:fillRect/>
          </a:stretch>
        </p:blipFill>
        <p:spPr bwMode="auto">
          <a:xfrm>
            <a:off x="1981200" y="3739773"/>
            <a:ext cx="5181600" cy="3097445"/>
          </a:xfrm>
          <a:prstGeom prst="rect"/>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74" name=""/>
        <p:cNvGrpSpPr/>
        <p:nvPr/>
      </p:nvGrpSpPr>
      <p:grpSpPr>
        <a:xfrm>
          <a:off x="0" y="0"/>
          <a:ext cx="0" cy="0"/>
          <a:chOff x="0" y="0"/>
          <a:chExt cx="0" cy="0"/>
        </a:xfrm>
      </p:grpSpPr>
      <p:sp>
        <p:nvSpPr>
          <p:cNvPr id="1048635" name="Title 1"/>
          <p:cNvSpPr>
            <a:spLocks noGrp="1"/>
          </p:cNvSpPr>
          <p:nvPr>
            <p:ph type="title"/>
          </p:nvPr>
        </p:nvSpPr>
        <p:spPr/>
        <p:txBody>
          <a:bodyPr/>
          <a:p>
            <a:r>
              <a:rPr dirty="0" lang="en-US"/>
              <a:t>Systematic Sampling……….</a:t>
            </a:r>
          </a:p>
        </p:txBody>
      </p:sp>
      <p:pic>
        <p:nvPicPr>
          <p:cNvPr id="2097166" name="Content Placeholder 3"/>
          <p:cNvPicPr>
            <a:picLocks noChangeAspect="1" noGrp="1"/>
          </p:cNvPicPr>
          <p:nvPr>
            <p:ph idx="1"/>
          </p:nvPr>
        </p:nvPicPr>
        <p:blipFill>
          <a:blip xmlns:r="http://schemas.openxmlformats.org/officeDocument/2006/relationships" r:embed="rId1"/>
          <a:stretch>
            <a:fillRect/>
          </a:stretch>
        </p:blipFill>
        <p:spPr>
          <a:xfrm>
            <a:off x="228600" y="1417638"/>
            <a:ext cx="8763000" cy="5059362"/>
          </a:xfrm>
          <a:prstGeom prst="rec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75" name=""/>
        <p:cNvGrpSpPr/>
        <p:nvPr/>
      </p:nvGrpSpPr>
      <p:grpSpPr>
        <a:xfrm>
          <a:off x="0" y="0"/>
          <a:ext cx="0" cy="0"/>
          <a:chOff x="0" y="0"/>
          <a:chExt cx="0" cy="0"/>
        </a:xfrm>
      </p:grpSpPr>
      <p:sp>
        <p:nvSpPr>
          <p:cNvPr id="1048636" name="Title 1"/>
          <p:cNvSpPr>
            <a:spLocks noGrp="1"/>
          </p:cNvSpPr>
          <p:nvPr>
            <p:ph type="title"/>
          </p:nvPr>
        </p:nvSpPr>
        <p:spPr/>
        <p:txBody>
          <a:bodyPr/>
          <a:p>
            <a:endParaRPr dirty="0" lang="en-US"/>
          </a:p>
        </p:txBody>
      </p:sp>
      <p:pic>
        <p:nvPicPr>
          <p:cNvPr id="2097167" name="Content Placeholder 4"/>
          <p:cNvPicPr>
            <a:picLocks noChangeAspect="1" noGrp="1"/>
          </p:cNvPicPr>
          <p:nvPr>
            <p:ph idx="1"/>
          </p:nvPr>
        </p:nvPicPr>
        <p:blipFill>
          <a:blip xmlns:r="http://schemas.openxmlformats.org/officeDocument/2006/relationships" r:embed="rId1"/>
          <a:stretch>
            <a:fillRect/>
          </a:stretch>
        </p:blipFill>
        <p:spPr>
          <a:xfrm>
            <a:off x="1160601" y="1600200"/>
            <a:ext cx="6822798" cy="4525963"/>
          </a:xfrm>
          <a:prstGeom prst="rec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76" name=""/>
        <p:cNvGrpSpPr/>
        <p:nvPr/>
      </p:nvGrpSpPr>
      <p:grpSpPr>
        <a:xfrm>
          <a:off x="0" y="0"/>
          <a:ext cx="0" cy="0"/>
          <a:chOff x="0" y="0"/>
          <a:chExt cx="0" cy="0"/>
        </a:xfrm>
      </p:grpSpPr>
      <p:sp>
        <p:nvSpPr>
          <p:cNvPr id="1048637" name="Title 1"/>
          <p:cNvSpPr>
            <a:spLocks noGrp="1"/>
          </p:cNvSpPr>
          <p:nvPr>
            <p:ph type="title"/>
          </p:nvPr>
        </p:nvSpPr>
        <p:spPr/>
        <p:txBody>
          <a:bodyPr>
            <a:normAutofit/>
          </a:bodyPr>
          <a:p>
            <a:r>
              <a:rPr b="1" dirty="0" lang="tr-TR"/>
              <a:t>Types of Non-probability Sampling</a:t>
            </a:r>
            <a:br>
              <a:rPr dirty="0" lang="tr-TR"/>
            </a:br>
            <a:endParaRPr dirty="0" lang="tr-TR"/>
          </a:p>
        </p:txBody>
      </p:sp>
      <p:sp>
        <p:nvSpPr>
          <p:cNvPr id="1048638" name="Content Placeholder 2"/>
          <p:cNvSpPr>
            <a:spLocks noGrp="1"/>
          </p:cNvSpPr>
          <p:nvPr>
            <p:ph idx="1"/>
          </p:nvPr>
        </p:nvSpPr>
        <p:spPr>
          <a:xfrm>
            <a:off x="381000" y="1066800"/>
            <a:ext cx="8534400" cy="5715000"/>
          </a:xfrm>
        </p:spPr>
        <p:txBody>
          <a:bodyPr>
            <a:normAutofit/>
          </a:bodyPr>
          <a:p>
            <a:pPr indent="0" marL="0">
              <a:buNone/>
            </a:pPr>
            <a:r>
              <a:rPr dirty="0" lang="en-US" u="sng"/>
              <a:t>Four main techniques used for a </a:t>
            </a:r>
            <a:r>
              <a:rPr dirty="0" lang="tr-TR" u="sng"/>
              <a:t>non-</a:t>
            </a:r>
            <a:r>
              <a:rPr dirty="0" lang="en-US" u="sng"/>
              <a:t>probability sample:</a:t>
            </a:r>
            <a:endParaRPr dirty="0" lang="tr-TR" u="sng"/>
          </a:p>
          <a:p>
            <a:pPr>
              <a:buFont typeface="Wingdings" panose="05000000000000000000" pitchFamily="2" charset="2"/>
              <a:buChar char="Ø"/>
            </a:pPr>
            <a:endParaRPr dirty="0" lang="en-US"/>
          </a:p>
          <a:p>
            <a:pPr>
              <a:buFont typeface="Wingdings" panose="05000000000000000000" pitchFamily="2" charset="2"/>
              <a:buChar char="Ø"/>
            </a:pPr>
            <a:r>
              <a:rPr dirty="0" sz="2800" lang="en-US"/>
              <a:t>Convenience</a:t>
            </a:r>
            <a:endParaRPr dirty="0" sz="2800" lang="tr-TR"/>
          </a:p>
          <a:p>
            <a:pPr>
              <a:buFont typeface="Wingdings" panose="05000000000000000000" pitchFamily="2" charset="2"/>
              <a:buChar char="Ø"/>
            </a:pPr>
            <a:endParaRPr dirty="0" sz="2800" lang="tr-TR"/>
          </a:p>
          <a:p>
            <a:pPr>
              <a:buFont typeface="Wingdings" panose="05000000000000000000" pitchFamily="2" charset="2"/>
              <a:buChar char="Ø"/>
            </a:pPr>
            <a:r>
              <a:rPr dirty="0" sz="2800" lang="tr-TR"/>
              <a:t>Judgemental</a:t>
            </a:r>
          </a:p>
          <a:p>
            <a:pPr>
              <a:buFont typeface="Wingdings" panose="05000000000000000000" pitchFamily="2" charset="2"/>
              <a:buChar char="Ø"/>
            </a:pPr>
            <a:endParaRPr dirty="0" sz="2800" lang="tr-TR"/>
          </a:p>
          <a:p>
            <a:pPr>
              <a:buFont typeface="Wingdings" panose="05000000000000000000" pitchFamily="2" charset="2"/>
              <a:buChar char="Ø"/>
            </a:pPr>
            <a:r>
              <a:rPr dirty="0" sz="2800" lang="tr-TR"/>
              <a:t>Snowball </a:t>
            </a:r>
          </a:p>
          <a:p>
            <a:pPr>
              <a:buFont typeface="Wingdings" panose="05000000000000000000" pitchFamily="2" charset="2"/>
              <a:buChar char="Ø"/>
            </a:pPr>
            <a:endParaRPr dirty="0" sz="2800" lang="tr-TR"/>
          </a:p>
          <a:p>
            <a:pPr>
              <a:buFont typeface="Wingdings" panose="05000000000000000000" pitchFamily="2" charset="2"/>
              <a:buChar char="Ø"/>
            </a:pPr>
            <a:r>
              <a:rPr dirty="0" sz="2800" lang="tr-TR"/>
              <a:t>Quota</a:t>
            </a:r>
          </a:p>
          <a:p>
            <a:endParaRPr dirty="0" lang="tr-T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77" name=""/>
        <p:cNvGrpSpPr/>
        <p:nvPr/>
      </p:nvGrpSpPr>
      <p:grpSpPr>
        <a:xfrm>
          <a:off x="0" y="0"/>
          <a:ext cx="0" cy="0"/>
          <a:chOff x="0" y="0"/>
          <a:chExt cx="0" cy="0"/>
        </a:xfrm>
      </p:grpSpPr>
      <p:sp>
        <p:nvSpPr>
          <p:cNvPr id="1048639" name="Title 1"/>
          <p:cNvSpPr>
            <a:spLocks noGrp="1"/>
          </p:cNvSpPr>
          <p:nvPr>
            <p:ph type="title"/>
          </p:nvPr>
        </p:nvSpPr>
        <p:spPr>
          <a:xfrm>
            <a:off x="457200" y="13855"/>
            <a:ext cx="8229600" cy="792162"/>
          </a:xfrm>
        </p:spPr>
        <p:txBody>
          <a:bodyPr/>
          <a:p>
            <a:r>
              <a:rPr b="1" dirty="0" lang="en-US" u="sng">
                <a:solidFill>
                  <a:srgbClr val="0000FF"/>
                </a:solidFill>
              </a:rPr>
              <a:t>Convenience Sampling </a:t>
            </a:r>
            <a:endParaRPr b="1" dirty="0" lang="tr-TR" u="sng">
              <a:solidFill>
                <a:srgbClr val="0000FF"/>
              </a:solidFill>
            </a:endParaRPr>
          </a:p>
        </p:txBody>
      </p:sp>
      <p:sp>
        <p:nvSpPr>
          <p:cNvPr id="1048640" name="Content Placeholder 2"/>
          <p:cNvSpPr>
            <a:spLocks noGrp="1"/>
          </p:cNvSpPr>
          <p:nvPr>
            <p:ph idx="1"/>
          </p:nvPr>
        </p:nvSpPr>
        <p:spPr>
          <a:xfrm>
            <a:off x="152400" y="914400"/>
            <a:ext cx="8534400" cy="5211763"/>
          </a:xfrm>
        </p:spPr>
        <p:txBody>
          <a:bodyPr>
            <a:normAutofit/>
          </a:bodyPr>
          <a:p>
            <a:pPr algn="just"/>
            <a:r>
              <a:rPr dirty="0" sz="2400" lang="tr-TR"/>
              <a:t>It </a:t>
            </a:r>
            <a:r>
              <a:rPr dirty="0" sz="2400" lang="en-US"/>
              <a:t>is a </a:t>
            </a:r>
            <a:r>
              <a:rPr dirty="0" sz="2400" lang="tr-TR"/>
              <a:t>non-probability </a:t>
            </a:r>
            <a:r>
              <a:rPr dirty="0" sz="2400" lang="en-US"/>
              <a:t>sampling technique used to create sample as per ease of access, readiness to be a part of the sample, availability at a given time slot or any other practical specifications of a particular element. </a:t>
            </a:r>
            <a:endParaRPr dirty="0" sz="2400" lang="tr-TR"/>
          </a:p>
          <a:p>
            <a:pPr algn="just" indent="-274320" marL="274320"/>
            <a:r>
              <a:rPr altLang="en-US" dirty="0" sz="2400" lang="en-US"/>
              <a:t>Convenience sampling involves  selecting </a:t>
            </a:r>
            <a:r>
              <a:rPr altLang="en-US" dirty="0" sz="2400" lang="en-US" u="sng"/>
              <a:t>haphazardly </a:t>
            </a:r>
            <a:r>
              <a:rPr altLang="en-US" dirty="0" sz="2400" lang="en-US"/>
              <a:t>those cases that are easiest to obtain for your sample, such as the person interviewed at random in a shopping center for a television program</a:t>
            </a:r>
            <a:r>
              <a:rPr altLang="en-US" dirty="0" sz="2400" lang="tr-TR"/>
              <a:t>.</a:t>
            </a:r>
          </a:p>
          <a:p>
            <a:pPr algn="just"/>
            <a:endParaRPr dirty="0" lang="tr-TR"/>
          </a:p>
        </p:txBody>
      </p:sp>
      <p:pic>
        <p:nvPicPr>
          <p:cNvPr id="2097168" name="Picture 2"/>
          <p:cNvPicPr>
            <a:picLocks noChangeAspect="1" noChangeArrowheads="1"/>
          </p:cNvPicPr>
          <p:nvPr/>
        </p:nvPicPr>
        <p:blipFill>
          <a:blip xmlns:r="http://schemas.openxmlformats.org/officeDocument/2006/relationships" r:embed="rId1"/>
          <a:srcRect/>
          <a:stretch>
            <a:fillRect/>
          </a:stretch>
        </p:blipFill>
        <p:spPr bwMode="auto">
          <a:xfrm>
            <a:off x="3595253" y="3848914"/>
            <a:ext cx="5036127" cy="3009086"/>
          </a:xfrm>
          <a:prstGeom prst="rect"/>
          <a:noFill/>
          <a:ln>
            <a:noFill/>
          </a:ln>
        </p:spPr>
      </p:pic>
      <p:sp>
        <p:nvSpPr>
          <p:cNvPr id="1048641" name="Rectangle 3"/>
          <p:cNvSpPr/>
          <p:nvPr/>
        </p:nvSpPr>
        <p:spPr>
          <a:xfrm>
            <a:off x="7239000" y="6248400"/>
            <a:ext cx="1219200" cy="381000"/>
          </a:xfrm>
          <a:prstGeom prst="rect"/>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tr-T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78" name=""/>
        <p:cNvGrpSpPr/>
        <p:nvPr/>
      </p:nvGrpSpPr>
      <p:grpSpPr>
        <a:xfrm>
          <a:off x="0" y="0"/>
          <a:ext cx="0" cy="0"/>
          <a:chOff x="0" y="0"/>
          <a:chExt cx="0" cy="0"/>
        </a:xfrm>
      </p:grpSpPr>
      <p:sp>
        <p:nvSpPr>
          <p:cNvPr id="1048642" name="Title 1"/>
          <p:cNvSpPr>
            <a:spLocks noGrp="1"/>
          </p:cNvSpPr>
          <p:nvPr>
            <p:ph type="title"/>
          </p:nvPr>
        </p:nvSpPr>
        <p:spPr>
          <a:xfrm>
            <a:off x="457200" y="274638"/>
            <a:ext cx="8229600" cy="715962"/>
          </a:xfrm>
        </p:spPr>
        <p:txBody>
          <a:bodyPr>
            <a:normAutofit/>
          </a:bodyPr>
          <a:p>
            <a:r>
              <a:rPr b="1" dirty="0" lang="tr-TR" u="sng">
                <a:solidFill>
                  <a:srgbClr val="0000FF"/>
                </a:solidFill>
              </a:rPr>
              <a:t>Judgmental Sampling</a:t>
            </a:r>
            <a:br>
              <a:rPr dirty="0" lang="tr-TR"/>
            </a:br>
            <a:endParaRPr dirty="0" lang="tr-TR"/>
          </a:p>
        </p:txBody>
      </p:sp>
      <p:sp>
        <p:nvSpPr>
          <p:cNvPr id="1048643" name="Content Placeholder 2"/>
          <p:cNvSpPr>
            <a:spLocks noGrp="1"/>
          </p:cNvSpPr>
          <p:nvPr>
            <p:ph idx="1"/>
          </p:nvPr>
        </p:nvSpPr>
        <p:spPr>
          <a:xfrm>
            <a:off x="457200" y="914400"/>
            <a:ext cx="8229600" cy="5211763"/>
          </a:xfrm>
        </p:spPr>
        <p:txBody>
          <a:bodyPr>
            <a:normAutofit/>
          </a:bodyPr>
          <a:p>
            <a:pPr algn="just"/>
            <a:r>
              <a:rPr dirty="0" sz="2500" lang="tr-TR"/>
              <a:t>In the j</a:t>
            </a:r>
            <a:r>
              <a:rPr dirty="0" sz="2500" lang="en-US" err="1"/>
              <a:t>udgmental</a:t>
            </a:r>
            <a:r>
              <a:rPr dirty="0" sz="2500" lang="en-US"/>
              <a:t> sampling, also called purposive sampling</a:t>
            </a:r>
            <a:r>
              <a:rPr dirty="0" sz="2500" lang="tr-TR"/>
              <a:t>, </a:t>
            </a:r>
            <a:r>
              <a:rPr dirty="0" sz="2500" lang="en-US"/>
              <a:t>the sample members are chosen only on the basis of the researcher’s knowledge and judgment</a:t>
            </a:r>
            <a:r>
              <a:rPr dirty="0" sz="2500" lang="tr-TR"/>
              <a:t>.</a:t>
            </a:r>
          </a:p>
          <a:p>
            <a:pPr algn="just" indent="-274320" marL="274320"/>
            <a:r>
              <a:rPr altLang="en-US" dirty="0" sz="2500" lang="tr-TR"/>
              <a:t>It </a:t>
            </a:r>
            <a:r>
              <a:rPr altLang="en-US" dirty="0" sz="2500" lang="en-US"/>
              <a:t>enables you to select cases that will best enable you to answer your research question(s) and to meet your objectives. </a:t>
            </a:r>
            <a:endParaRPr altLang="en-US" dirty="0" sz="2500" lang="tr-TR"/>
          </a:p>
          <a:p>
            <a:endParaRPr dirty="0" lang="tr-TR"/>
          </a:p>
        </p:txBody>
      </p:sp>
      <p:pic>
        <p:nvPicPr>
          <p:cNvPr id="2097169" name="Picture 2"/>
          <p:cNvPicPr>
            <a:picLocks noChangeAspect="1" noChangeArrowheads="1"/>
          </p:cNvPicPr>
          <p:nvPr/>
        </p:nvPicPr>
        <p:blipFill>
          <a:blip xmlns:r="http://schemas.openxmlformats.org/officeDocument/2006/relationships" r:embed="rId1"/>
          <a:srcRect/>
          <a:stretch>
            <a:fillRect/>
          </a:stretch>
        </p:blipFill>
        <p:spPr bwMode="auto">
          <a:xfrm>
            <a:off x="2667000" y="3077189"/>
            <a:ext cx="6096000" cy="3650226"/>
          </a:xfrm>
          <a:prstGeom prst="rect"/>
          <a:noFill/>
          <a:ln>
            <a:noFill/>
          </a:ln>
        </p:spPr>
      </p:pic>
      <p:sp>
        <p:nvSpPr>
          <p:cNvPr id="1048644" name="Rectangle 3"/>
          <p:cNvSpPr/>
          <p:nvPr/>
        </p:nvSpPr>
        <p:spPr>
          <a:xfrm>
            <a:off x="6934200" y="6096000"/>
            <a:ext cx="1676400" cy="381000"/>
          </a:xfrm>
          <a:prstGeom prst="rect"/>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tr-T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79" name=""/>
        <p:cNvGrpSpPr/>
        <p:nvPr/>
      </p:nvGrpSpPr>
      <p:grpSpPr>
        <a:xfrm>
          <a:off x="0" y="0"/>
          <a:ext cx="0" cy="0"/>
          <a:chOff x="0" y="0"/>
          <a:chExt cx="0" cy="0"/>
        </a:xfrm>
      </p:grpSpPr>
      <p:sp>
        <p:nvSpPr>
          <p:cNvPr id="1048645" name="Title 1"/>
          <p:cNvSpPr>
            <a:spLocks noGrp="1"/>
          </p:cNvSpPr>
          <p:nvPr>
            <p:ph type="title"/>
          </p:nvPr>
        </p:nvSpPr>
        <p:spPr>
          <a:xfrm>
            <a:off x="457200" y="228600"/>
            <a:ext cx="8229600" cy="639762"/>
          </a:xfrm>
        </p:spPr>
        <p:txBody>
          <a:bodyPr>
            <a:normAutofit/>
          </a:bodyPr>
          <a:p>
            <a:r>
              <a:rPr b="1" dirty="0" lang="en-US" u="sng">
                <a:solidFill>
                  <a:srgbClr val="0000FF"/>
                </a:solidFill>
              </a:rPr>
              <a:t>Snowball </a:t>
            </a:r>
            <a:r>
              <a:rPr b="1" dirty="0" lang="tr-TR" u="sng">
                <a:solidFill>
                  <a:srgbClr val="0000FF"/>
                </a:solidFill>
              </a:rPr>
              <a:t>S</a:t>
            </a:r>
            <a:r>
              <a:rPr b="1" dirty="0" lang="en-US" err="1" u="sng">
                <a:solidFill>
                  <a:srgbClr val="0000FF"/>
                </a:solidFill>
              </a:rPr>
              <a:t>ampling</a:t>
            </a:r>
            <a:endParaRPr b="1" dirty="0" lang="tr-TR" u="sng">
              <a:solidFill>
                <a:srgbClr val="0000FF"/>
              </a:solidFill>
            </a:endParaRPr>
          </a:p>
        </p:txBody>
      </p:sp>
      <p:sp>
        <p:nvSpPr>
          <p:cNvPr id="1048646" name="Content Placeholder 2"/>
          <p:cNvSpPr>
            <a:spLocks noGrp="1"/>
          </p:cNvSpPr>
          <p:nvPr>
            <p:ph idx="1"/>
          </p:nvPr>
        </p:nvSpPr>
        <p:spPr>
          <a:xfrm>
            <a:off x="76200" y="914400"/>
            <a:ext cx="8915400" cy="5059363"/>
          </a:xfrm>
        </p:spPr>
        <p:txBody>
          <a:bodyPr>
            <a:normAutofit/>
          </a:bodyPr>
          <a:p>
            <a:pPr algn="just"/>
            <a:r>
              <a:rPr dirty="0" sz="2500" lang="en-US"/>
              <a:t>Snowball sampling method is purely based on referrals and that is how a researcher is able to generate a sample. Therefore this method is also called the chain-referral sampling method.</a:t>
            </a:r>
            <a:endParaRPr dirty="0" sz="2500" lang="tr-TR"/>
          </a:p>
          <a:p>
            <a:pPr algn="just"/>
            <a:r>
              <a:rPr dirty="0" sz="2500" lang="en-US"/>
              <a:t>This </a:t>
            </a:r>
            <a:r>
              <a:rPr dirty="0" sz="2500" lang="tr-TR"/>
              <a:t>sampling technique </a:t>
            </a:r>
            <a:r>
              <a:rPr dirty="0" sz="2500" lang="en-US"/>
              <a:t>can go on and on, just like a snowball increasing in size (in this case the sample size) till the time a researcher has enough data to analyze, to draw conclusive results that can help an organization make informed decisions.</a:t>
            </a:r>
            <a:endParaRPr dirty="0" sz="2500" lang="tr-TR"/>
          </a:p>
        </p:txBody>
      </p:sp>
      <p:pic>
        <p:nvPicPr>
          <p:cNvPr id="2097170" name="Picture 2"/>
          <p:cNvPicPr>
            <a:picLocks noChangeAspect="1" noChangeArrowheads="1"/>
          </p:cNvPicPr>
          <p:nvPr/>
        </p:nvPicPr>
        <p:blipFill>
          <a:blip xmlns:r="http://schemas.openxmlformats.org/officeDocument/2006/relationships" r:embed="rId1"/>
          <a:srcRect/>
          <a:stretch>
            <a:fillRect/>
          </a:stretch>
        </p:blipFill>
        <p:spPr bwMode="auto">
          <a:xfrm>
            <a:off x="1295400" y="3706088"/>
            <a:ext cx="6456218" cy="3865921"/>
          </a:xfrm>
          <a:prstGeom prst="rect"/>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80" name=""/>
        <p:cNvGrpSpPr/>
        <p:nvPr/>
      </p:nvGrpSpPr>
      <p:grpSpPr>
        <a:xfrm>
          <a:off x="0" y="0"/>
          <a:ext cx="0" cy="0"/>
          <a:chOff x="0" y="0"/>
          <a:chExt cx="0" cy="0"/>
        </a:xfrm>
      </p:grpSpPr>
      <p:sp>
        <p:nvSpPr>
          <p:cNvPr id="1048647" name="Title 1"/>
          <p:cNvSpPr>
            <a:spLocks noGrp="1"/>
          </p:cNvSpPr>
          <p:nvPr>
            <p:ph type="title"/>
          </p:nvPr>
        </p:nvSpPr>
        <p:spPr>
          <a:xfrm>
            <a:off x="533400" y="0"/>
            <a:ext cx="8229600" cy="914400"/>
          </a:xfrm>
        </p:spPr>
        <p:txBody>
          <a:bodyPr/>
          <a:p>
            <a:r>
              <a:rPr b="1" dirty="0" lang="en-US">
                <a:hlinkClick r:id="rId1"/>
              </a:rPr>
              <a:t>Quota </a:t>
            </a:r>
            <a:r>
              <a:rPr b="1" dirty="0" lang="tr-TR">
                <a:hlinkClick r:id="rId1"/>
              </a:rPr>
              <a:t>S</a:t>
            </a:r>
            <a:r>
              <a:rPr b="1" dirty="0" lang="en-US" err="1">
                <a:hlinkClick r:id="rId1"/>
              </a:rPr>
              <a:t>ampling</a:t>
            </a:r>
            <a:endParaRPr b="1" dirty="0" lang="tr-TR"/>
          </a:p>
        </p:txBody>
      </p:sp>
      <p:sp>
        <p:nvSpPr>
          <p:cNvPr id="1048648" name="Content Placeholder 2"/>
          <p:cNvSpPr>
            <a:spLocks noGrp="1"/>
          </p:cNvSpPr>
          <p:nvPr>
            <p:ph idx="1"/>
          </p:nvPr>
        </p:nvSpPr>
        <p:spPr>
          <a:xfrm>
            <a:off x="228600" y="838200"/>
            <a:ext cx="8686800" cy="4525963"/>
          </a:xfrm>
        </p:spPr>
        <p:txBody>
          <a:bodyPr>
            <a:normAutofit/>
          </a:bodyPr>
          <a:p>
            <a:pPr algn="just"/>
            <a:r>
              <a:rPr dirty="0" sz="2500" lang="tr-TR"/>
              <a:t>S</a:t>
            </a:r>
            <a:r>
              <a:rPr dirty="0" sz="2500" lang="en-US"/>
              <a:t>election of members in this sampling technique happens on basis of a pre-set standard. In this case, as a sample is formed on basis of specific attributes, the created sample will have the same attributes that are found in the total population. It is an extremely quick method of collecting samples.</a:t>
            </a:r>
            <a:endParaRPr dirty="0" sz="2500" lang="tr-TR"/>
          </a:p>
          <a:p>
            <a:pPr algn="just"/>
            <a:r>
              <a:rPr altLang="en-US" dirty="0" sz="2500" lang="en-US"/>
              <a:t>Quota sampling is therefore a type of stratified sample in which selection of cases within strata is entirely non-random</a:t>
            </a:r>
            <a:r>
              <a:rPr altLang="en-US" dirty="0" sz="2500" lang="tr-TR"/>
              <a:t>.</a:t>
            </a:r>
            <a:endParaRPr dirty="0" sz="2500" lang="tr-TR"/>
          </a:p>
        </p:txBody>
      </p:sp>
      <p:pic>
        <p:nvPicPr>
          <p:cNvPr id="2097171" name="Picture 2"/>
          <p:cNvPicPr>
            <a:picLocks noChangeAspect="1" noChangeArrowheads="1"/>
          </p:cNvPicPr>
          <p:nvPr/>
        </p:nvPicPr>
        <p:blipFill>
          <a:blip xmlns:r="http://schemas.openxmlformats.org/officeDocument/2006/relationships" r:embed="rId2"/>
          <a:srcRect/>
          <a:stretch>
            <a:fillRect/>
          </a:stretch>
        </p:blipFill>
        <p:spPr bwMode="auto">
          <a:xfrm>
            <a:off x="1544782" y="3657600"/>
            <a:ext cx="6400800" cy="3680337"/>
          </a:xfrm>
          <a:prstGeom prst="rect"/>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81" name=""/>
        <p:cNvGrpSpPr/>
        <p:nvPr/>
      </p:nvGrpSpPr>
      <p:grpSpPr>
        <a:xfrm>
          <a:off x="0" y="0"/>
          <a:ext cx="0" cy="0"/>
          <a:chOff x="0" y="0"/>
          <a:chExt cx="0" cy="0"/>
        </a:xfrm>
      </p:grpSpPr>
      <p:sp>
        <p:nvSpPr>
          <p:cNvPr id="1048649" name="Title 1"/>
          <p:cNvSpPr>
            <a:spLocks noGrp="1"/>
          </p:cNvSpPr>
          <p:nvPr>
            <p:ph type="title"/>
          </p:nvPr>
        </p:nvSpPr>
        <p:spPr/>
        <p:txBody>
          <a:bodyPr/>
          <a:p>
            <a:r>
              <a:rPr dirty="0" lang="en-US"/>
              <a:t>Quota Sampling……..</a:t>
            </a:r>
          </a:p>
        </p:txBody>
      </p:sp>
      <p:sp>
        <p:nvSpPr>
          <p:cNvPr id="1048650" name="Rectangle 3"/>
          <p:cNvSpPr>
            <a:spLocks noGrp="1" noChangeArrowheads="1"/>
          </p:cNvSpPr>
          <p:nvPr>
            <p:ph idx="1"/>
          </p:nvPr>
        </p:nvSpPr>
        <p:spPr>
          <a:xfrm>
            <a:off x="457200" y="1600200"/>
            <a:ext cx="8229600" cy="5105400"/>
          </a:xfrm>
        </p:spPr>
        <p:txBody>
          <a:bodyPr rtlCol="0">
            <a:normAutofit lnSpcReduction="10000"/>
          </a:bodyPr>
          <a:p>
            <a:pPr>
              <a:lnSpc>
                <a:spcPct val="80000"/>
              </a:lnSpc>
            </a:pPr>
            <a:r>
              <a:rPr dirty="0" sz="2400" lang="en-US">
                <a:latin typeface="Comic Sans MS" pitchFamily="66" charset="0"/>
              </a:rPr>
              <a:t>The population is first segmented into </a:t>
            </a:r>
            <a:r>
              <a:rPr dirty="0" sz="2400" lang="en-US">
                <a:latin typeface="Comic Sans MS" pitchFamily="66" charset="0"/>
                <a:hlinkClick r:id="rId1" tooltip="Mutually exclusive"/>
              </a:rPr>
              <a:t>mutually exclusive</a:t>
            </a:r>
            <a:r>
              <a:rPr dirty="0" sz="2400" lang="en-US">
                <a:latin typeface="Comic Sans MS" pitchFamily="66" charset="0"/>
              </a:rPr>
              <a:t> sub-groups, just as in </a:t>
            </a:r>
            <a:r>
              <a:rPr dirty="0" sz="2400" lang="en-US">
                <a:latin typeface="Comic Sans MS" pitchFamily="66" charset="0"/>
                <a:hlinkClick r:id="rId2" tooltip="Stratified sampling"/>
              </a:rPr>
              <a:t>stratified sampling</a:t>
            </a:r>
            <a:r>
              <a:rPr dirty="0" sz="2400" lang="en-US">
                <a:latin typeface="Comic Sans MS" pitchFamily="66" charset="0"/>
              </a:rPr>
              <a:t>. </a:t>
            </a:r>
          </a:p>
          <a:p>
            <a:pPr eaLnBrk="1" fontAlgn="auto" hangingPunct="1">
              <a:lnSpc>
                <a:spcPct val="80000"/>
              </a:lnSpc>
              <a:spcAft>
                <a:spcPts val="0"/>
              </a:spcAft>
            </a:pPr>
            <a:r>
              <a:rPr dirty="0" sz="2400" lang="en-US">
                <a:latin typeface="Comic Sans MS" pitchFamily="66" charset="0"/>
              </a:rPr>
              <a:t>Then judgment used to select  subjects or units from each segment based on a specified proportion. </a:t>
            </a:r>
          </a:p>
          <a:p>
            <a:pPr eaLnBrk="1" fontAlgn="auto" hangingPunct="1">
              <a:lnSpc>
                <a:spcPct val="80000"/>
              </a:lnSpc>
              <a:spcAft>
                <a:spcPts val="0"/>
              </a:spcAft>
            </a:pPr>
            <a:r>
              <a:rPr dirty="0" sz="2400" lang="en-US">
                <a:latin typeface="Comic Sans MS" pitchFamily="66" charset="0"/>
              </a:rPr>
              <a:t>For example, an interviewer may be told to sample 200 females and 300 males between the age of 45 and 60.</a:t>
            </a:r>
          </a:p>
          <a:p>
            <a:pPr eaLnBrk="1" fontAlgn="auto" hangingPunct="1">
              <a:lnSpc>
                <a:spcPct val="80000"/>
              </a:lnSpc>
              <a:spcAft>
                <a:spcPts val="0"/>
              </a:spcAft>
            </a:pPr>
            <a:r>
              <a:rPr dirty="0" sz="2400" lang="en-US">
                <a:latin typeface="Comic Sans MS" pitchFamily="66" charset="0"/>
              </a:rPr>
              <a:t>It is this second step which makes the technique one of non-probability sampling.</a:t>
            </a:r>
          </a:p>
          <a:p>
            <a:pPr eaLnBrk="1" fontAlgn="auto" hangingPunct="1">
              <a:lnSpc>
                <a:spcPct val="80000"/>
              </a:lnSpc>
              <a:spcAft>
                <a:spcPts val="0"/>
              </a:spcAft>
            </a:pPr>
            <a:r>
              <a:rPr dirty="0" sz="2400" lang="en-US">
                <a:latin typeface="Comic Sans MS" pitchFamily="66" charset="0"/>
              </a:rPr>
              <a:t> In quota sampling the selection of the sample is non-</a:t>
            </a:r>
            <a:r>
              <a:rPr dirty="0" sz="2400" lang="en-US">
                <a:latin typeface="Comic Sans MS" pitchFamily="66" charset="0"/>
                <a:hlinkClick r:id="rId3" tooltip="Random"/>
              </a:rPr>
              <a:t>random</a:t>
            </a:r>
            <a:r>
              <a:rPr dirty="0" sz="2400" lang="en-US">
                <a:latin typeface="Comic Sans MS" pitchFamily="66" charset="0"/>
              </a:rPr>
              <a:t>. </a:t>
            </a:r>
          </a:p>
          <a:p>
            <a:pPr eaLnBrk="1" fontAlgn="auto" hangingPunct="1">
              <a:lnSpc>
                <a:spcPct val="80000"/>
              </a:lnSpc>
              <a:spcAft>
                <a:spcPts val="0"/>
              </a:spcAft>
            </a:pPr>
            <a:r>
              <a:rPr dirty="0" sz="2400" lang="en-US">
                <a:latin typeface="Comic Sans MS" pitchFamily="66" charset="0"/>
              </a:rPr>
              <a:t>For example interviewers might be tempted to interview those who look most helpful. The problem is that these samples may be </a:t>
            </a:r>
            <a:r>
              <a:rPr dirty="0" sz="2400" lang="en-US">
                <a:latin typeface="Comic Sans MS" pitchFamily="66" charset="0"/>
                <a:hlinkClick r:id="rId4" tooltip="Biased samples"/>
              </a:rPr>
              <a:t>biased</a:t>
            </a:r>
            <a:r>
              <a:rPr dirty="0" sz="2400" lang="en-US">
                <a:latin typeface="Comic Sans MS" pitchFamily="66" charset="0"/>
              </a:rPr>
              <a:t> because not everyone gets a chance of selection. This random element is its greatest weakness and quota versus probability has been a matter of controversy for many years</a:t>
            </a:r>
            <a:endParaRPr b="1" dirty="0" sz="2400" lang="en-US">
              <a:latin typeface="Comic Sans MS" pitchFamily="66"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82" name=""/>
        <p:cNvGrpSpPr/>
        <p:nvPr/>
      </p:nvGrpSpPr>
      <p:grpSpPr>
        <a:xfrm>
          <a:off x="0" y="0"/>
          <a:ext cx="0" cy="0"/>
          <a:chOff x="0" y="0"/>
          <a:chExt cx="0" cy="0"/>
        </a:xfrm>
      </p:grpSpPr>
      <p:sp>
        <p:nvSpPr>
          <p:cNvPr id="1048651" name="Title 1"/>
          <p:cNvSpPr>
            <a:spLocks noGrp="1"/>
          </p:cNvSpPr>
          <p:nvPr>
            <p:ph type="title"/>
          </p:nvPr>
        </p:nvSpPr>
        <p:spPr/>
        <p:txBody>
          <a:bodyPr/>
          <a:p>
            <a:r>
              <a:rPr dirty="0" lang="en-US"/>
              <a:t>READ OTHER TECHNIQUES </a:t>
            </a:r>
          </a:p>
        </p:txBody>
      </p:sp>
      <p:sp>
        <p:nvSpPr>
          <p:cNvPr id="1048652" name="Content Placeholder 2"/>
          <p:cNvSpPr>
            <a:spLocks noGrp="1"/>
          </p:cNvSpPr>
          <p:nvPr>
            <p:ph idx="1"/>
          </p:nvPr>
        </p:nvSpPr>
        <p:spPr/>
        <p:txBody>
          <a:bodyPr/>
          <a:p>
            <a:r>
              <a:rPr dirty="0" lang="en-US"/>
              <a:t>Multistage Sampling. </a:t>
            </a:r>
          </a:p>
          <a:p>
            <a:r>
              <a:rPr lang="en-US"/>
              <a:t>Multiphase sampling</a:t>
            </a:r>
          </a:p>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PowerPoint Presentation</dc:title>
  <dc:creator>Deniz KARAOMERLIOGLU</dc:creator>
  <cp:lastModifiedBy>HP</cp:lastModifiedBy>
  <dcterms:created xsi:type="dcterms:W3CDTF">2006-08-15T18:00:00Z</dcterms:created>
  <dcterms:modified xsi:type="dcterms:W3CDTF">2024-04-22T02:17:52Z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4693ec10c763403693e56b5dde65e213</vt:lpwstr>
  </property>
</Properties>
</file>